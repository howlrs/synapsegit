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tutorial/README.ja.md" TargetMode="External"/><Relationship Id="rId3" Type="http://schemas.openxmlformats.org/officeDocument/2006/relationships/hyperlink" Target="https://github.com/howlrs/synapsegit/blob/v0.9.0/docs/usage_guide.md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hyperlink" Target="https://github.com/howlrs/synapsegit/blob/v0.9.0/docs/usage_guide.md" TargetMode="External"/><Relationship Id="rId3" Type="http://schemas.openxmlformats.org/officeDocument/2006/relationships/hyperlink" Target="https://github.com/howlrs/synapsegit/blob/v0.9.0/docs/core_concept.md" TargetMode="External"/><Relationship Id="rId4" Type="http://schemas.openxmlformats.org/officeDocument/2006/relationships/hyperlink" Target="https://github.com/howlrs/synapsegit/blob/v0.9.0/docs/project_status.md" TargetMode="External"/><Relationship Id="rId5" Type="http://schemas.openxmlformats.org/officeDocument/2006/relationships/hyperlink" Target="https://github.com/howlrs/synapsegit/blob/v0.9.0/spec/core/v0.1/README.md" TargetMode="External"/><Relationship Id="rId6" Type="http://schemas.openxmlformats.org/officeDocument/2006/relationships/hyperlink" Target="https://github.com/howlrs/synapsegit/blob/v0.9.0/docs/tutorial/README.ja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SynapseGit&#10;利用イメージ"/>
          <p:cNvSpPr>
            <a:spLocks noGrp="1"/>
          </p:cNvSpPr>
          <p:nvPr>
            <p:ph type="title"/>
          </p:nvPr>
        </p:nvSpPr>
        <p:spPr>
          <a:xfrm>
            <a:off x="658368" y="1188720"/>
            <a:ext cx="5852160" cy="1051560"/>
          </a:xfrm>
        </p:spPr>
        <p:txBody>
          <a:bodyPr wrap="square" lIns="18288" rIns="18288" tIns="18288" bIns="18288"/>
          <a:lstStyle/>
          <a:p>
            <a:pPr algn="l"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SynapseGit</a:t>
            </a:r>
            <a:br/>
            <a:r>
              <a:rPr sz="3700" b="1" lang="ja-JP">
                <a:solidFill>
                  <a:srgbClr val="FFFFFF"/>
                </a:solidFill>
                <a:latin typeface="Noto Sans JP"/>
                <a:ea typeface="Noto Sans JP"/>
              </a:rPr>
              <a:t>利用イメージ</a:t>
            </a:r>
          </a:p>
        </p:txBody>
      </p:sp>
      <p:sp>
        <p:nvSpPr>
          <p:cNvPr id="3" name="Rectang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RE v0.1 · STAGE 0" title="CORE v0.1 · STAGE 0" descr="CORE v0.1 · STAGE 0"/>
          <p:cNvSpPr/>
          <p:nvPr/>
        </p:nvSpPr>
        <p:spPr>
          <a:xfrm>
            <a:off x="658368" y="475488"/>
            <a:ext cx="2084831" cy="347472"/>
          </a:xfrm>
          <a:prstGeom prst="roundRect">
            <a:avLst/>
          </a:prstGeom>
          <a:solidFill>
            <a:srgbClr val="142D45"/>
          </a:solidFill>
          <a:ln w="8890">
            <a:solidFill>
              <a:srgbClr val="3A8E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3A8EA8"/>
                </a:solidFill>
                <a:latin typeface="Noto Sans JP"/>
                <a:ea typeface="Noto Sans JP"/>
              </a:rPr>
              <a:t>CORE v0.1 · STAGE 0</a:t>
            </a:r>
          </a:p>
        </p:txBody>
      </p:sp>
      <p:sp>
        <p:nvSpPr>
          <p:cNvPr id="5" name="Text: 完成物だけでなく、&#10;何を変え、なぜ採用したかを次"/>
          <p:cNvSpPr txBox="1"/>
          <p:nvPr/>
        </p:nvSpPr>
        <p:spPr>
          <a:xfrm>
            <a:off x="685800" y="2487168"/>
            <a:ext cx="5349240" cy="10241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完成物だけでなく、</a:t>
            </a:r>
            <a:br/>
            <a:r>
              <a:rPr sz="2200" b="1" lang="ja-JP">
                <a:solidFill>
                  <a:srgbClr val="DCE6F2"/>
                </a:solidFill>
                <a:latin typeface="Noto Sans JP"/>
                <a:ea typeface="Noto Sans JP"/>
              </a:rPr>
              <a:t>何を変え、なぜ採用したかを次へ渡す。</a:t>
            </a:r>
          </a:p>
        </p:txBody>
      </p:sp>
      <p:sp>
        <p:nvSpPr>
          <p:cNvPr id="6" name="Text: 画家・壁画家／建築家／施工・修復／&#10;デザイナー＋"/>
          <p:cNvSpPr txBox="1"/>
          <p:nvPr/>
        </p:nvSpPr>
        <p:spPr>
          <a:xfrm>
            <a:off x="685800" y="3794760"/>
            <a:ext cx="521208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画家・壁画家／建築家／施工・修復／</a:t>
            </a:r>
            <a:br/>
            <a:r>
              <a:rPr sz="1550" b="0" lang="ja-JP">
                <a:solidFill>
                  <a:srgbClr val="AAB8C8"/>
                </a:solidFill>
                <a:latin typeface="Noto Sans JP"/>
                <a:ea typeface="Noto Sans JP"/>
              </a:rPr>
              <a:t>デザイナー＋Creative AI</a:t>
            </a:r>
          </a:p>
        </p:txBody>
      </p:sp>
      <p:sp>
        <p:nvSpPr>
          <p:cNvPr id="7" name="利用構想 · UIスクリーンショットではありません" title="利用構想 · UIスクリーンショットではありません" descr="利用構想 · UIスクリーンショットではありません"/>
          <p:cNvSpPr/>
          <p:nvPr/>
        </p:nvSpPr>
        <p:spPr>
          <a:xfrm>
            <a:off x="685800" y="5047488"/>
            <a:ext cx="3218688" cy="402336"/>
          </a:xfrm>
          <a:prstGeom prst="roundRect">
            <a:avLst/>
          </a:prstGeom>
          <a:solidFill>
            <a:srgbClr val="233047"/>
          </a:solidFill>
          <a:ln w="889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FFFFFF"/>
                </a:solidFill>
                <a:latin typeface="Noto Sans JP"/>
                <a:ea typeface="Noto Sans JP"/>
              </a:rPr>
              <a:t>利用構想 · UIスクリーンショットではありません</a:t>
            </a:r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1234440"/>
            <a:ext cx="0" cy="4206240"/>
          </a:xfrm>
          <a:prstGeom prst="line">
            <a:avLst/>
          </a:prstGeom>
          <a:ln w="38100">
            <a:solidFill>
              <a:srgbClr val="7183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903720" y="1645920"/>
            <a:ext cx="1463040" cy="658368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3182112"/>
            <a:ext cx="1691640" cy="0"/>
          </a:xfrm>
          <a:prstGeom prst="line">
            <a:avLst/>
          </a:prstGeom>
          <a:ln w="25400">
            <a:solidFill>
              <a:srgbClr val="0B6E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903720" y="4069080"/>
            <a:ext cx="1463040" cy="667512"/>
          </a:xfrm>
          <a:prstGeom prst="line">
            <a:avLst/>
          </a:prstGeom>
          <a:ln w="254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786384"/>
            <a:ext cx="1554480" cy="84124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意図"/>
          <p:cNvSpPr txBox="1"/>
          <p:nvPr/>
        </p:nvSpPr>
        <p:spPr>
          <a:xfrm>
            <a:off x="6236208" y="914400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4" name="Text: Plan"/>
          <p:cNvSpPr txBox="1"/>
          <p:nvPr/>
        </p:nvSpPr>
        <p:spPr>
          <a:xfrm>
            <a:off x="6217920" y="1289304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5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1938528"/>
            <a:ext cx="1554480" cy="84124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実行"/>
          <p:cNvSpPr txBox="1"/>
          <p:nvPr/>
        </p:nvSpPr>
        <p:spPr>
          <a:xfrm>
            <a:off x="6236208" y="2066544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7" name="Text: Activity"/>
          <p:cNvSpPr txBox="1"/>
          <p:nvPr/>
        </p:nvSpPr>
        <p:spPr>
          <a:xfrm>
            <a:off x="6217920" y="2441448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8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2834640"/>
            <a:ext cx="1554480" cy="84124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観測"/>
          <p:cNvSpPr txBox="1"/>
          <p:nvPr/>
        </p:nvSpPr>
        <p:spPr>
          <a:xfrm>
            <a:off x="6236208" y="2962656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20" name="Text: Observation"/>
          <p:cNvSpPr txBox="1"/>
          <p:nvPr/>
        </p:nvSpPr>
        <p:spPr>
          <a:xfrm>
            <a:off x="6217920" y="3337560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21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26480" y="3730752"/>
            <a:ext cx="1554480" cy="84124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: 意味付け"/>
          <p:cNvSpPr txBox="1"/>
          <p:nvPr/>
        </p:nvSpPr>
        <p:spPr>
          <a:xfrm>
            <a:off x="6236208" y="3858768"/>
            <a:ext cx="133502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3" name="Text: Claim"/>
          <p:cNvSpPr txBox="1"/>
          <p:nvPr/>
        </p:nvSpPr>
        <p:spPr>
          <a:xfrm>
            <a:off x="6217920" y="4233672"/>
            <a:ext cx="137160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4" name="Node: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89320" y="4846320"/>
            <a:ext cx="1828800" cy="914400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人が判断"/>
          <p:cNvSpPr txBox="1"/>
          <p:nvPr/>
        </p:nvSpPr>
        <p:spPr>
          <a:xfrm>
            <a:off x="6099048" y="4974336"/>
            <a:ext cx="160934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</a:p>
        </p:txBody>
      </p:sp>
      <p:sp>
        <p:nvSpPr>
          <p:cNvPr id="26" name="Text: Decision Commit"/>
          <p:cNvSpPr txBox="1"/>
          <p:nvPr/>
        </p:nvSpPr>
        <p:spPr>
          <a:xfrm>
            <a:off x="6080759" y="5349240"/>
            <a:ext cx="1645920" cy="3200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27" name="Card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1143000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今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1307592"/>
            <a:ext cx="128016" cy="9052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今日"/>
          <p:cNvSpPr txBox="1"/>
          <p:nvPr/>
        </p:nvSpPr>
        <p:spPr>
          <a:xfrm>
            <a:off x="8851392" y="1271016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今日</a:t>
            </a:r>
          </a:p>
        </p:txBody>
      </p:sp>
      <p:sp>
        <p:nvSpPr>
          <p:cNvPr id="30" name="Text: 比較して、次の一手を決める"/>
          <p:cNvSpPr txBox="1"/>
          <p:nvPr/>
        </p:nvSpPr>
        <p:spPr>
          <a:xfrm>
            <a:off x="8851392" y="1673352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比較して、次の一手を決める</a:t>
            </a:r>
          </a:p>
        </p:txBody>
      </p:sp>
      <p:sp>
        <p:nvSpPr>
          <p:cNvPr id="31" name="Card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41080" y="2633472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cent: 次の案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805672" y="2798064"/>
            <a:ext cx="128016" cy="9052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: 次の案件"/>
          <p:cNvSpPr txBox="1"/>
          <p:nvPr/>
        </p:nvSpPr>
        <p:spPr>
          <a:xfrm>
            <a:off x="9079992" y="2761488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次の案件</a:t>
            </a:r>
          </a:p>
        </p:txBody>
      </p:sp>
      <p:sp>
        <p:nvSpPr>
          <p:cNvPr id="34" name="Text: 手順・却下案・判断基準を再利用"/>
          <p:cNvSpPr txBox="1"/>
          <p:nvPr/>
        </p:nvSpPr>
        <p:spPr>
          <a:xfrm>
            <a:off x="9079992" y="3163824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手順・却下案・判断基準を再利用</a:t>
            </a:r>
          </a:p>
        </p:txBody>
      </p:sp>
      <p:sp>
        <p:nvSpPr>
          <p:cNvPr id="35" name="Card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12480" y="4151376"/>
            <a:ext cx="283464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Accent: 将来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577072" y="4315968"/>
            <a:ext cx="128016" cy="9052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: 将来"/>
          <p:cNvSpPr txBox="1"/>
          <p:nvPr/>
        </p:nvSpPr>
        <p:spPr>
          <a:xfrm>
            <a:off x="8851392" y="4279392"/>
            <a:ext cx="221284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将来</a:t>
            </a:r>
          </a:p>
        </p:txBody>
      </p:sp>
      <p:sp>
        <p:nvSpPr>
          <p:cNvPr id="38" name="Text: 改修・修復・再展示時に根拠へ戻る"/>
          <p:cNvSpPr txBox="1"/>
          <p:nvPr/>
        </p:nvSpPr>
        <p:spPr>
          <a:xfrm>
            <a:off x="8851392" y="4681728"/>
            <a:ext cx="2212848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改修・修復・再展示時に根拠へ戻る</a:t>
            </a:r>
          </a:p>
        </p:txBody>
      </p:sp>
      <p:sp>
        <p:nvSpPr>
          <p:cNvPr id="39" name="Text: 作者証明・完全な現実記録・&#10;自動利益分配ではあり"/>
          <p:cNvSpPr txBox="1"/>
          <p:nvPr/>
        </p:nvSpPr>
        <p:spPr>
          <a:xfrm>
            <a:off x="7818120" y="5769864"/>
            <a:ext cx="36118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作者証明・完全な現実記録・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自動利益分配ではありません</a:t>
            </a:r>
          </a:p>
        </p:txBody>
      </p:sp>
      <p:sp>
        <p:nvSpPr>
          <p:cNvPr id="40" name="Text: Scope: SynapseGit Coreのみ"/>
          <p:cNvSpPr txBox="1"/>
          <p:nvPr/>
        </p:nvSpPr>
        <p:spPr>
          <a:xfrm>
            <a:off x="685800" y="5769864"/>
            <a:ext cx="5440680" cy="42062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Scope: SynapseGit Coreのみ</a:t>
            </a:r>
            <a:br/>
            <a:r>
              <a:rPr sz="1150" b="0" lang="ja-JP">
                <a:solidFill>
                  <a:srgbClr val="C3CDDA"/>
                </a:solidFill>
                <a:latin typeface="Noto Sans JP"/>
                <a:ea typeface="Noto Sans JP"/>
              </a:rPr>
              <a:t>Chrono-Engine／歴史的人物再現は対象外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3" name="Text: Core concept §§1, 20 · S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§§1, 20 · Stage 0 draft</a:t>
            </a:r>
          </a:p>
        </p:txBody>
      </p:sp>
      <p:sp>
        <p:nvSpPr>
          <p:cNvPr id="44" name="Text: 01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誰の、どんな断絶を解くの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誰の、どんな断絶を解くのか</a:t>
            </a:r>
          </a:p>
        </p:txBody>
      </p:sp>
      <p:sp>
        <p:nvSpPr>
          <p:cNvPr id="3" name="Text: WHO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WHO</a:t>
            </a:r>
          </a:p>
        </p:txBody>
      </p:sp>
      <p:sp>
        <p:nvSpPr>
          <p:cNvPr id="4" name="Text: 異なる現場から、同じ「判断の系譜」へ接続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異なる現場から、同じ「判断の系譜」へ接続する</a:t>
            </a:r>
          </a:p>
        </p:txBody>
      </p:sp>
      <p:sp>
        <p:nvSpPr>
          <p:cNvPr id="5" name="Shared problem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1444752"/>
            <a:ext cx="10972800" cy="47548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: 写真・図面・チャット・AI案が散在　→　判断理由"/>
          <p:cNvSpPr txBox="1"/>
          <p:nvPr/>
        </p:nvSpPr>
        <p:spPr>
          <a:xfrm>
            <a:off x="804672" y="1536192"/>
            <a:ext cx="105704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lang="ja-JP">
                <a:solidFill>
                  <a:srgbClr val="FFFFFF"/>
                </a:solidFill>
                <a:latin typeface="Noto Sans JP"/>
                <a:ea typeface="Noto Sans JP"/>
              </a:rPr>
              <a:t>写真・図面・チャット・AI案が散在　→　判断理由が消える　→　次の担当が最初から探し直す</a:t>
            </a:r>
          </a:p>
        </p:txBody>
      </p:sp>
      <p:sp>
        <p:nvSpPr>
          <p:cNvPr id="7" name="Card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画家・壁画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8096" y="2313432"/>
            <a:ext cx="128016" cy="264261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画家・壁画家"/>
          <p:cNvSpPr txBox="1"/>
          <p:nvPr/>
        </p:nvSpPr>
        <p:spPr>
          <a:xfrm>
            <a:off x="1042416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0B6E69"/>
                </a:solidFill>
                <a:latin typeface="Noto Sans JP"/>
                <a:ea typeface="Noto Sans JP"/>
              </a:rPr>
              <a:t>画家・壁画家</a:t>
            </a:r>
          </a:p>
        </p:txBody>
      </p:sp>
      <p:sp>
        <p:nvSpPr>
          <p:cNvPr id="10" name="Text: 困りごと&#10;色・構図・偶然・保留が&#10;完成画像へ埋も"/>
          <p:cNvSpPr txBox="1"/>
          <p:nvPr/>
        </p:nvSpPr>
        <p:spPr>
          <a:xfrm>
            <a:off x="1042416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色・構図・偶然・保留が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完成画像へ埋もれる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同条件比較／制作process pack</a:t>
            </a:r>
          </a:p>
        </p:txBody>
      </p:sp>
      <p:sp>
        <p:nvSpPr>
          <p:cNvPr id="11" name="Card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74136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ccent: 建築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538728" y="2313432"/>
            <a:ext cx="128016" cy="264261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建築家"/>
          <p:cNvSpPr txBox="1"/>
          <p:nvPr/>
        </p:nvSpPr>
        <p:spPr>
          <a:xfrm>
            <a:off x="3813048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4E51A8"/>
                </a:solidFill>
                <a:latin typeface="Noto Sans JP"/>
                <a:ea typeface="Noto Sans JP"/>
              </a:rPr>
              <a:t>建築家</a:t>
            </a:r>
          </a:p>
        </p:txBody>
      </p:sp>
      <p:sp>
        <p:nvSpPr>
          <p:cNvPr id="14" name="Text: 困りごと&#10;Brief・案・現場判断が&#10;別資料へ散"/>
          <p:cNvSpPr txBox="1"/>
          <p:nvPr/>
        </p:nvSpPr>
        <p:spPr>
          <a:xfrm>
            <a:off x="3813048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Brief・案・現場判断が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別資料へ散る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三者比較／設計変更理由</a:t>
            </a:r>
          </a:p>
        </p:txBody>
      </p:sp>
      <p:sp>
        <p:nvSpPr>
          <p:cNvPr id="15" name="Card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44768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cent: 施工・修復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09359" y="2313432"/>
            <a:ext cx="128016" cy="264261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施工・修復"/>
          <p:cNvSpPr txBox="1"/>
          <p:nvPr/>
        </p:nvSpPr>
        <p:spPr>
          <a:xfrm>
            <a:off x="6583679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8C450E"/>
                </a:solidFill>
                <a:latin typeface="Noto Sans JP"/>
                <a:ea typeface="Noto Sans JP"/>
              </a:rPr>
              <a:t>施工・修復</a:t>
            </a:r>
          </a:p>
        </p:txBody>
      </p:sp>
      <p:sp>
        <p:nvSpPr>
          <p:cNvPr id="18" name="Text: 困りごと&#10;計画外作業・欠測・処置が&#10;後任へ伝わら"/>
          <p:cNvSpPr txBox="1"/>
          <p:nvPr/>
        </p:nvSpPr>
        <p:spPr>
          <a:xfrm>
            <a:off x="6583679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計画外作業・欠測・処置が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後任へ伝わらない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Hold Point／引渡し記録</a:t>
            </a:r>
          </a:p>
        </p:txBody>
      </p:sp>
      <p:sp>
        <p:nvSpPr>
          <p:cNvPr id="19" name="Card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15400" y="2148840"/>
            <a:ext cx="2551176" cy="2971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Accent: デザイナー＋A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079992" y="2313432"/>
            <a:ext cx="128016" cy="264261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: デザイナー＋AI"/>
          <p:cNvSpPr txBox="1"/>
          <p:nvPr/>
        </p:nvSpPr>
        <p:spPr>
          <a:xfrm>
            <a:off x="9354312" y="2276856"/>
            <a:ext cx="192938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デザイナー＋AI</a:t>
            </a:r>
          </a:p>
        </p:txBody>
      </p:sp>
      <p:sp>
        <p:nvSpPr>
          <p:cNvPr id="22" name="Text: 困りごと&#10;ツールやAIを跨ぐと&#10;採否の文脈が消え"/>
          <p:cNvSpPr txBox="1"/>
          <p:nvPr/>
        </p:nvSpPr>
        <p:spPr>
          <a:xfrm>
            <a:off x="9354312" y="2679192"/>
            <a:ext cx="1929384" cy="23317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困りごと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ツールやAIを跨ぐと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採否の文脈が消える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/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返るもの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提案系列／可搬な文脈</a:t>
            </a:r>
          </a:p>
        </p:txBody>
      </p:sp>
      <p:sp>
        <p:nvSpPr>
          <p:cNvPr id="23" name="Rounded Rectangle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5394960"/>
            <a:ext cx="1097280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504688"/>
            <a:ext cx="10497312" cy="384048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350" b="1" lang="ja-JP">
                <a:solidFill>
                  <a:srgbClr val="5E6873"/>
                </a:solidFill>
                <a:latin typeface="Noto Sans JP"/>
                <a:ea typeface="Noto Sans JP"/>
              </a:rPr>
              <a:t>二次利用者　</a:t>
            </a:r>
            <a:r>
              <a:rPr sz="1350" b="0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制作チーム・後任・施主・所有者・コレクター・美術館　</a:t>
            </a:r>
            <a:r>
              <a:rPr sz="1350" b="1" lang="ja-JP">
                <a:solidFill>
                  <a:srgbClr val="29704A"/>
                </a:solidFill>
                <a:latin typeface="Noto Sans JP"/>
                <a:ea typeface="Noto Sans JP"/>
              </a:rPr>
              <a:t>← 報告・引き継ぎ・保存資料として受け取る</a:t>
            </a:r>
          </a:p>
        </p:txBody>
      </p:sp>
      <p:sp>
        <p:nvSpPr>
          <p:cNvPr id="25" name="Text: 制作ソフト、BIM/CAD、ペイントツールを置き"/>
          <p:cNvSpPr txBox="1"/>
          <p:nvPr/>
        </p:nvSpPr>
        <p:spPr>
          <a:xfrm>
            <a:off x="1188720" y="6053328"/>
            <a:ext cx="978408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 lang="ja-JP">
                <a:solidFill>
                  <a:srgbClr val="5E6873"/>
                </a:solidFill>
                <a:latin typeface="Noto Sans JP"/>
                <a:ea typeface="Noto Sans JP"/>
              </a:rPr>
              <a:t>制作ソフト、BIM/CAD、ペイントツールを置き換えるのではなく、判断を横断してつなぐ。</a:t>
            </a:r>
          </a:p>
        </p:txBody>
      </p:sp>
      <p:cxnSp>
        <p:nvCxnSpPr>
          <p:cNvPr id="26" name="Connector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28" name="Text: Core concept §§14, 20.2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§§14, 20.2</a:t>
            </a:r>
          </a:p>
        </p:txBody>
      </p:sp>
      <p:sp>
        <p:nvSpPr>
          <p:cNvPr id="29" name="Text: 02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節目で残し、すぐ返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節目で残し、すぐ返す</a:t>
            </a:r>
          </a:p>
        </p:txBody>
      </p:sp>
      <p:sp>
        <p:nvSpPr>
          <p:cNvPr id="3" name="Text: HOW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HOW</a:t>
            </a:r>
          </a:p>
        </p:txBody>
      </p:sp>
      <p:sp>
        <p:nvSpPr>
          <p:cNvPr id="4" name="Text: セッション終了・承認・引き渡し・Hold Poi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セッション終了・承認・引き渡し・Hold Pointだけを意味ある履歴にする</a:t>
            </a:r>
          </a:p>
        </p:txBody>
      </p:sp>
      <p:sp>
        <p:nvSpPr>
          <p:cNvPr id="5" name="Chevron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21408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977639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evron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833872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evron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90104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46336" y="2322576"/>
            <a:ext cx="310896" cy="40233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ode: 意図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3504" y="2011680"/>
            <a:ext cx="1508760" cy="1024128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: 意図"/>
          <p:cNvSpPr txBox="1"/>
          <p:nvPr/>
        </p:nvSpPr>
        <p:spPr>
          <a:xfrm>
            <a:off x="713232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意図</a:t>
            </a:r>
          </a:p>
        </p:txBody>
      </p:sp>
      <p:sp>
        <p:nvSpPr>
          <p:cNvPr id="12" name="Text: Plan"/>
          <p:cNvSpPr txBox="1"/>
          <p:nvPr/>
        </p:nvSpPr>
        <p:spPr>
          <a:xfrm>
            <a:off x="694944" y="2514600"/>
            <a:ext cx="132588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13" name="Node: 実行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59736" y="2011680"/>
            <a:ext cx="1508760" cy="1024128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実行"/>
          <p:cNvSpPr txBox="1"/>
          <p:nvPr/>
        </p:nvSpPr>
        <p:spPr>
          <a:xfrm>
            <a:off x="2569464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50E"/>
                </a:solidFill>
                <a:latin typeface="Noto Sans JP"/>
                <a:ea typeface="Noto Sans JP"/>
              </a:rPr>
              <a:t>実行</a:t>
            </a:r>
          </a:p>
        </p:txBody>
      </p:sp>
      <p:sp>
        <p:nvSpPr>
          <p:cNvPr id="15" name="Text: Activity"/>
          <p:cNvSpPr txBox="1"/>
          <p:nvPr/>
        </p:nvSpPr>
        <p:spPr>
          <a:xfrm>
            <a:off x="2551176" y="2514600"/>
            <a:ext cx="132588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6" name="Node: 観測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15968" y="2011680"/>
            <a:ext cx="1508760" cy="1024128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観測"/>
          <p:cNvSpPr txBox="1"/>
          <p:nvPr/>
        </p:nvSpPr>
        <p:spPr>
          <a:xfrm>
            <a:off x="4425696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観測</a:t>
            </a:r>
          </a:p>
        </p:txBody>
      </p:sp>
      <p:sp>
        <p:nvSpPr>
          <p:cNvPr id="18" name="Text: Observation"/>
          <p:cNvSpPr txBox="1"/>
          <p:nvPr/>
        </p:nvSpPr>
        <p:spPr>
          <a:xfrm>
            <a:off x="4407407" y="2514600"/>
            <a:ext cx="132588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</a:t>
            </a:r>
          </a:p>
        </p:txBody>
      </p:sp>
      <p:sp>
        <p:nvSpPr>
          <p:cNvPr id="19" name="Node: 比較候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72200" y="2011680"/>
            <a:ext cx="1508760" cy="1024128"/>
          </a:xfrm>
          <a:prstGeom prst="roundRect">
            <a:avLst/>
          </a:prstGeom>
          <a:solidFill>
            <a:srgbClr val="E7EAED"/>
          </a:solidFill>
          <a:ln w="15240">
            <a:solidFill>
              <a:srgbClr val="5E687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比較候補"/>
          <p:cNvSpPr txBox="1"/>
          <p:nvPr/>
        </p:nvSpPr>
        <p:spPr>
          <a:xfrm>
            <a:off x="6281928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5E6873"/>
                </a:solidFill>
                <a:latin typeface="Noto Sans JP"/>
                <a:ea typeface="Noto Sans JP"/>
              </a:rPr>
              <a:t>比較候補</a:t>
            </a:r>
          </a:p>
        </p:txBody>
      </p:sp>
      <p:sp>
        <p:nvSpPr>
          <p:cNvPr id="21" name="Text: Analysis"/>
          <p:cNvSpPr txBox="1"/>
          <p:nvPr/>
        </p:nvSpPr>
        <p:spPr>
          <a:xfrm>
            <a:off x="6263640" y="2514600"/>
            <a:ext cx="132588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Analysis</a:t>
            </a:r>
          </a:p>
        </p:txBody>
      </p:sp>
      <p:sp>
        <p:nvSpPr>
          <p:cNvPr id="22" name="Node: 意味付け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28431" y="2011680"/>
            <a:ext cx="1508760" cy="1024128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意味付け"/>
          <p:cNvSpPr txBox="1"/>
          <p:nvPr/>
        </p:nvSpPr>
        <p:spPr>
          <a:xfrm>
            <a:off x="8138159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意味付け</a:t>
            </a:r>
          </a:p>
        </p:txBody>
      </p:sp>
      <p:sp>
        <p:nvSpPr>
          <p:cNvPr id="24" name="Text: Claim"/>
          <p:cNvSpPr txBox="1"/>
          <p:nvPr/>
        </p:nvSpPr>
        <p:spPr>
          <a:xfrm>
            <a:off x="8119871" y="2514600"/>
            <a:ext cx="132588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Claim</a:t>
            </a:r>
          </a:p>
        </p:txBody>
      </p:sp>
      <p:sp>
        <p:nvSpPr>
          <p:cNvPr id="25" name="Node: 人の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84663" y="2011680"/>
            <a:ext cx="1508760" cy="1024128"/>
          </a:xfrm>
          <a:prstGeom prst="roundRect">
            <a:avLst/>
          </a:prstGeom>
          <a:solidFill>
            <a:srgbClr val="F3E3C7"/>
          </a:solidFill>
          <a:ln w="1524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: 人の判断"/>
          <p:cNvSpPr txBox="1"/>
          <p:nvPr/>
        </p:nvSpPr>
        <p:spPr>
          <a:xfrm>
            <a:off x="9994391" y="2139696"/>
            <a:ext cx="12893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人の判断</a:t>
            </a:r>
          </a:p>
        </p:txBody>
      </p:sp>
      <p:sp>
        <p:nvSpPr>
          <p:cNvPr id="27" name="Text: Decision"/>
          <p:cNvSpPr txBox="1"/>
          <p:nvPr/>
        </p:nvSpPr>
        <p:spPr>
          <a:xfrm>
            <a:off x="9976103" y="2514600"/>
            <a:ext cx="1325880" cy="4297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Decision</a:t>
            </a:r>
          </a:p>
        </p:txBody>
      </p:sp>
      <p:sp>
        <p:nvSpPr>
          <p:cNvPr id="28" name="Text: 人が採否を判断"/>
          <p:cNvSpPr txBox="1"/>
          <p:nvPr/>
        </p:nvSpPr>
        <p:spPr>
          <a:xfrm>
            <a:off x="5321808" y="3136392"/>
            <a:ext cx="16002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8C4A12"/>
                </a:solidFill>
                <a:latin typeface="Noto Sans JP"/>
                <a:ea typeface="Noto Sans JP"/>
              </a:rPr>
              <a:t>人が採否を判断</a:t>
            </a:r>
          </a:p>
        </p:txBody>
      </p:sp>
      <p:sp>
        <p:nvSpPr>
          <p:cNvPr id="29" name="Card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3950207"/>
            <a:ext cx="128016" cy="96926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比較"/>
          <p:cNvSpPr txBox="1"/>
          <p:nvPr/>
        </p:nvSpPr>
        <p:spPr>
          <a:xfrm>
            <a:off x="1261872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比較</a:t>
            </a:r>
          </a:p>
        </p:txBody>
      </p:sp>
      <p:sp>
        <p:nvSpPr>
          <p:cNvPr id="32" name="Text: 前後・計画との違い"/>
          <p:cNvSpPr txBox="1"/>
          <p:nvPr/>
        </p:nvSpPr>
        <p:spPr>
          <a:xfrm>
            <a:off x="1261872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前後・計画との違い</a:t>
            </a:r>
          </a:p>
        </p:txBody>
      </p:sp>
      <p:sp>
        <p:nvSpPr>
          <p:cNvPr id="33" name="Card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630168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記録復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94759" y="3950207"/>
            <a:ext cx="128016" cy="96926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記録復元"/>
          <p:cNvSpPr txBox="1"/>
          <p:nvPr/>
        </p:nvSpPr>
        <p:spPr>
          <a:xfrm>
            <a:off x="4069079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記録復元</a:t>
            </a:r>
          </a:p>
        </p:txBody>
      </p:sp>
      <p:sp>
        <p:nvSpPr>
          <p:cNvPr id="36" name="Text: その節目の記録を取り出す"/>
          <p:cNvSpPr txBox="1"/>
          <p:nvPr/>
        </p:nvSpPr>
        <p:spPr>
          <a:xfrm>
            <a:off x="4069079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その節目の記録を取り出す</a:t>
            </a:r>
          </a:p>
        </p:txBody>
      </p:sp>
      <p:sp>
        <p:nvSpPr>
          <p:cNvPr id="37" name="Card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37376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報告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601968" y="3950207"/>
            <a:ext cx="128016" cy="96926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報告"/>
          <p:cNvSpPr txBox="1"/>
          <p:nvPr/>
        </p:nvSpPr>
        <p:spPr>
          <a:xfrm>
            <a:off x="6876288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報告</a:t>
            </a:r>
          </a:p>
        </p:txBody>
      </p:sp>
      <p:sp>
        <p:nvSpPr>
          <p:cNvPr id="40" name="Text: 進捗・処置の下書き"/>
          <p:cNvSpPr txBox="1"/>
          <p:nvPr/>
        </p:nvSpPr>
        <p:spPr>
          <a:xfrm>
            <a:off x="6876288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進捗・処置の下書き</a:t>
            </a:r>
          </a:p>
        </p:txBody>
      </p:sp>
      <p:sp>
        <p:nvSpPr>
          <p:cNvPr id="41" name="Card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44584" y="3785615"/>
            <a:ext cx="252374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Accent: 引き継ぎ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409176" y="3950207"/>
            <a:ext cx="128016" cy="96926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: 引き継ぎ"/>
          <p:cNvSpPr txBox="1"/>
          <p:nvPr/>
        </p:nvSpPr>
        <p:spPr>
          <a:xfrm>
            <a:off x="9683496" y="3913631"/>
            <a:ext cx="190195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引き継ぎ</a:t>
            </a:r>
          </a:p>
        </p:txBody>
      </p:sp>
      <p:sp>
        <p:nvSpPr>
          <p:cNvPr id="44" name="Text: 理由・制約・未解決"/>
          <p:cNvSpPr txBox="1"/>
          <p:nvPr/>
        </p:nvSpPr>
        <p:spPr>
          <a:xfrm>
            <a:off x="9683496" y="4315968"/>
            <a:ext cx="1901951" cy="658367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理由・制約・未解決</a:t>
            </a:r>
          </a:p>
        </p:txBody>
      </p:sp>
      <p:sp>
        <p:nvSpPr>
          <p:cNvPr id="45" name="Rounded Rectangle 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60" y="5367528"/>
            <a:ext cx="10570464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4128" y="5477256"/>
            <a:ext cx="10168128" cy="512064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1400" b="1" lang="ja-JP">
                <a:solidFill>
                  <a:srgbClr val="13202B"/>
                </a:solidFill>
                <a:latin typeface="Noto Sans JP"/>
                <a:ea typeface="Noto Sans JP"/>
              </a:rPr>
              <a:t>見方の原則　</a:t>
            </a: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写真＝観測　</a:t>
            </a:r>
            <a:r>
              <a:rPr sz="1400" b="1" lang="ja-JP">
                <a:solidFill>
                  <a:srgbClr val="5E6873"/>
                </a:solidFill>
                <a:latin typeface="Noto Sans JP"/>
                <a:ea typeface="Noto Sans JP"/>
              </a:rPr>
              <a:t>差分＝再計算可能な解析　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確定事実ではない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常時監視・隠れた録画は行わない</a:t>
            </a:r>
          </a:p>
        </p:txBody>
      </p:sp>
      <p:cxnSp>
        <p:nvCxnSpPr>
          <p:cNvPr id="47" name="Connector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9" name="Text: Core concept §§3, 14.4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§§3, 14.4, 20.4</a:t>
            </a:r>
          </a:p>
        </p:txBody>
      </p:sp>
      <p:sp>
        <p:nvSpPr>
          <p:cNvPr id="50" name="Text: 03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仕組みを具体例で見る — 3画像から人の判断まで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仕組みを具体例で見る — 3画像から人の判断まで</a:t>
            </a:r>
          </a:p>
        </p:txBody>
      </p:sp>
      <p:sp>
        <p:nvSpPr>
          <p:cNvPr id="3" name="Text: MECHANISM · 今すぐ試せる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MECHANISM · 今すぐ試せる</a:t>
            </a:r>
          </a:p>
        </p:txBody>
      </p:sp>
      <p:sp>
        <p:nvSpPr>
          <p:cNvPr id="4" name="Text: v0.9.0の壁画tutorialに基づく最小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v0.9.0の壁画tutorialに基づく最小構成。図はconcept diagramで実画面ではない</a:t>
            </a:r>
          </a:p>
        </p:txBody>
      </p:sp>
      <p:sp>
        <p:nvSpPr>
          <p:cNvPr id="5" name="今すぐ試せる操作" title="今すぐ試せる操作" descr="今すぐ試せる操作"/>
          <p:cNvSpPr/>
          <p:nvPr/>
        </p:nvSpPr>
        <p:spPr>
          <a:xfrm>
            <a:off x="9747504" y="475488"/>
            <a:ext cx="1883664" cy="365760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今すぐ試せる操作</a:t>
            </a:r>
          </a:p>
        </p:txBody>
      </p:sp>
      <p:sp>
        <p:nvSpPr>
          <p:cNvPr id="6" name="Node: Original referenc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1600200"/>
            <a:ext cx="2304288" cy="1097280"/>
          </a:xfrm>
          <a:prstGeom prst="roundRect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Original reference"/>
          <p:cNvSpPr txBox="1"/>
          <p:nvPr/>
        </p:nvSpPr>
        <p:spPr>
          <a:xfrm>
            <a:off x="731520" y="1728216"/>
            <a:ext cx="2084832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4E51A8"/>
                </a:solidFill>
                <a:latin typeface="Noto Sans JP"/>
                <a:ea typeface="Noto Sans JP"/>
              </a:rPr>
              <a:t>Original reference</a:t>
            </a:r>
          </a:p>
        </p:txBody>
      </p:sp>
      <p:sp>
        <p:nvSpPr>
          <p:cNvPr id="8" name="Text: 過去の参照状態"/>
          <p:cNvSpPr txBox="1"/>
          <p:nvPr/>
        </p:nvSpPr>
        <p:spPr>
          <a:xfrm>
            <a:off x="713232" y="2103120"/>
            <a:ext cx="2121408" cy="5029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過去の参照状態</a:t>
            </a:r>
          </a:p>
        </p:txBody>
      </p:sp>
      <p:sp>
        <p:nvSpPr>
          <p:cNvPr id="9" name="Node: Current observatio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17520" y="1600200"/>
            <a:ext cx="2304288" cy="1097280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Current observation"/>
          <p:cNvSpPr txBox="1"/>
          <p:nvPr/>
        </p:nvSpPr>
        <p:spPr>
          <a:xfrm>
            <a:off x="3127248" y="1728216"/>
            <a:ext cx="2084832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Current observation</a:t>
            </a:r>
          </a:p>
        </p:txBody>
      </p:sp>
      <p:sp>
        <p:nvSpPr>
          <p:cNvPr id="11" name="Text: 現在観測した状態"/>
          <p:cNvSpPr txBox="1"/>
          <p:nvPr/>
        </p:nvSpPr>
        <p:spPr>
          <a:xfrm>
            <a:off x="3108960" y="2103120"/>
            <a:ext cx="2121408" cy="5029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現在観測した状態</a:t>
            </a:r>
          </a:p>
        </p:txBody>
      </p:sp>
      <p:sp>
        <p:nvSpPr>
          <p:cNvPr id="12" name="Node: 外部で用意した候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3248" y="1600200"/>
            <a:ext cx="2304288" cy="1097280"/>
          </a:xfrm>
          <a:prstGeom prst="roundRect">
            <a:avLst/>
          </a:prstGeom>
          <a:solidFill>
            <a:srgbClr val="E8E1F3"/>
          </a:solidFill>
          <a:ln w="1524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外部で用意した候補"/>
          <p:cNvSpPr txBox="1"/>
          <p:nvPr/>
        </p:nvSpPr>
        <p:spPr>
          <a:xfrm>
            <a:off x="5522976" y="1728216"/>
            <a:ext cx="2084832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74428A"/>
                </a:solidFill>
                <a:latin typeface="Noto Sans JP"/>
                <a:ea typeface="Noto Sans JP"/>
              </a:rPr>
              <a:t>外部で用意した候補</a:t>
            </a:r>
          </a:p>
        </p:txBody>
      </p:sp>
      <p:sp>
        <p:nvSpPr>
          <p:cNvPr id="14" name="Text: AI-attributed proposal&#10;("/>
          <p:cNvSpPr txBox="1"/>
          <p:nvPr/>
        </p:nvSpPr>
        <p:spPr>
          <a:xfrm>
            <a:off x="5504688" y="2103120"/>
            <a:ext cx="2121408" cy="50291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AI-attributed proposal</a:t>
            </a:r>
            <a:br/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(caller-supplied)</a:t>
            </a:r>
          </a:p>
        </p:txBody>
      </p:sp>
      <p:sp>
        <p:nvSpPr>
          <p:cNvPr id="15" name="Chevron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36776" y="2724912"/>
            <a:ext cx="274320" cy="31089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Chevron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032504" y="2724912"/>
            <a:ext cx="274320" cy="31089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evron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28232" y="2724912"/>
            <a:ext cx="274320" cy="310896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ode: 記録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3090672"/>
            <a:ext cx="2194560" cy="1051560"/>
          </a:xfrm>
          <a:prstGeom prst="roundRect">
            <a:avLst/>
          </a:prstGeom>
          <a:solidFill>
            <a:srgbClr val="D9EEEB"/>
          </a:solidFill>
          <a:ln w="1524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記録"/>
          <p:cNvSpPr txBox="1"/>
          <p:nvPr/>
        </p:nvSpPr>
        <p:spPr>
          <a:xfrm>
            <a:off x="731520" y="3218688"/>
            <a:ext cx="1975104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0B6E69"/>
                </a:solidFill>
                <a:latin typeface="Noto Sans JP"/>
                <a:ea typeface="Noto Sans JP"/>
              </a:rPr>
              <a:t>記録</a:t>
            </a:r>
          </a:p>
        </p:txBody>
      </p:sp>
      <p:sp>
        <p:nvSpPr>
          <p:cNvPr id="20" name="Text: Observation Record&#10;byte "/>
          <p:cNvSpPr txBox="1"/>
          <p:nvPr/>
        </p:nvSpPr>
        <p:spPr>
          <a:xfrm>
            <a:off x="713232" y="3593591"/>
            <a:ext cx="2011679" cy="45719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Observation Record</a:t>
            </a:r>
            <a:br/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byte OIDで保存</a:t>
            </a:r>
          </a:p>
        </p:txBody>
      </p:sp>
      <p:sp>
        <p:nvSpPr>
          <p:cNvPr id="21" name="Chevron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26080" y="3429000"/>
            <a:ext cx="310896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Node: byte identity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291840" y="3090672"/>
            <a:ext cx="2615184" cy="1051560"/>
          </a:xfrm>
          <a:prstGeom prst="roundRect">
            <a:avLst/>
          </a:prstGeom>
          <a:solidFill>
            <a:srgbClr val="E7EAED"/>
          </a:solidFill>
          <a:ln w="15240">
            <a:solidFill>
              <a:srgbClr val="5E6873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byte identity比較"/>
          <p:cNvSpPr txBox="1"/>
          <p:nvPr/>
        </p:nvSpPr>
        <p:spPr>
          <a:xfrm>
            <a:off x="3401568" y="3218688"/>
            <a:ext cx="2395728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5E6873"/>
                </a:solidFill>
                <a:latin typeface="Noto Sans JP"/>
                <a:ea typeface="Noto Sans JP"/>
              </a:rPr>
              <a:t>byte identity比較</a:t>
            </a:r>
          </a:p>
        </p:txBody>
      </p:sp>
      <p:sp>
        <p:nvSpPr>
          <p:cNvPr id="24" name="Text: 主Blob OID一致／不一致のみ&#10;(pixel"/>
          <p:cNvSpPr txBox="1"/>
          <p:nvPr/>
        </p:nvSpPr>
        <p:spPr>
          <a:xfrm>
            <a:off x="3383280" y="3593591"/>
            <a:ext cx="2432303" cy="45719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主Blob OID一致／不一致のみ</a:t>
            </a:r>
            <a:br/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(pixel・EXIFは見ない)</a:t>
            </a:r>
          </a:p>
        </p:txBody>
      </p:sp>
      <p:sp>
        <p:nvSpPr>
          <p:cNvPr id="25" name="Chevron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16752" y="3429000"/>
            <a:ext cx="310896" cy="38404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人が判断" title="人が判断" descr="Adopt・Reject・Deferのいずれかを人が選ぶ。SynapseGitはモデルを呼ばず、実行しない"/>
          <p:cNvSpPr/>
          <p:nvPr/>
        </p:nvSpPr>
        <p:spPr>
          <a:xfrm>
            <a:off x="6455664" y="3090672"/>
            <a:ext cx="1920240" cy="1051560"/>
          </a:xfrm>
          <a:prstGeom prst="hexagon">
            <a:avLst/>
          </a:prstGeom>
          <a:solidFill>
            <a:srgbClr val="F3E3C7"/>
          </a:solidFill>
          <a:ln w="3048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人が判断"/>
          <p:cNvSpPr txBox="1"/>
          <p:nvPr/>
        </p:nvSpPr>
        <p:spPr>
          <a:xfrm>
            <a:off x="6583680" y="3236976"/>
            <a:ext cx="1664208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5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</a:p>
        </p:txBody>
      </p:sp>
      <p:sp>
        <p:nvSpPr>
          <p:cNvPr id="28" name="Text: Adopt／Reject／Defer"/>
          <p:cNvSpPr txBox="1"/>
          <p:nvPr/>
        </p:nvSpPr>
        <p:spPr>
          <a:xfrm>
            <a:off x="6583680" y="3566160"/>
            <a:ext cx="1664208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Adopt／Reject／Defer</a:t>
            </a:r>
          </a:p>
        </p:txBody>
      </p:sp>
      <p:sp>
        <p:nvSpPr>
          <p:cNvPr id="29" name="Card: creator-repor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1120" y="1600200"/>
            <a:ext cx="2615184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creator-repor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25712" y="1764792"/>
            <a:ext cx="128016" cy="53949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creator-report"/>
          <p:cNvSpPr txBox="1"/>
          <p:nvPr/>
        </p:nvSpPr>
        <p:spPr>
          <a:xfrm>
            <a:off x="9400032" y="1728216"/>
            <a:ext cx="199339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creator-report</a:t>
            </a:r>
          </a:p>
        </p:txBody>
      </p:sp>
      <p:sp>
        <p:nvSpPr>
          <p:cNvPr id="32" name="Text: CLI出力"/>
          <p:cNvSpPr txBox="1"/>
          <p:nvPr/>
        </p:nvSpPr>
        <p:spPr>
          <a:xfrm>
            <a:off x="9400032" y="2130552"/>
            <a:ext cx="1993391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CLI出力</a:t>
            </a:r>
          </a:p>
        </p:txBody>
      </p:sp>
      <p:sp>
        <p:nvSpPr>
          <p:cNvPr id="33" name="Card: localhost U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1120" y="2578608"/>
            <a:ext cx="2615184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localhost UI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25712" y="2743200"/>
            <a:ext cx="128016" cy="53949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localhost UI"/>
          <p:cNvSpPr txBox="1"/>
          <p:nvPr/>
        </p:nvSpPr>
        <p:spPr>
          <a:xfrm>
            <a:off x="9400032" y="2706624"/>
            <a:ext cx="199339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localhost UI</a:t>
            </a:r>
          </a:p>
        </p:txBody>
      </p:sp>
      <p:sp>
        <p:nvSpPr>
          <p:cNvPr id="36" name="Text: pending／完了画面"/>
          <p:cNvSpPr txBox="1"/>
          <p:nvPr/>
        </p:nvSpPr>
        <p:spPr>
          <a:xfrm>
            <a:off x="9400032" y="3108960"/>
            <a:ext cx="1993391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pending／完了画面</a:t>
            </a:r>
          </a:p>
        </p:txBody>
      </p:sp>
      <p:sp>
        <p:nvSpPr>
          <p:cNvPr id="37" name="Card: publication vie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61120" y="3557016"/>
            <a:ext cx="2615184" cy="8686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publication vie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25712" y="3721608"/>
            <a:ext cx="128016" cy="53949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publication view"/>
          <p:cNvSpPr txBox="1"/>
          <p:nvPr/>
        </p:nvSpPr>
        <p:spPr>
          <a:xfrm>
            <a:off x="9400032" y="3685032"/>
            <a:ext cx="199339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publication view</a:t>
            </a:r>
          </a:p>
        </p:txBody>
      </p:sp>
      <p:sp>
        <p:nvSpPr>
          <p:cNvPr id="40" name="Text: ローカル生成のみ"/>
          <p:cNvSpPr txBox="1"/>
          <p:nvPr/>
        </p:nvSpPr>
        <p:spPr>
          <a:xfrm>
            <a:off x="9400032" y="4087368"/>
            <a:ext cx="1993391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ローカル生成のみ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8375904" y="2034540"/>
            <a:ext cx="585216" cy="1581912"/>
          </a:xfrm>
          <a:prstGeom prst="line">
            <a:avLst/>
          </a:prstGeom>
          <a:ln w="1778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8375904" y="3012948"/>
            <a:ext cx="585216" cy="603504"/>
          </a:xfrm>
          <a:prstGeom prst="line">
            <a:avLst/>
          </a:prstGeom>
          <a:ln w="1778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375904" y="3616452"/>
            <a:ext cx="585216" cy="374904"/>
          </a:xfrm>
          <a:prstGeom prst="line">
            <a:avLst/>
          </a:prstGeom>
          <a:ln w="1778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4526280"/>
            <a:ext cx="1097280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1248" y="4617720"/>
            <a:ext cx="10515600" cy="7680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 lang="ja-JP">
                <a:solidFill>
                  <a:srgbClr val="8C4A12"/>
                </a:solidFill>
                <a:latin typeface="Noto Sans JP"/>
                <a:ea typeface="Noto Sans JP"/>
              </a:rPr>
              <a:t>候補は誰が用意する？　</a:t>
            </a: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利用者が外部ツールで用意する。SynapseGitはmodelを呼ばず、自動実行しない。
</a:t>
            </a:r>
            <a:r>
              <a:rPr sz="1250" b="1" lang="ja-JP">
                <a:solidFill>
                  <a:srgbClr val="8C4A12"/>
                </a:solidFill>
                <a:latin typeface="Noto Sans JP"/>
                <a:ea typeface="Noto Sans JP"/>
              </a:rPr>
              <a:t>誰が決める？　</a:t>
            </a: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人だけ。Deferもその1回のDecisionを完了する（改めて判断するには別セッションを作る）。
</a:t>
            </a:r>
            <a:r>
              <a:rPr sz="1250" b="1" lang="ja-JP">
                <a:solidFill>
                  <a:srgbClr val="8C4A12"/>
                </a:solidFill>
                <a:latin typeface="Noto Sans JP"/>
                <a:ea typeface="Noto Sans JP"/>
              </a:rPr>
              <a:t>何を比較する？　</a:t>
            </a:r>
            <a:r>
              <a:rPr sz="1250" b="0" lang="ja-JP">
                <a:solidFill>
                  <a:srgbClr val="13202B"/>
                </a:solidFill>
                <a:latin typeface="Noto Sans JP"/>
                <a:ea typeface="Noto Sans JP"/>
              </a:rPr>
              <a:t>主Blob OIDのbyte一致のみ。位置合わせ・pixel差分・意味解釈は行わない。</a:t>
            </a:r>
          </a:p>
        </p:txBody>
      </p:sp>
      <p:sp>
        <p:nvSpPr>
          <p:cNvPr id="46" name="Text: しないこと：AIの自動実行・自動採否／画像の意味"/>
          <p:cNvSpPr txBox="1"/>
          <p:nvPr/>
        </p:nvSpPr>
        <p:spPr>
          <a:xfrm>
            <a:off x="658368" y="5541264"/>
            <a:ext cx="108813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しないこと：AIの自動実行・自動採否／画像の意味解析・作者証明／pixel-levelの視覚差分</a:t>
            </a:r>
          </a:p>
        </p:txBody>
      </p:sp>
      <p:sp>
        <p:nvSpPr>
          <p:cNvPr id="47" name="Text: 詳しい手順: 15分 壁画tutorial"/>
          <p:cNvSpPr txBox="1"/>
          <p:nvPr/>
        </p:nvSpPr>
        <p:spPr>
          <a:xfrm>
            <a:off x="658368" y="5852160"/>
            <a:ext cx="1088136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詳しい手順: 15分 壁画tutorial</a:t>
            </a:r>
          </a:p>
        </p:txBody>
      </p:sp>
      <p:cxnSp>
        <p:nvCxnSpPr>
          <p:cNvPr id="48" name="Connector 4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3"/>
              </a:rPr>
              <a:t>Concept · v0.9.0 · 確認日 2026-09-27</a:t>
            </a:r>
          </a:p>
        </p:txBody>
      </p:sp>
      <p:sp>
        <p:nvSpPr>
          <p:cNvPr id="50" name="Text: Creator workflow §§1-3 ·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Creator workflow §§1-3 · core_model.md · tutorial/README.ja.md</a:t>
            </a:r>
          </a:p>
        </p:txBody>
      </p:sp>
      <p:sp>
        <p:nvSpPr>
          <p:cNvPr id="51" name="Text: 04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画家・壁画家 — 塗り重ねの「なぜ」を残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画家・壁画家 — 塗り重ねの「なぜ」を残す</a:t>
            </a:r>
          </a:p>
        </p:txBody>
      </p:sp>
      <p:sp>
        <p:nvSpPr>
          <p:cNvPr id="3" name="Text: SCENARIO 01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01</a:t>
            </a:r>
          </a:p>
        </p:txBody>
      </p:sp>
      <p:sp>
        <p:nvSpPr>
          <p:cNvPr id="4" name="Text: 同じ視点の前後を比べ、差分候補へ人が意味を付け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同じ視点の前後を比べ、差分候補へ人が意味を付ける</a:t>
            </a:r>
          </a:p>
        </p:txBody>
      </p:sp>
      <p:sp>
        <p:nvSpPr>
          <p:cNvPr id="5" name="Text: 制作前 Capture"/>
          <p:cNvSpPr txBox="1"/>
          <p:nvPr/>
        </p:nvSpPr>
        <p:spPr>
          <a:xfrm>
            <a:off x="658368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制作前 Capture</a:t>
            </a:r>
          </a:p>
        </p:txBody>
      </p:sp>
      <p:sp>
        <p:nvSpPr>
          <p:cNvPr id="6" name="Rectangle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rc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7552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39112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Wave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制作 Session"/>
          <p:cNvSpPr txBox="1"/>
          <p:nvPr/>
        </p:nvSpPr>
        <p:spPr>
          <a:xfrm>
            <a:off x="3703320" y="1417320"/>
            <a:ext cx="219456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制作 Session</a:t>
            </a:r>
          </a:p>
        </p:txBody>
      </p:sp>
      <p:sp>
        <p:nvSpPr>
          <p:cNvPr id="11" name="Rounded Rectangle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67328" y="1773936"/>
            <a:ext cx="2084831" cy="1993392"/>
          </a:xfrm>
          <a:prstGeom prst="roundRect">
            <a:avLst/>
          </a:prstGeom>
          <a:solidFill>
            <a:srgbClr val="F5E4D4"/>
          </a:solidFill>
          <a:ln w="1524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描く&#10;塗り重ねる"/>
          <p:cNvSpPr txBox="1"/>
          <p:nvPr/>
        </p:nvSpPr>
        <p:spPr>
          <a:xfrm>
            <a:off x="4050791" y="1975104"/>
            <a:ext cx="1508760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描く</a:t>
            </a:r>
            <a:br/>
            <a:r>
              <a:rPr sz="1900" b="1" lang="ja-JP">
                <a:solidFill>
                  <a:srgbClr val="8C450E"/>
                </a:solidFill>
                <a:latin typeface="Noto Sans JP"/>
                <a:ea typeface="Noto Sans JP"/>
              </a:rPr>
              <a:t>塗り重ねる</a:t>
            </a:r>
          </a:p>
        </p:txBody>
      </p:sp>
      <p:sp>
        <p:nvSpPr>
          <p:cNvPr id="13" name="任意の一言・音声" title="任意の一言・音声" descr="任意の一言・音声"/>
          <p:cNvSpPr/>
          <p:nvPr/>
        </p:nvSpPr>
        <p:spPr>
          <a:xfrm>
            <a:off x="3968496" y="2907792"/>
            <a:ext cx="1682496" cy="38404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任意の一言・音声</a:t>
            </a:r>
          </a:p>
        </p:txBody>
      </p:sp>
      <p:sp>
        <p:nvSpPr>
          <p:cNvPr id="14" name="Chevron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63824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evron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16752" y="2523744"/>
            <a:ext cx="384048" cy="475488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制作後 Capture"/>
          <p:cNvSpPr txBox="1"/>
          <p:nvPr/>
        </p:nvSpPr>
        <p:spPr>
          <a:xfrm>
            <a:off x="6446520" y="1417320"/>
            <a:ext cx="2468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制作後 Capture</a:t>
            </a:r>
          </a:p>
        </p:txBody>
      </p:sp>
      <p:sp>
        <p:nvSpPr>
          <p:cNvPr id="17" name="Rectangle 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92240" y="1773936"/>
            <a:ext cx="2359152" cy="1993392"/>
          </a:xfrm>
          <a:prstGeom prst="rect">
            <a:avLst/>
          </a:prstGeom>
          <a:solidFill>
            <a:srgbClr val="EFE9DE"/>
          </a:solidFill>
          <a:ln w="15240">
            <a:solidFill>
              <a:srgbClr val="B6AA9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rc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766559" y="2157984"/>
            <a:ext cx="1389888" cy="1097280"/>
          </a:xfrm>
          <a:prstGeom prst="arc">
            <a:avLst/>
          </a:prstGeom>
          <a:solidFill>
            <a:srgbClr val="E2E4F7"/>
          </a:solidFill>
          <a:ln w="1524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18119" y="2139696"/>
            <a:ext cx="676656" cy="676656"/>
          </a:xfrm>
          <a:prstGeom prst="ellipse">
            <a:avLst/>
          </a:prstGeom>
          <a:solidFill>
            <a:srgbClr val="F3E3C7"/>
          </a:solidFill>
          <a:ln w="127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Wave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858000" y="2916936"/>
            <a:ext cx="1609344" cy="512064"/>
          </a:xfrm>
          <a:prstGeom prst="wave">
            <a:avLst/>
          </a:prstGeom>
          <a:solidFill>
            <a:srgbClr val="D9EEEB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79" y="2615184"/>
            <a:ext cx="786384" cy="676656"/>
          </a:xfrm>
          <a:prstGeom prst="cloud">
            <a:avLst/>
          </a:prstGeom>
          <a:solidFill>
            <a:srgbClr val="F5DEDB"/>
          </a:solidFill>
          <a:ln w="254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差分候補" title="差分候補" descr="差分候補"/>
          <p:cNvSpPr/>
          <p:nvPr/>
        </p:nvSpPr>
        <p:spPr>
          <a:xfrm>
            <a:off x="7534656" y="3145536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差分候補</a:t>
            </a:r>
          </a:p>
        </p:txBody>
      </p:sp>
      <p:sp>
        <p:nvSpPr>
          <p:cNvPr id="23" name="Card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89720" y="1572768"/>
            <a:ext cx="2359152" cy="2377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cent: すぐ返るも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1737360"/>
            <a:ext cx="128016" cy="204825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: すぐ返るもの"/>
          <p:cNvSpPr txBox="1"/>
          <p:nvPr/>
        </p:nvSpPr>
        <p:spPr>
          <a:xfrm>
            <a:off x="9628632" y="1700784"/>
            <a:ext cx="1737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29704A"/>
                </a:solidFill>
                <a:latin typeface="Noto Sans JP"/>
                <a:ea typeface="Noto Sans JP"/>
              </a:rPr>
              <a:t>すぐ返るもの</a:t>
            </a:r>
          </a:p>
        </p:txBody>
      </p:sp>
      <p:sp>
        <p:nvSpPr>
          <p:cNvPr id="26" name="Text: 前後比較&#10;差分候補&#10;制作process pack"/>
          <p:cNvSpPr txBox="1"/>
          <p:nvPr/>
        </p:nvSpPr>
        <p:spPr>
          <a:xfrm>
            <a:off x="9628632" y="2103120"/>
            <a:ext cx="1737360" cy="1737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前後比較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差分候補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制作process pack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未採用案の再利用</a:t>
            </a:r>
          </a:p>
        </p:txBody>
      </p:sp>
      <p:sp>
        <p:nvSpPr>
          <p:cNvPr id="27" name="Text: 色・構図案を分ける"/>
          <p:cNvSpPr txBox="1"/>
          <p:nvPr/>
        </p:nvSpPr>
        <p:spPr>
          <a:xfrm>
            <a:off x="749808" y="4078224"/>
            <a:ext cx="2011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74428A"/>
                </a:solidFill>
                <a:latin typeface="Noto Sans JP"/>
                <a:ea typeface="Noto Sans JP"/>
              </a:rPr>
              <a:t>色・構図案を分ける</a:t>
            </a:r>
          </a:p>
        </p:txBody>
      </p:sp>
      <p:cxnSp>
        <p:nvCxnSpPr>
          <p:cNvPr id="28" name="Connector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4791456"/>
            <a:ext cx="224028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1874519" y="4416552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874519" y="4791456"/>
            <a:ext cx="777241" cy="374904"/>
          </a:xfrm>
          <a:prstGeom prst="line">
            <a:avLst/>
          </a:prstGeom>
          <a:ln w="1905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採用した色案" title="採用した色案" descr="採用した色案"/>
          <p:cNvSpPr/>
          <p:nvPr/>
        </p:nvSpPr>
        <p:spPr>
          <a:xfrm>
            <a:off x="2770632" y="4233672"/>
            <a:ext cx="1463040" cy="384048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採用した色案</a:t>
            </a:r>
          </a:p>
        </p:txBody>
      </p:sp>
      <p:sp>
        <p:nvSpPr>
          <p:cNvPr id="32" name="保留・未採用案" title="保留・未採用案" descr="保留・未採用案"/>
          <p:cNvSpPr/>
          <p:nvPr/>
        </p:nvSpPr>
        <p:spPr>
          <a:xfrm>
            <a:off x="2770632" y="5010912"/>
            <a:ext cx="1691640" cy="384048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74428A"/>
                </a:solidFill>
                <a:latin typeface="Noto Sans JP"/>
                <a:ea typeface="Noto Sans JP"/>
              </a:rPr>
              <a:t>保留・未採用案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09160" y="4169663"/>
            <a:ext cx="6821424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56048" y="4370832"/>
            <a:ext cx="6327648" cy="86868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人が残す意味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「この変化を採用」「偶然を残す」「まだ不明」
</a:t>
            </a: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しないこと　</a:t>
            </a: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差分量を創造性・努力の点数にしない／画像から作者を特定しない</a:t>
            </a:r>
          </a:p>
        </p:txBody>
      </p:sp>
      <p:sp>
        <p:nvSpPr>
          <p:cNvPr id="35" name="Status: n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5577840"/>
            <a:ext cx="5431536" cy="786384"/>
          </a:xfrm>
          <a:prstGeom prst="roundRect">
            <a:avLst/>
          </a:prstGeom>
          <a:solidFill>
            <a:srgbClr val="DCEEE4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tatus: pl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5577840"/>
            <a:ext cx="5431536" cy="786384"/>
          </a:xfrm>
          <a:prstGeom prst="roundRect">
            <a:avLst/>
          </a:prstGeom>
          <a:solidFill>
            <a:srgbClr val="F5E4D4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: 今すぐ試せる（v0.9.0）"/>
          <p:cNvSpPr txBox="1"/>
          <p:nvPr/>
        </p:nvSpPr>
        <p:spPr>
          <a:xfrm>
            <a:off x="768096" y="5632703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今すぐ試せる（v0.9.0）</a:t>
            </a:r>
          </a:p>
        </p:txBody>
      </p:sp>
      <p:sp>
        <p:nvSpPr>
          <p:cNvPr id="38" name="Text: 前後の画像と外部で用意した候補を記録し、byte"/>
          <p:cNvSpPr txBox="1"/>
          <p:nvPr/>
        </p:nvSpPr>
        <p:spPr>
          <a:xfrm>
            <a:off x="768096" y="5852159"/>
            <a:ext cx="51572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前後の画像と外部で用意した候補を記録し、byte identity比較と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人のAdopt／Reject／Defer＋理由を残す</a:t>
            </a:r>
          </a:p>
        </p:txBody>
      </p:sp>
      <p:sp>
        <p:nvSpPr>
          <p:cNvPr id="39" name="Text: 構想・未実装"/>
          <p:cNvSpPr txBox="1"/>
          <p:nvPr/>
        </p:nvSpPr>
        <p:spPr>
          <a:xfrm>
            <a:off x="6309360" y="5632703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40" name="Text: 撮影(Capture)機能・pixel差分の差分"/>
          <p:cNvSpPr txBox="1"/>
          <p:nvPr/>
        </p:nvSpPr>
        <p:spPr>
          <a:xfrm>
            <a:off x="6309360" y="5852159"/>
            <a:ext cx="51572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撮影(Capture)機能・pixel差分の差分候補・音声メモ・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制作process pack</a:t>
            </a:r>
          </a:p>
        </p:txBody>
      </p:sp>
      <p:cxnSp>
        <p:nvCxnSpPr>
          <p:cNvPr id="41" name="Connector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3" name="Text: Core concept §§14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§§14.2, 20.2, 20.7 · project_status.md</a:t>
            </a:r>
          </a:p>
        </p:txBody>
      </p:sp>
      <p:sp>
        <p:nvSpPr>
          <p:cNvPr id="44" name="Text: 05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建築家 — Plan・直前現況・現在現況を並べ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建築家 — Plan・直前現況・現在現況を並べる</a:t>
            </a:r>
          </a:p>
        </p:txBody>
      </p:sp>
      <p:sp>
        <p:nvSpPr>
          <p:cNvPr id="3" name="Text: SCENARIO 02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02</a:t>
            </a:r>
          </a:p>
        </p:txBody>
      </p:sp>
      <p:sp>
        <p:nvSpPr>
          <p:cNvPr id="4" name="Text: 「計画との適合」と「時間変化」を混ぜずに判断す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「計画との適合」と「時間変化」を混ぜずに判断する</a:t>
            </a:r>
          </a:p>
        </p:txBody>
      </p:sp>
      <p:sp>
        <p:nvSpPr>
          <p:cNvPr id="5" name="Text: PLAN"/>
          <p:cNvSpPr txBox="1"/>
          <p:nvPr/>
        </p:nvSpPr>
        <p:spPr>
          <a:xfrm>
            <a:off x="621792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PLAN</a:t>
            </a:r>
          </a:p>
        </p:txBody>
      </p:sp>
      <p:sp>
        <p:nvSpPr>
          <p:cNvPr id="6" name="Text: 実現したかった状態"/>
          <p:cNvSpPr txBox="1"/>
          <p:nvPr/>
        </p:nvSpPr>
        <p:spPr>
          <a:xfrm>
            <a:off x="621792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実現したかった状態</a:t>
            </a:r>
          </a:p>
        </p:txBody>
      </p:sp>
      <p:sp>
        <p:nvSpPr>
          <p:cNvPr id="7" name="Rectangle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44144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285292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26440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367588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804672" y="4087368"/>
            <a:ext cx="2688335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46304" cy="1572768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24128" y="2468880"/>
            <a:ext cx="1755648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615184" y="2468880"/>
            <a:ext cx="146304" cy="1078992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73352" y="3447288"/>
            <a:ext cx="1088136" cy="146304"/>
          </a:xfrm>
          <a:prstGeom prst="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: PREVIOUS"/>
          <p:cNvSpPr txBox="1"/>
          <p:nvPr/>
        </p:nvSpPr>
        <p:spPr>
          <a:xfrm>
            <a:off x="4114800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PREVIOUS</a:t>
            </a:r>
          </a:p>
        </p:txBody>
      </p:sp>
      <p:sp>
        <p:nvSpPr>
          <p:cNvPr id="18" name="Text: 直前に観測した状態"/>
          <p:cNvSpPr txBox="1"/>
          <p:nvPr/>
        </p:nvSpPr>
        <p:spPr>
          <a:xfrm>
            <a:off x="4114800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直前に観測した状態</a:t>
            </a:r>
          </a:p>
        </p:txBody>
      </p:sp>
      <p:sp>
        <p:nvSpPr>
          <p:cNvPr id="19" name="Rectangle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114800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4297680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17136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08192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66360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CURRENT"/>
          <p:cNvSpPr txBox="1"/>
          <p:nvPr/>
        </p:nvSpPr>
        <p:spPr>
          <a:xfrm>
            <a:off x="7607808" y="1444752"/>
            <a:ext cx="3054096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CURRENT</a:t>
            </a:r>
          </a:p>
        </p:txBody>
      </p:sp>
      <p:sp>
        <p:nvSpPr>
          <p:cNvPr id="30" name="Text: 現在観測した状態"/>
          <p:cNvSpPr txBox="1"/>
          <p:nvPr/>
        </p:nvSpPr>
        <p:spPr>
          <a:xfrm>
            <a:off x="7607808" y="1709928"/>
            <a:ext cx="3054096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lang="ja-JP">
                <a:solidFill>
                  <a:srgbClr val="5E6873"/>
                </a:solidFill>
                <a:latin typeface="Noto Sans JP"/>
                <a:ea typeface="Noto Sans JP"/>
              </a:rPr>
              <a:t>現在観測した状態</a:t>
            </a:r>
          </a:p>
        </p:txBody>
      </p:sp>
      <p:sp>
        <p:nvSpPr>
          <p:cNvPr id="31" name="Rectangle 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07808" y="2029968"/>
            <a:ext cx="3054096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44144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285292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26440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367588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7790688" y="4087368"/>
            <a:ext cx="2688336" cy="0"/>
          </a:xfrm>
          <a:prstGeom prst="line">
            <a:avLst/>
          </a:prstGeom>
          <a:ln w="7620">
            <a:solidFill>
              <a:srgbClr val="EDF0F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46304" cy="1572768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10144" y="2468880"/>
            <a:ext cx="1755648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01200" y="2468880"/>
            <a:ext cx="146304" cy="1078992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659368" y="3447288"/>
            <a:ext cx="1088136" cy="146304"/>
          </a:xfrm>
          <a:prstGeom prst="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97696" y="3602736"/>
            <a:ext cx="493776" cy="411480"/>
          </a:xfrm>
          <a:prstGeom prst="rect">
            <a:avLst/>
          </a:prstGeom>
          <a:solidFill>
            <a:srgbClr val="F5DEDB"/>
          </a:solidFill>
          <a:ln w="2032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要確認" title="要確認" descr="要確認"/>
          <p:cNvSpPr/>
          <p:nvPr/>
        </p:nvSpPr>
        <p:spPr>
          <a:xfrm>
            <a:off x="9034272" y="4005072"/>
            <a:ext cx="1170432" cy="310896"/>
          </a:xfrm>
          <a:prstGeom prst="roundRect">
            <a:avLst/>
          </a:prstGeom>
          <a:solidFill>
            <a:srgbClr val="F5DEDB"/>
          </a:solidFill>
          <a:ln w="889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lang="ja-JP">
                <a:solidFill>
                  <a:srgbClr val="A13A31"/>
                </a:solidFill>
                <a:latin typeface="Noto Sans JP"/>
                <a:ea typeface="Noto Sans JP"/>
              </a:rPr>
              <a:t>要確認</a:t>
            </a:r>
          </a:p>
        </p:txBody>
      </p:sp>
      <p:sp>
        <p:nvSpPr>
          <p:cNvPr id="43" name="Chevron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703320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Chevron 4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96328" y="2971800"/>
            <a:ext cx="292608" cy="457200"/>
          </a:xfrm>
          <a:prstGeom prst="chevron">
            <a:avLst/>
          </a:prstGeom>
          <a:solidFill>
            <a:srgbClr val="7B85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: 計画との適合"/>
          <p:cNvSpPr txBox="1"/>
          <p:nvPr/>
        </p:nvSpPr>
        <p:spPr>
          <a:xfrm>
            <a:off x="3127248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</a:rPr>
              <a:t>計画との適合</a:t>
            </a:r>
          </a:p>
        </p:txBody>
      </p:sp>
      <p:sp>
        <p:nvSpPr>
          <p:cNvPr id="46" name="Text: 時間変化"/>
          <p:cNvSpPr txBox="1"/>
          <p:nvPr/>
        </p:nvSpPr>
        <p:spPr>
          <a:xfrm>
            <a:off x="6620256" y="4462272"/>
            <a:ext cx="14630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</a:rPr>
              <a:t>時間変化</a:t>
            </a:r>
          </a:p>
        </p:txBody>
      </p:sp>
      <p:sp>
        <p:nvSpPr>
          <p:cNvPr id="47" name="Rounded Rectangle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35056" y="2029968"/>
            <a:ext cx="859536" cy="2560320"/>
          </a:xfrm>
          <a:prstGeom prst="roundRect">
            <a:avLst/>
          </a:prstGeom>
          <a:solidFill>
            <a:srgbClr val="F3E3C7"/>
          </a:solidFill>
          <a:ln w="1778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: 人が判断&#10;&#10;採用&#10;是正&#10;保留"/>
          <p:cNvSpPr txBox="1"/>
          <p:nvPr/>
        </p:nvSpPr>
        <p:spPr>
          <a:xfrm>
            <a:off x="10808208" y="2286000"/>
            <a:ext cx="713232" cy="1956816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人が判断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/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採用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是正</a:t>
            </a:r>
            <a:br/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保留</a:t>
            </a:r>
          </a:p>
        </p:txBody>
      </p:sp>
      <p:sp>
        <p:nvSpPr>
          <p:cNvPr id="49" name="設計変更理由" title="設計変更理由" descr="設計変更理由"/>
          <p:cNvSpPr/>
          <p:nvPr/>
        </p:nvSpPr>
        <p:spPr>
          <a:xfrm>
            <a:off x="804672" y="4791456"/>
            <a:ext cx="3310128" cy="384048"/>
          </a:xfrm>
          <a:prstGeom prst="roundRect">
            <a:avLst/>
          </a:prstGeom>
          <a:solidFill>
            <a:srgbClr val="E2E4F7"/>
          </a:solidFill>
          <a:ln w="889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4E51A8"/>
                </a:solidFill>
                <a:latin typeface="Noto Sans JP"/>
                <a:ea typeface="Noto Sans JP"/>
              </a:rPr>
              <a:t>設計変更理由</a:t>
            </a:r>
          </a:p>
        </p:txBody>
      </p:sp>
      <p:sp>
        <p:nvSpPr>
          <p:cNvPr id="50" name="施主・現場との認識合わせ" title="施主・現場との認識合わせ" descr="施主・現場との認識合わせ"/>
          <p:cNvSpPr/>
          <p:nvPr/>
        </p:nvSpPr>
        <p:spPr>
          <a:xfrm>
            <a:off x="4480559" y="4791456"/>
            <a:ext cx="3310128" cy="384048"/>
          </a:xfrm>
          <a:prstGeom prst="roundRect">
            <a:avLst/>
          </a:prstGeom>
          <a:solidFill>
            <a:srgbClr val="D9EEEB"/>
          </a:solidFill>
          <a:ln w="889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0B6E69"/>
                </a:solidFill>
                <a:latin typeface="Noto Sans JP"/>
                <a:ea typeface="Noto Sans JP"/>
              </a:rPr>
              <a:t>施主・現場との認識合わせ</a:t>
            </a:r>
          </a:p>
        </p:txBody>
      </p:sp>
      <p:sp>
        <p:nvSpPr>
          <p:cNvPr id="51" name="次案件へ判断基準を再利用" title="次案件へ判断基準を再利用" descr="次案件へ判断基準を再利用"/>
          <p:cNvSpPr/>
          <p:nvPr/>
        </p:nvSpPr>
        <p:spPr>
          <a:xfrm>
            <a:off x="8156448" y="4791456"/>
            <a:ext cx="3310128" cy="384048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29704A"/>
                </a:solidFill>
                <a:latin typeface="Noto Sans JP"/>
                <a:ea typeface="Noto Sans JP"/>
              </a:rPr>
              <a:t>次案件へ判断基準を再利用</a:t>
            </a:r>
          </a:p>
        </p:txBody>
      </p:sp>
      <p:sp>
        <p:nvSpPr>
          <p:cNvPr id="52" name="Status: n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5321808"/>
            <a:ext cx="5431536" cy="960120"/>
          </a:xfrm>
          <a:prstGeom prst="roundRect">
            <a:avLst/>
          </a:prstGeom>
          <a:solidFill>
            <a:srgbClr val="DCEEE4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Status: pl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5321808"/>
            <a:ext cx="5431536" cy="960120"/>
          </a:xfrm>
          <a:prstGeom prst="roundRect">
            <a:avLst/>
          </a:prstGeom>
          <a:solidFill>
            <a:srgbClr val="F5E4D4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: 今すぐ試せる（v0.9.0）"/>
          <p:cNvSpPr txBox="1"/>
          <p:nvPr/>
        </p:nvSpPr>
        <p:spPr>
          <a:xfrm>
            <a:off x="768096" y="5376672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今すぐ試せる（v0.9.0）</a:t>
            </a:r>
          </a:p>
        </p:txBody>
      </p:sp>
      <p:sp>
        <p:nvSpPr>
          <p:cNvPr id="55" name="Text: 3画像（例: 参照・現況・候補）の記録と人の判断"/>
          <p:cNvSpPr txBox="1"/>
          <p:nvPr/>
        </p:nvSpPr>
        <p:spPr>
          <a:xfrm>
            <a:off x="768096" y="5596128"/>
            <a:ext cx="5157216" cy="6309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3画像（例: 参照・現況・候補）の記録と人の判断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（Plan画像は通常の画像として取り込むだけ）</a:t>
            </a:r>
          </a:p>
        </p:txBody>
      </p:sp>
      <p:sp>
        <p:nvSpPr>
          <p:cNvPr id="56" name="Text: 構想・未実装"/>
          <p:cNvSpPr txBox="1"/>
          <p:nvPr/>
        </p:nvSpPr>
        <p:spPr>
          <a:xfrm>
            <a:off x="6309360" y="5376672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57" name="Text: Plan／Previous／Currentの三者"/>
          <p:cNvSpPr txBox="1"/>
          <p:nvPr/>
        </p:nvSpPr>
        <p:spPr>
          <a:xfrm>
            <a:off x="6309360" y="5596128"/>
            <a:ext cx="5157216" cy="6309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Plan／Previous／Currentの三者比較・計画適合／時間変化の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自動判定・BIM/CAD連携（As-built自動認定はしない）</a:t>
            </a:r>
          </a:p>
        </p:txBody>
      </p:sp>
      <p:cxnSp>
        <p:nvCxnSpPr>
          <p:cNvPr id="58" name="Connector 5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60" name="Text: Core concept §§14.1, 14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§§14.1, 14.3, 20.2 · project_status.md</a:t>
            </a:r>
          </a:p>
        </p:txBody>
      </p:sp>
      <p:sp>
        <p:nvSpPr>
          <p:cNvPr id="61" name="Text: 06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施工・修復 — Hold Pointを未来の担当へ渡す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施工・修復 — Hold Pointを未来の担当へ渡す</a:t>
            </a:r>
          </a:p>
        </p:txBody>
      </p:sp>
      <p:sp>
        <p:nvSpPr>
          <p:cNvPr id="3" name="Text: SCENARIO 03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SCENARIO 03</a:t>
            </a:r>
          </a:p>
        </p:txBody>
      </p:sp>
      <p:sp>
        <p:nvSpPr>
          <p:cNvPr id="4" name="Text: 処置前後だけでなく、材料・可逆性・観測できなかっ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処置前後だけでなく、材料・可逆性・観測できなかった範囲も残す</a:t>
            </a:r>
          </a:p>
        </p:txBody>
      </p:sp>
      <p:cxnSp>
        <p:nvCxnSpPr>
          <p:cNvPr id="5" name="Connecto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1005840" y="3246120"/>
            <a:ext cx="9784080" cy="0"/>
          </a:xfrm>
          <a:prstGeom prst="line">
            <a:avLst/>
          </a:prstGeom>
          <a:ln w="50800">
            <a:solidFill>
              <a:srgbClr val="8C450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04672" y="3044952"/>
            <a:ext cx="402336" cy="402336"/>
          </a:xfrm>
          <a:prstGeom prst="ellipse">
            <a:avLst/>
          </a:prstGeom>
          <a:solidFill>
            <a:srgbClr val="4E51A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手順"/>
          <p:cNvSpPr txBox="1"/>
          <p:nvPr/>
        </p:nvSpPr>
        <p:spPr>
          <a:xfrm>
            <a:off x="3657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4E51A8"/>
                </a:solidFill>
                <a:latin typeface="Noto Sans JP"/>
                <a:ea typeface="Noto Sans JP"/>
              </a:rPr>
              <a:t>手順</a:t>
            </a:r>
          </a:p>
        </p:txBody>
      </p:sp>
      <p:sp>
        <p:nvSpPr>
          <p:cNvPr id="8" name="Text: Procedure"/>
          <p:cNvSpPr txBox="1"/>
          <p:nvPr/>
        </p:nvSpPr>
        <p:spPr>
          <a:xfrm>
            <a:off x="3108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Procedure</a:t>
            </a:r>
          </a:p>
        </p:txBody>
      </p:sp>
      <p:sp>
        <p:nvSpPr>
          <p:cNvPr id="9" name="Oval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319272" y="3044952"/>
            <a:ext cx="402336" cy="402336"/>
          </a:xfrm>
          <a:prstGeom prst="ellipse">
            <a:avLst/>
          </a:prstGeom>
          <a:solidFill>
            <a:srgbClr val="8C4A12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: 処置前"/>
          <p:cNvSpPr txBox="1"/>
          <p:nvPr/>
        </p:nvSpPr>
        <p:spPr>
          <a:xfrm>
            <a:off x="288036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A12"/>
                </a:solidFill>
                <a:latin typeface="Noto Sans JP"/>
                <a:ea typeface="Noto Sans JP"/>
              </a:rPr>
              <a:t>処置前</a:t>
            </a:r>
          </a:p>
        </p:txBody>
      </p:sp>
      <p:sp>
        <p:nvSpPr>
          <p:cNvPr id="11" name="Text: Hold Point"/>
          <p:cNvSpPr txBox="1"/>
          <p:nvPr/>
        </p:nvSpPr>
        <p:spPr>
          <a:xfrm>
            <a:off x="282549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Hold Point</a:t>
            </a:r>
          </a:p>
        </p:txBody>
      </p:sp>
      <p:sp>
        <p:nvSpPr>
          <p:cNvPr id="12" name="Oval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788152" y="3044952"/>
            <a:ext cx="402336" cy="402336"/>
          </a:xfrm>
          <a:prstGeom prst="ellipse">
            <a:avLst/>
          </a:prstGeom>
          <a:solidFill>
            <a:srgbClr val="8C450E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: 作業"/>
          <p:cNvSpPr txBox="1"/>
          <p:nvPr/>
        </p:nvSpPr>
        <p:spPr>
          <a:xfrm>
            <a:off x="53492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8C450E"/>
                </a:solidFill>
                <a:latin typeface="Noto Sans JP"/>
                <a:ea typeface="Noto Sans JP"/>
              </a:rPr>
              <a:t>作業</a:t>
            </a:r>
          </a:p>
        </p:txBody>
      </p:sp>
      <p:sp>
        <p:nvSpPr>
          <p:cNvPr id="14" name="Text: Activity"/>
          <p:cNvSpPr txBox="1"/>
          <p:nvPr/>
        </p:nvSpPr>
        <p:spPr>
          <a:xfrm>
            <a:off x="52943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Activity</a:t>
            </a:r>
          </a:p>
        </p:txBody>
      </p:sp>
      <p:sp>
        <p:nvSpPr>
          <p:cNvPr id="15" name="Oval 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57031" y="3044952"/>
            <a:ext cx="402336" cy="402336"/>
          </a:xfrm>
          <a:prstGeom prst="ellipse">
            <a:avLst/>
          </a:prstGeom>
          <a:solidFill>
            <a:srgbClr val="0B6E69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処置後"/>
          <p:cNvSpPr txBox="1"/>
          <p:nvPr/>
        </p:nvSpPr>
        <p:spPr>
          <a:xfrm>
            <a:off x="781812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0B6E69"/>
                </a:solidFill>
                <a:latin typeface="Noto Sans JP"/>
                <a:ea typeface="Noto Sans JP"/>
              </a:rPr>
              <a:t>処置後</a:t>
            </a:r>
          </a:p>
        </p:txBody>
      </p:sp>
      <p:sp>
        <p:nvSpPr>
          <p:cNvPr id="17" name="Text: Capture / Review"/>
          <p:cNvSpPr txBox="1"/>
          <p:nvPr/>
        </p:nvSpPr>
        <p:spPr>
          <a:xfrm>
            <a:off x="776325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 / Review</a:t>
            </a:r>
          </a:p>
        </p:txBody>
      </p:sp>
      <p:sp>
        <p:nvSpPr>
          <p:cNvPr id="18" name="Oval 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88752" y="3044952"/>
            <a:ext cx="402336" cy="402336"/>
          </a:xfrm>
          <a:prstGeom prst="ellipse">
            <a:avLst/>
          </a:prstGeom>
          <a:solidFill>
            <a:srgbClr val="29704A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引渡し"/>
          <p:cNvSpPr txBox="1"/>
          <p:nvPr/>
        </p:nvSpPr>
        <p:spPr>
          <a:xfrm>
            <a:off x="10149840" y="3529584"/>
            <a:ext cx="12801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引渡し</a:t>
            </a:r>
          </a:p>
        </p:txBody>
      </p:sp>
      <p:sp>
        <p:nvSpPr>
          <p:cNvPr id="20" name="Text: Pack"/>
          <p:cNvSpPr txBox="1"/>
          <p:nvPr/>
        </p:nvSpPr>
        <p:spPr>
          <a:xfrm>
            <a:off x="10094976" y="3822191"/>
            <a:ext cx="1389888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Pack</a:t>
            </a:r>
          </a:p>
        </p:txBody>
      </p:sp>
      <p:sp>
        <p:nvSpPr>
          <p:cNvPr id="21" name="Card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予定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86384" y="1645920"/>
            <a:ext cx="128016" cy="886968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予定"/>
          <p:cNvSpPr txBox="1"/>
          <p:nvPr/>
        </p:nvSpPr>
        <p:spPr>
          <a:xfrm>
            <a:off x="1060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4E51A8"/>
                </a:solidFill>
                <a:latin typeface="Noto Sans JP"/>
                <a:ea typeface="Noto Sans JP"/>
              </a:rPr>
              <a:t>予定</a:t>
            </a:r>
          </a:p>
        </p:txBody>
      </p:sp>
      <p:sp>
        <p:nvSpPr>
          <p:cNvPr id="24" name="Text: 工程・完了条件&#10;観測要件"/>
          <p:cNvSpPr txBox="1"/>
          <p:nvPr/>
        </p:nvSpPr>
        <p:spPr>
          <a:xfrm>
            <a:off x="1060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工程・完了条件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観測要件</a:t>
            </a:r>
          </a:p>
        </p:txBody>
      </p:sp>
      <p:sp>
        <p:nvSpPr>
          <p:cNvPr id="25" name="Card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907792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処置前 Captu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072384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処置前 Capture"/>
          <p:cNvSpPr txBox="1"/>
          <p:nvPr/>
        </p:nvSpPr>
        <p:spPr>
          <a:xfrm>
            <a:off x="3346704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処置前 Capture</a:t>
            </a:r>
          </a:p>
        </p:txBody>
      </p:sp>
      <p:sp>
        <p:nvSpPr>
          <p:cNvPr id="28" name="Text: 対象・位置・状態&#10;任意の音声"/>
          <p:cNvSpPr txBox="1"/>
          <p:nvPr/>
        </p:nvSpPr>
        <p:spPr>
          <a:xfrm>
            <a:off x="3346704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対象・位置・状態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任意の音声</a:t>
            </a:r>
          </a:p>
        </p:txBody>
      </p:sp>
      <p:sp>
        <p:nvSpPr>
          <p:cNvPr id="29" name="Card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248656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材料・処置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13248" y="4462272"/>
            <a:ext cx="128016" cy="886968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材料・処置"/>
          <p:cNvSpPr txBox="1"/>
          <p:nvPr/>
        </p:nvSpPr>
        <p:spPr>
          <a:xfrm>
            <a:off x="5687568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8C450E"/>
                </a:solidFill>
                <a:latin typeface="Noto Sans JP"/>
                <a:ea typeface="Noto Sans JP"/>
              </a:rPr>
              <a:t>材料・処置</a:t>
            </a:r>
          </a:p>
        </p:txBody>
      </p:sp>
      <p:sp>
        <p:nvSpPr>
          <p:cNvPr id="32" name="Text: 入力・出力&#10;可逆性・計画との差"/>
          <p:cNvSpPr txBox="1"/>
          <p:nvPr/>
        </p:nvSpPr>
        <p:spPr>
          <a:xfrm>
            <a:off x="5687568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入力・出力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可逆性・計画との差</a:t>
            </a:r>
          </a:p>
        </p:txBody>
      </p:sp>
      <p:sp>
        <p:nvSpPr>
          <p:cNvPr id="33" name="Card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589520" y="1481328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cent: Coverag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754112" y="1645920"/>
            <a:ext cx="128016" cy="88696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: Coverage"/>
          <p:cNvSpPr txBox="1"/>
          <p:nvPr/>
        </p:nvSpPr>
        <p:spPr>
          <a:xfrm>
            <a:off x="8028432" y="1609344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0B6E69"/>
                </a:solidFill>
                <a:latin typeface="Noto Sans JP"/>
                <a:ea typeface="Noto Sans JP"/>
              </a:rPr>
              <a:t>Coverage</a:t>
            </a:r>
          </a:p>
        </p:txBody>
      </p:sp>
      <p:sp>
        <p:nvSpPr>
          <p:cNvPr id="36" name="Text: 見えた範囲&#10;遮蔽・品質警告"/>
          <p:cNvSpPr txBox="1"/>
          <p:nvPr/>
        </p:nvSpPr>
        <p:spPr>
          <a:xfrm>
            <a:off x="8028432" y="2011680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見えた範囲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遮蔽・品質警告</a:t>
            </a:r>
          </a:p>
        </p:txBody>
      </p:sp>
      <p:sp>
        <p:nvSpPr>
          <p:cNvPr id="37" name="Card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354312" y="4297680"/>
            <a:ext cx="2249424" cy="12161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Accent: 成果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18904" y="4462272"/>
            <a:ext cx="128016" cy="88696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成果"/>
          <p:cNvSpPr txBox="1"/>
          <p:nvPr/>
        </p:nvSpPr>
        <p:spPr>
          <a:xfrm>
            <a:off x="9793224" y="4425696"/>
            <a:ext cx="1627631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成果</a:t>
            </a:r>
          </a:p>
        </p:txBody>
      </p:sp>
      <p:sp>
        <p:nvSpPr>
          <p:cNvPr id="40" name="Text: 進捗・処置報告&#10;As-recorded引渡し"/>
          <p:cNvSpPr txBox="1"/>
          <p:nvPr/>
        </p:nvSpPr>
        <p:spPr>
          <a:xfrm>
            <a:off x="9793224" y="4828032"/>
            <a:ext cx="1627631" cy="5760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進捗・処置報告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As-recorded引渡し</a:t>
            </a:r>
          </a:p>
        </p:txBody>
      </p:sp>
      <p:sp>
        <p:nvSpPr>
          <p:cNvPr id="41" name="Rounded Rectangle 4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3232" y="4370832"/>
            <a:ext cx="3913632" cy="1078992"/>
          </a:xfrm>
          <a:prstGeom prst="roundRect">
            <a:avLst/>
          </a:prstGeom>
          <a:solidFill>
            <a:srgbClr val="F5DEDB"/>
          </a:solidFill>
          <a:ln w="12700">
            <a:solidFill>
              <a:srgbClr val="A13A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: EvidenceGap — 撮れなかったことも記"/>
          <p:cNvSpPr txBox="1"/>
          <p:nvPr/>
        </p:nvSpPr>
        <p:spPr>
          <a:xfrm>
            <a:off x="932688" y="4517136"/>
            <a:ext cx="347472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lang="ja-JP">
                <a:solidFill>
                  <a:srgbClr val="A13A31"/>
                </a:solidFill>
                <a:latin typeface="Noto Sans JP"/>
                <a:ea typeface="Noto Sans JP"/>
              </a:rPr>
              <a:t>EvidenceGap — 撮れなかったことも記録</a:t>
            </a:r>
          </a:p>
        </p:txBody>
      </p:sp>
      <p:sp>
        <p:nvSpPr>
          <p:cNvPr id="43" name="Text: 欠測・遮蔽・緊急対応を&#10;「変化なし」へ置き換えな"/>
          <p:cNvSpPr txBox="1"/>
          <p:nvPr/>
        </p:nvSpPr>
        <p:spPr>
          <a:xfrm>
            <a:off x="932688" y="4882896"/>
            <a:ext cx="3474720" cy="40233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欠測・遮蔽・緊急対応を</a:t>
            </a:r>
            <a:br/>
            <a:r>
              <a:rPr sz="1300" b="0" lang="ja-JP">
                <a:solidFill>
                  <a:srgbClr val="13202B"/>
                </a:solidFill>
                <a:latin typeface="Noto Sans JP"/>
                <a:ea typeface="Noto Sans JP"/>
              </a:rPr>
              <a:t>「変化なし」へ置き換えない</a:t>
            </a:r>
          </a:p>
        </p:txBody>
      </p:sp>
      <p:sp>
        <p:nvSpPr>
          <p:cNvPr id="44" name="Status: n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5577840"/>
            <a:ext cx="5431536" cy="786384"/>
          </a:xfrm>
          <a:prstGeom prst="roundRect">
            <a:avLst/>
          </a:prstGeom>
          <a:solidFill>
            <a:srgbClr val="DCEEE4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Status: pl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5577840"/>
            <a:ext cx="5431536" cy="786384"/>
          </a:xfrm>
          <a:prstGeom prst="roundRect">
            <a:avLst/>
          </a:prstGeom>
          <a:solidFill>
            <a:srgbClr val="F5E4D4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: 今すぐ試せる（v0.9.0）"/>
          <p:cNvSpPr txBox="1"/>
          <p:nvPr/>
        </p:nvSpPr>
        <p:spPr>
          <a:xfrm>
            <a:off x="768096" y="5632703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今すぐ試せる（v0.9.0）</a:t>
            </a:r>
          </a:p>
        </p:txBody>
      </p:sp>
      <p:sp>
        <p:nvSpPr>
          <p:cNvPr id="47" name="Text: 処置前後の画像と候補の記録・人の判断、archi"/>
          <p:cNvSpPr txBox="1"/>
          <p:nvPr/>
        </p:nvSpPr>
        <p:spPr>
          <a:xfrm>
            <a:off x="768096" y="5852159"/>
            <a:ext cx="51572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処置前後の画像と候補の記録・人の判断、archive export／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restore、fsck</a:t>
            </a:r>
          </a:p>
        </p:txBody>
      </p:sp>
      <p:sp>
        <p:nvSpPr>
          <p:cNvPr id="48" name="Text: 構想・未実装"/>
          <p:cNvSpPr txBox="1"/>
          <p:nvPr/>
        </p:nvSpPr>
        <p:spPr>
          <a:xfrm>
            <a:off x="6309360" y="5632703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49" name="Text: Procedure／Hold Point／Cov"/>
          <p:cNvSpPr txBox="1"/>
          <p:nvPr/>
        </p:nvSpPr>
        <p:spPr>
          <a:xfrm>
            <a:off x="6309360" y="5852159"/>
            <a:ext cx="5157216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Procedure／Hold Point／Coverage／EvidenceGapの構造化、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引渡しpackの自動生成</a:t>
            </a:r>
          </a:p>
        </p:txBody>
      </p:sp>
      <p:cxnSp>
        <p:nvCxnSpPr>
          <p:cNvPr id="50" name="Connector 4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52" name="Text: Core concept §§6, 14.1, 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§§6, 14.1, 14.4, 20.2 · project_status.md</a:t>
            </a:r>
          </a:p>
        </p:txBody>
      </p:sp>
      <p:sp>
        <p:nvSpPr>
          <p:cNvPr id="53" name="Text: 07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3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デザイナー＋AI — AIは枝を作る、人が採用版を決め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FFFFFF"/>
                </a:solidFill>
                <a:latin typeface="Noto Sans JP"/>
                <a:ea typeface="Noto Sans JP"/>
              </a:rPr>
              <a:t>デザイナー＋AI — AIは枝を作る、人が採用版を決める</a:t>
            </a:r>
          </a:p>
        </p:txBody>
      </p:sp>
      <p:sp>
        <p:nvSpPr>
          <p:cNvPr id="3" name="Text: SCENARIO 04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3A8EA8"/>
                </a:solidFill>
                <a:latin typeface="Noto Sans JP"/>
                <a:ea typeface="Noto Sans JP"/>
              </a:rPr>
              <a:t>SCENARIO 04</a:t>
            </a:r>
          </a:p>
        </p:txBody>
      </p:sp>
      <p:sp>
        <p:nvSpPr>
          <p:cNvPr id="4" name="Text: 文脈と制約は渡す。採用・公開・引き渡しの権限は渡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BDC6D3"/>
                </a:solidFill>
                <a:latin typeface="Noto Sans JP"/>
                <a:ea typeface="Noto Sans JP"/>
              </a:rPr>
              <a:t>文脈と制約は渡す。採用・公開・引き渡しの権限は渡さない。</a:t>
            </a:r>
          </a:p>
        </p:txBody>
      </p:sp>
      <p:sp>
        <p:nvSpPr>
          <p:cNvPr id="5" name="Card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664208"/>
            <a:ext cx="2331720" cy="19933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cent: Context Pack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828800"/>
            <a:ext cx="128016" cy="166420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: Context Pack"/>
          <p:cNvSpPr txBox="1"/>
          <p:nvPr/>
        </p:nvSpPr>
        <p:spPr>
          <a:xfrm>
            <a:off x="1097280" y="1792224"/>
            <a:ext cx="1709927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lang="ja-JP">
                <a:solidFill>
                  <a:srgbClr val="74428A"/>
                </a:solidFill>
                <a:latin typeface="Noto Sans JP"/>
                <a:ea typeface="Noto Sans JP"/>
              </a:rPr>
              <a:t>Context Pack</a:t>
            </a:r>
          </a:p>
        </p:txBody>
      </p:sp>
      <p:sp>
        <p:nvSpPr>
          <p:cNvPr id="8" name="Text: Brief／Evidence&#10;Policy／委任"/>
          <p:cNvSpPr txBox="1"/>
          <p:nvPr/>
        </p:nvSpPr>
        <p:spPr>
          <a:xfrm>
            <a:off x="1097280" y="2194560"/>
            <a:ext cx="1709927" cy="13533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Brief／Evidence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Policy／委任範囲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base commit</a:t>
            </a:r>
          </a:p>
        </p:txBody>
      </p:sp>
      <p:sp>
        <p:nvSpPr>
          <p:cNvPr id="9" name="Chevron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145536" y="2386584"/>
            <a:ext cx="384048" cy="475488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3703320" y="1783080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0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3703320" y="2642616"/>
            <a:ext cx="1965960" cy="859536"/>
          </a:xfrm>
          <a:prstGeom prst="line">
            <a:avLst/>
          </a:prstGeom>
          <a:ln w="25400">
            <a:solidFill>
              <a:srgbClr val="7442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AI Proposal 1" title="AI Proposal 1" descr="AI Proposal 1"/>
          <p:cNvSpPr/>
          <p:nvPr/>
        </p:nvSpPr>
        <p:spPr>
          <a:xfrm>
            <a:off x="5303520" y="1444752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1</a:t>
            </a:r>
          </a:p>
        </p:txBody>
      </p:sp>
      <p:sp>
        <p:nvSpPr>
          <p:cNvPr id="14" name="AI Proposal 2" title="AI Proposal 2" descr="AI Proposal 2"/>
          <p:cNvSpPr/>
          <p:nvPr/>
        </p:nvSpPr>
        <p:spPr>
          <a:xfrm>
            <a:off x="5303520" y="2304288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2</a:t>
            </a:r>
          </a:p>
        </p:txBody>
      </p:sp>
      <p:sp>
        <p:nvSpPr>
          <p:cNvPr id="15" name="AI Proposal 3" title="AI Proposal 3" descr="AI Proposal 3"/>
          <p:cNvSpPr/>
          <p:nvPr/>
        </p:nvSpPr>
        <p:spPr>
          <a:xfrm>
            <a:off x="5303520" y="3163824"/>
            <a:ext cx="1874519" cy="548640"/>
          </a:xfrm>
          <a:prstGeom prst="roundRect">
            <a:avLst/>
          </a:prstGeom>
          <a:solidFill>
            <a:srgbClr val="E8E1F3"/>
          </a:solidFill>
          <a:ln w="889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ja-JP">
                <a:solidFill>
                  <a:srgbClr val="74428A"/>
                </a:solidFill>
                <a:latin typeface="Noto Sans JP"/>
                <a:ea typeface="Noto Sans JP"/>
              </a:rPr>
              <a:t>AI Proposal 3</a:t>
            </a:r>
          </a:p>
        </p:txBody>
      </p:sp>
      <p:sp>
        <p:nvSpPr>
          <p:cNvPr id="16" name="Text: proposal/{agent}/{run} の"/>
          <p:cNvSpPr txBox="1"/>
          <p:nvPr/>
        </p:nvSpPr>
        <p:spPr>
          <a:xfrm>
            <a:off x="3840480" y="3931920"/>
            <a:ext cx="315468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E1D6EE"/>
                </a:solidFill>
                <a:latin typeface="Noto Sans JP"/>
                <a:ea typeface="Noto Sans JP"/>
              </a:rPr>
              <a:t>proposal/{agent}/{run} のみ</a:t>
            </a:r>
          </a:p>
        </p:txBody>
      </p:sp>
      <p:sp>
        <p:nvSpPr>
          <p:cNvPr id="17" name="Human Gate" title="Human Gate" descr="人がAI提案を採用・修正・却下する"/>
          <p:cNvSpPr/>
          <p:nvPr/>
        </p:nvSpPr>
        <p:spPr>
          <a:xfrm>
            <a:off x="7552944" y="1883664"/>
            <a:ext cx="1554480" cy="1554480"/>
          </a:xfrm>
          <a:prstGeom prst="hexagon">
            <a:avLst/>
          </a:prstGeom>
          <a:solidFill>
            <a:srgbClr val="F3E3C7"/>
          </a:solidFill>
          <a:ln w="3810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: HUMAN&#10;GATE"/>
          <p:cNvSpPr txBox="1"/>
          <p:nvPr/>
        </p:nvSpPr>
        <p:spPr>
          <a:xfrm>
            <a:off x="7772400" y="2258568"/>
            <a:ext cx="1115568" cy="6217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HUMAN</a:t>
            </a:r>
            <a:br/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GATE</a:t>
            </a:r>
          </a:p>
        </p:txBody>
      </p:sp>
      <p:sp>
        <p:nvSpPr>
          <p:cNvPr id="19" name="Chevron 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20547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evron 1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217152" y="2395728"/>
            <a:ext cx="310896" cy="438912"/>
          </a:xfrm>
          <a:prstGeom prst="chevron">
            <a:avLst/>
          </a:prstGeom>
          <a:solidFill>
            <a:srgbClr val="7183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ard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37776" y="1810512"/>
            <a:ext cx="1901952" cy="17007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公式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02367" y="1975104"/>
            <a:ext cx="128016" cy="1371600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公式判断"/>
          <p:cNvSpPr txBox="1"/>
          <p:nvPr/>
        </p:nvSpPr>
        <p:spPr>
          <a:xfrm>
            <a:off x="10076688" y="1938528"/>
            <a:ext cx="12801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lang="ja-JP">
                <a:solidFill>
                  <a:srgbClr val="29704A"/>
                </a:solidFill>
                <a:latin typeface="Noto Sans JP"/>
                <a:ea typeface="Noto Sans JP"/>
              </a:rPr>
              <a:t>公式判断</a:t>
            </a:r>
          </a:p>
        </p:txBody>
      </p:sp>
      <p:sp>
        <p:nvSpPr>
          <p:cNvPr id="24" name="Text: 採用／部分採用&#10;修正／却下&#10;Decision F"/>
          <p:cNvSpPr txBox="1"/>
          <p:nvPr/>
        </p:nvSpPr>
        <p:spPr>
          <a:xfrm>
            <a:off x="10076688" y="2340864"/>
            <a:ext cx="1280160" cy="106070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採用／部分採用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修正／却下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Decision Feedback</a:t>
            </a:r>
          </a:p>
        </p:txBody>
      </p:sp>
      <p:sp>
        <p:nvSpPr>
          <p:cNvPr id="25" name="Rounded Rectangle 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4498848"/>
            <a:ext cx="10881360" cy="1225296"/>
          </a:xfrm>
          <a:prstGeom prst="roundRect">
            <a:avLst/>
          </a:prstGeom>
          <a:solidFill>
            <a:srgbClr val="172238"/>
          </a:solidFill>
          <a:ln w="12700">
            <a:solidFill>
              <a:srgbClr val="7183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Iは decision/*・release/* を進めない" title="AIは decision/*・release/* を進めない" descr="AIは decision/*・release/* を進めない"/>
          <p:cNvSpPr/>
          <p:nvPr/>
        </p:nvSpPr>
        <p:spPr>
          <a:xfrm>
            <a:off x="896112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AIは decision/*・release/* を進めない</a:t>
            </a:r>
          </a:p>
        </p:txBody>
      </p:sp>
      <p:sp>
        <p:nvSpPr>
          <p:cNvPr id="27" name="作者性・貢献率を自動判定しない" title="作者性・貢献率を自動判定しない" descr="作者性・貢献率を自動判定しない"/>
          <p:cNvSpPr/>
          <p:nvPr/>
        </p:nvSpPr>
        <p:spPr>
          <a:xfrm>
            <a:off x="4425696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作者性・貢献率を自動判定しない</a:t>
            </a:r>
          </a:p>
        </p:txBody>
      </p:sp>
      <p:sp>
        <p:nvSpPr>
          <p:cNvPr id="28" name="明示opt-inなしに外部学習へ出さない" title="明示opt-inなしに外部学習へ出さない" descr="明示opt-inなしに外部学習へ出さない"/>
          <p:cNvSpPr/>
          <p:nvPr/>
        </p:nvSpPr>
        <p:spPr>
          <a:xfrm>
            <a:off x="7955279" y="4800600"/>
            <a:ext cx="3182112" cy="512064"/>
          </a:xfrm>
          <a:prstGeom prst="roundRect">
            <a:avLst/>
          </a:prstGeom>
          <a:solidFill>
            <a:srgbClr val="2A2340"/>
          </a:solidFill>
          <a:ln w="8890">
            <a:solidFill>
              <a:srgbClr val="E1D6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50" b="1" lang="ja-JP">
                <a:solidFill>
                  <a:srgbClr val="E1D6EE"/>
                </a:solidFill>
                <a:latin typeface="Noto Sans JP"/>
                <a:ea typeface="Noto Sans JP"/>
              </a:rPr>
              <a:t>明示opt-inなしに外部学習へ出さない</a:t>
            </a:r>
          </a:p>
        </p:txBody>
      </p:sp>
      <p:sp>
        <p:nvSpPr>
          <p:cNvPr id="29" name="Status: n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5440680"/>
            <a:ext cx="5431536" cy="896112"/>
          </a:xfrm>
          <a:prstGeom prst="roundRect">
            <a:avLst/>
          </a:prstGeom>
          <a:solidFill>
            <a:srgbClr val="DCEEE4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atus: pl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5440680"/>
            <a:ext cx="5431536" cy="896112"/>
          </a:xfrm>
          <a:prstGeom prst="roundRect">
            <a:avLst/>
          </a:prstGeom>
          <a:solidFill>
            <a:srgbClr val="F5E4D4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今すぐ試せる（v0.9.0）"/>
          <p:cNvSpPr txBox="1"/>
          <p:nvPr/>
        </p:nvSpPr>
        <p:spPr>
          <a:xfrm>
            <a:off x="768096" y="5495544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今すぐ試せる（v0.9.0）</a:t>
            </a:r>
          </a:p>
        </p:txBody>
      </p:sp>
      <p:sp>
        <p:nvSpPr>
          <p:cNvPr id="32" name="Text: 外部ツールのAI出力をcaller-suppli"/>
          <p:cNvSpPr txBox="1"/>
          <p:nvPr/>
        </p:nvSpPr>
        <p:spPr>
          <a:xfrm>
            <a:off x="768096" y="5715000"/>
            <a:ext cx="5157216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外部ツールのAI出力をcaller-suppliedのAI-attributed proposal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として記録し、人だけが判断する（派生・再レビューは別session）</a:t>
            </a:r>
          </a:p>
        </p:txBody>
      </p:sp>
      <p:sp>
        <p:nvSpPr>
          <p:cNvPr id="33" name="Text: 構想・未実装"/>
          <p:cNvSpPr txBox="1"/>
          <p:nvPr/>
        </p:nvSpPr>
        <p:spPr>
          <a:xfrm>
            <a:off x="6309360" y="5495544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34" name="Text: Context Packからの複数proposa"/>
          <p:cNvSpPr txBox="1"/>
          <p:nvPr/>
        </p:nvSpPr>
        <p:spPr>
          <a:xfrm>
            <a:off x="6309360" y="5715000"/>
            <a:ext cx="5157216" cy="56692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Context Packからの複数proposal系列の自動生成・AI model実行・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部分採用</a:t>
            </a:r>
          </a:p>
        </p:txBody>
      </p:sp>
      <p:cxnSp>
        <p:nvCxnSpPr>
          <p:cNvPr id="35" name="Connector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3340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37" name="Text: Core concept §21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AAB5C5"/>
                </a:solidFill>
                <a:latin typeface="Noto Sans JP"/>
                <a:ea typeface="Noto Sans JP"/>
              </a:rPr>
              <a:t>Core concept §21 · Stage 0 Workstream D · project_status.md</a:t>
            </a:r>
          </a:p>
        </p:txBody>
      </p:sp>
      <p:sp>
        <p:nvSpPr>
          <p:cNvPr id="38" name="Text: 08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AAB5C5"/>
                </a:solidFill>
                <a:latin typeface="Noto Sans JP"/>
                <a:ea typeface="Noto Sans JP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制作チーム・後任 — 重要な変更へ2分で到達する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制作チーム・後任 — 重要な変更へ2分で到達する</a:t>
            </a:r>
          </a:p>
        </p:txBody>
      </p:sp>
      <p:sp>
        <p:nvSpPr>
          <p:cNvPr id="3" name="Text: HANDOFF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HANDOFF</a:t>
            </a:r>
          </a:p>
        </p:txBody>
      </p:sp>
      <p:sp>
        <p:nvSpPr>
          <p:cNvPr id="4" name="Text: 完成物、チャット、フォルダを巡回せず、判断から根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完成物、チャット、フォルダを巡回せず、判断から根拠へ遡る（Pilot目標）</a:t>
            </a:r>
          </a:p>
        </p:txBody>
      </p:sp>
      <p:sp>
        <p:nvSpPr>
          <p:cNvPr id="5" name="PILOT目標 · 2分" title="PILOT目標 · 2分" descr="PILOT目標 · 2分"/>
          <p:cNvSpPr/>
          <p:nvPr/>
        </p:nvSpPr>
        <p:spPr>
          <a:xfrm>
            <a:off x="9811512" y="493776"/>
            <a:ext cx="1755648" cy="420624"/>
          </a:xfrm>
          <a:prstGeom prst="roundRect">
            <a:avLst/>
          </a:prstGeom>
          <a:solidFill>
            <a:srgbClr val="F3E3C7"/>
          </a:solidFill>
          <a:ln w="889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A12"/>
                </a:solidFill>
                <a:latin typeface="Noto Sans JP"/>
                <a:ea typeface="Noto Sans JP"/>
              </a:rPr>
              <a:t>PILOT目標 · 2分</a:t>
            </a:r>
          </a:p>
        </p:txBody>
      </p:sp>
      <p:cxnSp>
        <p:nvCxnSpPr>
          <p:cNvPr id="6" name="Connecto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2048255" y="2075688"/>
            <a:ext cx="4041649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2048255" y="3273552"/>
            <a:ext cx="4041649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>
            <a:off x="5669280" y="3273552"/>
            <a:ext cx="420624" cy="1664207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V="1">
            <a:off x="6089904" y="2075688"/>
            <a:ext cx="3968496" cy="1197864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6089904" y="3273552"/>
            <a:ext cx="3968496" cy="1417320"/>
          </a:xfrm>
          <a:prstGeom prst="line">
            <a:avLst/>
          </a:prstGeom>
          <a:ln w="2286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判断の節目" title="判断の節目" descr="5つの問いから根拠と制約へ遡る中心点"/>
          <p:cNvSpPr/>
          <p:nvPr/>
        </p:nvSpPr>
        <p:spPr>
          <a:xfrm>
            <a:off x="4956048" y="2240280"/>
            <a:ext cx="2267712" cy="2066543"/>
          </a:xfrm>
          <a:prstGeom prst="ellipse">
            <a:avLst/>
          </a:prstGeom>
          <a:solidFill>
            <a:srgbClr val="F3E3C7"/>
          </a:solidFill>
          <a:ln w="3556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判断の節目&#10;Decision Commit"/>
          <p:cNvSpPr txBox="1"/>
          <p:nvPr/>
        </p:nvSpPr>
        <p:spPr>
          <a:xfrm>
            <a:off x="5285232" y="2688336"/>
            <a:ext cx="1609344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判断の節目</a:t>
            </a:r>
            <a:br/>
            <a:r>
              <a:rPr sz="1700" b="1" lang="ja-JP">
                <a:solidFill>
                  <a:srgbClr val="8C4A12"/>
                </a:solidFill>
                <a:latin typeface="Noto Sans JP"/>
                <a:ea typeface="Noto Sans JP"/>
              </a:rPr>
              <a:t>Decision Commit</a:t>
            </a:r>
          </a:p>
        </p:txBody>
      </p:sp>
      <p:sp>
        <p:nvSpPr>
          <p:cNvPr id="13" name="Card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cent: 何が変わ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: 何が変わった？"/>
          <p:cNvSpPr txBox="1"/>
          <p:nvPr/>
        </p:nvSpPr>
        <p:spPr>
          <a:xfrm>
            <a:off x="1188719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何が変わった？</a:t>
            </a:r>
          </a:p>
        </p:txBody>
      </p:sp>
      <p:sp>
        <p:nvSpPr>
          <p:cNvPr id="16" name="Text: 方向付きDiff"/>
          <p:cNvSpPr txBox="1"/>
          <p:nvPr/>
        </p:nvSpPr>
        <p:spPr>
          <a:xfrm>
            <a:off x="1188719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方向付きDiff</a:t>
            </a:r>
          </a:p>
        </p:txBody>
      </p:sp>
      <p:sp>
        <p:nvSpPr>
          <p:cNvPr id="17" name="Card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9808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: なぜ変え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14400" y="4352544"/>
            <a:ext cx="128016" cy="676656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なぜ変えた？"/>
          <p:cNvSpPr txBox="1"/>
          <p:nvPr/>
        </p:nvSpPr>
        <p:spPr>
          <a:xfrm>
            <a:off x="1188719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なぜ変えた？</a:t>
            </a:r>
          </a:p>
        </p:txBody>
      </p:sp>
      <p:sp>
        <p:nvSpPr>
          <p:cNvPr id="20" name="Text: 採用理由・Claim"/>
          <p:cNvSpPr txBox="1"/>
          <p:nvPr/>
        </p:nvSpPr>
        <p:spPr>
          <a:xfrm>
            <a:off x="1188719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採用理由・Claim</a:t>
            </a:r>
          </a:p>
        </p:txBody>
      </p:sp>
      <p:sp>
        <p:nvSpPr>
          <p:cNvPr id="21" name="Card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370832" y="4434840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ccent: 何を採らなかった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35424" y="4599431"/>
            <a:ext cx="128016" cy="676656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: 何を採らなかった？"/>
          <p:cNvSpPr txBox="1"/>
          <p:nvPr/>
        </p:nvSpPr>
        <p:spPr>
          <a:xfrm>
            <a:off x="4809744" y="4562855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何を採らなかった？</a:t>
            </a:r>
          </a:p>
        </p:txBody>
      </p:sp>
      <p:sp>
        <p:nvSpPr>
          <p:cNvPr id="24" name="Text: Proposal／却下理由"/>
          <p:cNvSpPr txBox="1"/>
          <p:nvPr/>
        </p:nvSpPr>
        <p:spPr>
          <a:xfrm>
            <a:off x="4809744" y="4965192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Proposal／却下理由</a:t>
            </a:r>
          </a:p>
        </p:txBody>
      </p:sp>
      <p:sp>
        <p:nvSpPr>
          <p:cNvPr id="25" name="Card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1572768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cent: 根拠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1737360"/>
            <a:ext cx="128016" cy="67665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: 根拠は？"/>
          <p:cNvSpPr txBox="1"/>
          <p:nvPr/>
        </p:nvSpPr>
        <p:spPr>
          <a:xfrm>
            <a:off x="9198864" y="1700784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根拠は？</a:t>
            </a:r>
          </a:p>
        </p:txBody>
      </p:sp>
      <p:sp>
        <p:nvSpPr>
          <p:cNvPr id="28" name="Text: Evidence記録"/>
          <p:cNvSpPr txBox="1"/>
          <p:nvPr/>
        </p:nvSpPr>
        <p:spPr>
          <a:xfrm>
            <a:off x="9198864" y="2103120"/>
            <a:ext cx="1975103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Evidence記録</a:t>
            </a:r>
          </a:p>
        </p:txBody>
      </p:sp>
      <p:sp>
        <p:nvSpPr>
          <p:cNvPr id="29" name="Card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759952" y="4187952"/>
            <a:ext cx="2596896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ccent: 次に守ることは？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24544" y="4352544"/>
            <a:ext cx="128016" cy="676656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: 次に守ることは？"/>
          <p:cNvSpPr txBox="1"/>
          <p:nvPr/>
        </p:nvSpPr>
        <p:spPr>
          <a:xfrm>
            <a:off x="9198864" y="4315968"/>
            <a:ext cx="1975103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次に守ることは？</a:t>
            </a:r>
          </a:p>
        </p:txBody>
      </p:sp>
      <p:sp>
        <p:nvSpPr>
          <p:cNvPr id="32" name="Text: 制約・未解決事項"/>
          <p:cNvSpPr txBox="1"/>
          <p:nvPr/>
        </p:nvSpPr>
        <p:spPr>
          <a:xfrm>
            <a:off x="9198864" y="4718304"/>
            <a:ext cx="1975103" cy="36575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制約・未解決事項</a:t>
            </a:r>
          </a:p>
        </p:txBody>
      </p:sp>
      <p:sp>
        <p:nvSpPr>
          <p:cNvPr id="33" name="Rounded Rectangle 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816352" y="1463040"/>
            <a:ext cx="2286000" cy="548640"/>
          </a:xfrm>
          <a:prstGeom prst="roundRect">
            <a:avLst/>
          </a:prstGeom>
          <a:solidFill>
            <a:srgbClr val="DCEEE4"/>
          </a:solidFill>
          <a:ln w="1016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報告・引き継ぎpack"/>
          <p:cNvSpPr txBox="1"/>
          <p:nvPr/>
        </p:nvSpPr>
        <p:spPr>
          <a:xfrm>
            <a:off x="2999232" y="1545336"/>
            <a:ext cx="1920240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lang="ja-JP">
                <a:solidFill>
                  <a:srgbClr val="29704A"/>
                </a:solidFill>
                <a:latin typeface="Noto Sans JP"/>
                <a:ea typeface="Noto Sans JP"/>
              </a:rPr>
              <a:t>報告・引き継ぎpack</a:t>
            </a:r>
          </a:p>
        </p:txBody>
      </p:sp>
      <p:sp>
        <p:nvSpPr>
          <p:cNvPr id="35" name="Rounded Rectangle 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114032" y="5056632"/>
            <a:ext cx="1481328" cy="530352"/>
          </a:xfrm>
          <a:prstGeom prst="roundRect">
            <a:avLst/>
          </a:prstGeom>
          <a:solidFill>
            <a:srgbClr val="E2E4F7"/>
          </a:solidFill>
          <a:ln w="1016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: open archive"/>
          <p:cNvSpPr txBox="1"/>
          <p:nvPr/>
        </p:nvSpPr>
        <p:spPr>
          <a:xfrm>
            <a:off x="7242048" y="5129784"/>
            <a:ext cx="122529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lang="ja-JP">
                <a:solidFill>
                  <a:srgbClr val="4E51A8"/>
                </a:solidFill>
                <a:latin typeface="Noto Sans JP"/>
                <a:ea typeface="Noto Sans JP"/>
              </a:rPr>
              <a:t>open archive</a:t>
            </a:r>
          </a:p>
        </p:txBody>
      </p:sp>
      <p:sp>
        <p:nvSpPr>
          <p:cNvPr id="37" name="Status: now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21792" y="5632704"/>
            <a:ext cx="5431536" cy="749808"/>
          </a:xfrm>
          <a:prstGeom prst="roundRect">
            <a:avLst/>
          </a:prstGeom>
          <a:solidFill>
            <a:srgbClr val="DCEEE4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Status: plan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163056" y="5632704"/>
            <a:ext cx="5431536" cy="749808"/>
          </a:xfrm>
          <a:prstGeom prst="roundRect">
            <a:avLst/>
          </a:prstGeom>
          <a:solidFill>
            <a:srgbClr val="F5E4D4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: 今すぐ試せる（v0.9.0）"/>
          <p:cNvSpPr txBox="1"/>
          <p:nvPr/>
        </p:nvSpPr>
        <p:spPr>
          <a:xfrm>
            <a:off x="768096" y="5687568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今すぐ試せる（v0.9.0）</a:t>
            </a:r>
          </a:p>
        </p:txBody>
      </p:sp>
      <p:sp>
        <p:nvSpPr>
          <p:cNvPr id="40" name="Text: creator-report、localhost"/>
          <p:cNvSpPr txBox="1"/>
          <p:nvPr/>
        </p:nvSpPr>
        <p:spPr>
          <a:xfrm>
            <a:off x="768096" y="5907024"/>
            <a:ext cx="5157216" cy="42062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creator-report、localhost UIでの理由・timeline閲覧、archive／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restore、synapse-presentのlocal publication view</a:t>
            </a:r>
          </a:p>
        </p:txBody>
      </p:sp>
      <p:sp>
        <p:nvSpPr>
          <p:cNvPr id="41" name="Text: 構想・未実装"/>
          <p:cNvSpPr txBox="1"/>
          <p:nvPr/>
        </p:nvSpPr>
        <p:spPr>
          <a:xfrm>
            <a:off x="6309360" y="5687568"/>
            <a:ext cx="5157216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42" name="Text: 方向付きDiff（何が変わったかの自動可視化）。"/>
          <p:cNvSpPr txBox="1"/>
          <p:nvPr/>
        </p:nvSpPr>
        <p:spPr>
          <a:xfrm>
            <a:off x="6309360" y="5907024"/>
            <a:ext cx="5157216" cy="420623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方向付きDiff（何が変わったかの自動可視化）。2分到達は</a:t>
            </a:r>
            <a:br/>
            <a:r>
              <a:rPr sz="1200" b="0" lang="ja-JP">
                <a:solidFill>
                  <a:srgbClr val="13202B"/>
                </a:solidFill>
                <a:latin typeface="Noto Sans JP"/>
                <a:ea typeface="Noto Sans JP"/>
              </a:rPr>
              <a:t>Pilot目標であり実績値ではない</a:t>
            </a:r>
          </a:p>
        </p:txBody>
      </p:sp>
      <p:cxnSp>
        <p:nvCxnSpPr>
          <p:cNvPr id="43" name="Connector 4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5" name="Text: Core concept §§20.2, 20.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§§20.2, 20.6 · Pilot target · project_status.md</a:t>
            </a:r>
          </a:p>
        </p:txBody>
      </p:sp>
      <p:sp>
        <p:nvSpPr>
          <p:cNvPr id="46" name="Text: 09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まずは「1対象 × 1節目 × 1比較」から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まずは「1対象 × 1節目 × 1比較」から</a:t>
            </a:r>
          </a:p>
        </p:txBody>
      </p:sp>
      <p:sp>
        <p:nvSpPr>
          <p:cNvPr id="3" name="Text: START SMALL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START SMALL</a:t>
            </a:r>
          </a:p>
        </p:txBody>
      </p:sp>
      <p:sp>
        <p:nvSpPr>
          <p:cNvPr id="4" name="Text: 絵画・壁画をprimary pilot、小規模内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絵画・壁画をprimary pilot、小規模内装・壁面を次の検証対象にする</a:t>
            </a:r>
          </a:p>
        </p:txBody>
      </p:sp>
      <p:sp>
        <p:nvSpPr>
          <p:cNvPr id="5" name="Pilot formula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78992" y="1417320"/>
            <a:ext cx="10021824" cy="841248"/>
          </a:xfrm>
          <a:prstGeom prst="roundRect">
            <a:avLst/>
          </a:prstGeom>
          <a:solidFill>
            <a:srgbClr val="0B13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1600200"/>
            <a:ext cx="9345168" cy="457200"/>
          </a:xfrm>
          <a:prstGeom prst="rect">
            <a:avLst/>
          </a:prstGeom>
          <a:noFill/>
        </p:spPr>
        <p:txBody>
          <a:bodyPr wrap="square" lIns="27432" rIns="27432" tIns="18288" bIns="18288" anchor="ctr">
            <a:spAutoFit/>
          </a:bodyPr>
          <a:lstStyle/>
          <a:p>
            <a:pPr algn="ctr"/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1対象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1節目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×　</a:t>
            </a:r>
            <a:r>
              <a:rPr sz="2000" b="1" lang="ja-JP">
                <a:solidFill>
                  <a:srgbClr val="FFFFFF"/>
                </a:solidFill>
                <a:latin typeface="Noto Sans JP"/>
                <a:ea typeface="Noto Sans JP"/>
              </a:rPr>
              <a:t>1比較</a:t>
            </a:r>
            <a:r>
              <a:rPr sz="2000" b="0" lang="ja-JP">
                <a:solidFill>
                  <a:srgbClr val="8FBBC8"/>
                </a:solidFill>
                <a:latin typeface="Noto Sans JP"/>
                <a:ea typeface="Noto Sans JP"/>
              </a:rPr>
              <a:t>　→　</a:t>
            </a:r>
            <a:r>
              <a:rPr sz="2000" b="1" lang="ja-JP">
                <a:solidFill>
                  <a:srgbClr val="BFE2D0"/>
                </a:solidFill>
                <a:latin typeface="Noto Sans JP"/>
                <a:ea typeface="Noto Sans JP"/>
              </a:rPr>
              <a:t>次の判断へ戻れる状態</a:t>
            </a:r>
          </a:p>
        </p:txBody>
      </p:sp>
      <p:sp>
        <p:nvSpPr>
          <p:cNvPr id="7" name="Card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cent: 01  対象を選ぶ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2724912"/>
            <a:ext cx="128016" cy="694944"/>
          </a:xfrm>
          <a:prstGeom prst="roundRect">
            <a:avLst/>
          </a:prstGeom>
          <a:solidFill>
            <a:srgbClr val="4E51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: 01  対象を選ぶ"/>
          <p:cNvSpPr txBox="1"/>
          <p:nvPr/>
        </p:nvSpPr>
        <p:spPr>
          <a:xfrm>
            <a:off x="109728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4E51A8"/>
                </a:solidFill>
                <a:latin typeface="Noto Sans JP"/>
                <a:ea typeface="Noto Sans JP"/>
              </a:rPr>
              <a:t>01  対象を選ぶ</a:t>
            </a:r>
          </a:p>
        </p:txBody>
      </p:sp>
      <p:sp>
        <p:nvSpPr>
          <p:cNvPr id="10" name="Text: キャンバス／壁面／一区画"/>
          <p:cNvSpPr txBox="1"/>
          <p:nvPr/>
        </p:nvSpPr>
        <p:spPr>
          <a:xfrm>
            <a:off x="109728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キャンバス／壁面／一区画</a:t>
            </a:r>
          </a:p>
        </p:txBody>
      </p:sp>
      <p:sp>
        <p:nvSpPr>
          <p:cNvPr id="11" name="構想・未実装" title="構想・未実装" descr="構想・未実装"/>
          <p:cNvSpPr/>
          <p:nvPr/>
        </p:nvSpPr>
        <p:spPr>
          <a:xfrm>
            <a:off x="2578608" y="2441448"/>
            <a:ext cx="1481328" cy="237744"/>
          </a:xfrm>
          <a:prstGeom prst="roundRect">
            <a:avLst/>
          </a:prstGeom>
          <a:solidFill>
            <a:srgbClr val="F5E4D4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12" name="Card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ccent: 02  条件を決め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2724912"/>
            <a:ext cx="128016" cy="694944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: 02  条件を決める"/>
          <p:cNvSpPr txBox="1"/>
          <p:nvPr/>
        </p:nvSpPr>
        <p:spPr>
          <a:xfrm>
            <a:off x="4846319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02  条件を決める</a:t>
            </a:r>
          </a:p>
        </p:txBody>
      </p:sp>
      <p:sp>
        <p:nvSpPr>
          <p:cNvPr id="15" name="Text: Imported／Repeatable／Cali"/>
          <p:cNvSpPr txBox="1"/>
          <p:nvPr/>
        </p:nvSpPr>
        <p:spPr>
          <a:xfrm>
            <a:off x="4846319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Imported／Repeatable／Calibrated</a:t>
            </a:r>
          </a:p>
        </p:txBody>
      </p:sp>
      <p:sp>
        <p:nvSpPr>
          <p:cNvPr id="16" name="構想・未実装" title="構想・未実装" descr="構想・未実装"/>
          <p:cNvSpPr/>
          <p:nvPr/>
        </p:nvSpPr>
        <p:spPr>
          <a:xfrm>
            <a:off x="6327648" y="2441448"/>
            <a:ext cx="1481328" cy="237744"/>
          </a:xfrm>
          <a:prstGeom prst="roundRect">
            <a:avLst/>
          </a:prstGeom>
          <a:solidFill>
            <a:srgbClr val="F5E4D4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17" name="Card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2560320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cent: 03  節目で撮る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2724912"/>
            <a:ext cx="128016" cy="694944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: 03  節目で撮る"/>
          <p:cNvSpPr txBox="1"/>
          <p:nvPr/>
        </p:nvSpPr>
        <p:spPr>
          <a:xfrm>
            <a:off x="8595360" y="268833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03  節目で撮る</a:t>
            </a:r>
          </a:p>
        </p:txBody>
      </p:sp>
      <p:sp>
        <p:nvSpPr>
          <p:cNvPr id="20" name="Text: 作業終了／承認／Hold Point"/>
          <p:cNvSpPr txBox="1"/>
          <p:nvPr/>
        </p:nvSpPr>
        <p:spPr>
          <a:xfrm>
            <a:off x="8595360" y="3090672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作業終了／承認／Hold Point</a:t>
            </a:r>
          </a:p>
        </p:txBody>
      </p:sp>
      <p:sp>
        <p:nvSpPr>
          <p:cNvPr id="21" name="構想・未実装" title="構想・未実装" descr="構想・未実装"/>
          <p:cNvSpPr/>
          <p:nvPr/>
        </p:nvSpPr>
        <p:spPr>
          <a:xfrm>
            <a:off x="10076688" y="2441448"/>
            <a:ext cx="1481328" cy="237744"/>
          </a:xfrm>
          <a:prstGeom prst="roundRect">
            <a:avLst/>
          </a:prstGeom>
          <a:solidFill>
            <a:srgbClr val="F5E4D4"/>
          </a:solidFill>
          <a:ln w="889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50E"/>
                </a:solidFill>
                <a:latin typeface="Noto Sans JP"/>
                <a:ea typeface="Noto Sans JP"/>
              </a:rPr>
              <a:t>構想・未実装</a:t>
            </a:r>
          </a:p>
        </p:txBody>
      </p:sp>
      <p:sp>
        <p:nvSpPr>
          <p:cNvPr id="22" name="Card: 04  3画像を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ccent: 04  3画像を比較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4005071"/>
            <a:ext cx="128016" cy="694944"/>
          </a:xfrm>
          <a:prstGeom prst="roundRect">
            <a:avLst/>
          </a:prstGeom>
          <a:solidFill>
            <a:srgbClr val="5E68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: 04  3画像を比較"/>
          <p:cNvSpPr txBox="1"/>
          <p:nvPr/>
        </p:nvSpPr>
        <p:spPr>
          <a:xfrm>
            <a:off x="109728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5E6873"/>
                </a:solidFill>
                <a:latin typeface="Noto Sans JP"/>
                <a:ea typeface="Noto Sans JP"/>
              </a:rPr>
              <a:t>04  3画像を比較</a:t>
            </a:r>
          </a:p>
        </p:txBody>
      </p:sp>
      <p:sp>
        <p:nvSpPr>
          <p:cNvPr id="25" name="Text: Original／Current／外部候補"/>
          <p:cNvSpPr txBox="1"/>
          <p:nvPr/>
        </p:nvSpPr>
        <p:spPr>
          <a:xfrm>
            <a:off x="109728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Original／Current／外部候補</a:t>
            </a:r>
          </a:p>
        </p:txBody>
      </p:sp>
      <p:sp>
        <p:nvSpPr>
          <p:cNvPr id="26" name="今すぐ試せる·v0.9.0" title="今すぐ試せる·v0.9.0" descr="今すぐ試せる·v0.9.0"/>
          <p:cNvSpPr/>
          <p:nvPr/>
        </p:nvSpPr>
        <p:spPr>
          <a:xfrm>
            <a:off x="2578608" y="3721607"/>
            <a:ext cx="1481328" cy="237744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今すぐ試せる·v0.9.0</a:t>
            </a:r>
          </a:p>
        </p:txBody>
      </p:sp>
      <p:sp>
        <p:nvSpPr>
          <p:cNvPr id="27" name="Card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ccent: 05  人が判断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4005071"/>
            <a:ext cx="128016" cy="694944"/>
          </a:xfrm>
          <a:prstGeom prst="roundRect">
            <a:avLst/>
          </a:prstGeom>
          <a:solidFill>
            <a:srgbClr val="8C4A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: 05  人が判断"/>
          <p:cNvSpPr txBox="1"/>
          <p:nvPr/>
        </p:nvSpPr>
        <p:spPr>
          <a:xfrm>
            <a:off x="4846319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A12"/>
                </a:solidFill>
                <a:latin typeface="Noto Sans JP"/>
                <a:ea typeface="Noto Sans JP"/>
              </a:rPr>
              <a:t>05  人が判断</a:t>
            </a:r>
          </a:p>
        </p:txBody>
      </p:sp>
      <p:sp>
        <p:nvSpPr>
          <p:cNvPr id="30" name="Text: Adopt／Reject／Defer"/>
          <p:cNvSpPr txBox="1"/>
          <p:nvPr/>
        </p:nvSpPr>
        <p:spPr>
          <a:xfrm>
            <a:off x="4846319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Adopt／Reject／Defer</a:t>
            </a:r>
          </a:p>
        </p:txBody>
      </p:sp>
      <p:sp>
        <p:nvSpPr>
          <p:cNvPr id="31" name="今すぐ試せる·v0.9.0" title="今すぐ試せる·v0.9.0" descr="今すぐ試せる·v0.9.0"/>
          <p:cNvSpPr/>
          <p:nvPr/>
        </p:nvSpPr>
        <p:spPr>
          <a:xfrm>
            <a:off x="6327648" y="3721607"/>
            <a:ext cx="1481328" cy="237744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今すぐ試せる·v0.9.0</a:t>
            </a:r>
          </a:p>
        </p:txBody>
      </p:sp>
      <p:sp>
        <p:nvSpPr>
          <p:cNvPr id="32" name="Card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3840479"/>
            <a:ext cx="3456432" cy="10241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cent: 06  渡せる形へ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4005071"/>
            <a:ext cx="128016" cy="694944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: 06  渡せる形へ"/>
          <p:cNvSpPr txBox="1"/>
          <p:nvPr/>
        </p:nvSpPr>
        <p:spPr>
          <a:xfrm>
            <a:off x="8595360" y="3968495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06  渡せる形へ</a:t>
            </a:r>
          </a:p>
        </p:txBody>
      </p:sp>
      <p:sp>
        <p:nvSpPr>
          <p:cNvPr id="35" name="Text: report／handoff／archive"/>
          <p:cNvSpPr txBox="1"/>
          <p:nvPr/>
        </p:nvSpPr>
        <p:spPr>
          <a:xfrm>
            <a:off x="8595360" y="4370831"/>
            <a:ext cx="2834639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report／handoff／archive</a:t>
            </a:r>
          </a:p>
        </p:txBody>
      </p:sp>
      <p:sp>
        <p:nvSpPr>
          <p:cNvPr id="36" name="今すぐ試せる·v0.9.0" title="今すぐ試せる·v0.9.0" descr="今すぐ試せる·v0.9.0"/>
          <p:cNvSpPr/>
          <p:nvPr/>
        </p:nvSpPr>
        <p:spPr>
          <a:xfrm>
            <a:off x="10076688" y="3721607"/>
            <a:ext cx="1481328" cy="237744"/>
          </a:xfrm>
          <a:prstGeom prst="roundRect">
            <a:avLst/>
          </a:prstGeom>
          <a:solidFill>
            <a:srgbClr val="DCEEE4"/>
          </a:solidFill>
          <a:ln w="889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今すぐ試せる·v0.9.0</a:t>
            </a:r>
          </a:p>
        </p:txBody>
      </p:sp>
      <p:sp>
        <p:nvSpPr>
          <p:cNvPr id="37" name="Rounded Rectangle 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5285232"/>
            <a:ext cx="1097280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: 20秒以内"/>
          <p:cNvSpPr txBox="1"/>
          <p:nvPr/>
        </p:nvSpPr>
        <p:spPr>
          <a:xfrm>
            <a:off x="841248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20秒以内</a:t>
            </a:r>
          </a:p>
        </p:txBody>
      </p:sp>
      <p:sp>
        <p:nvSpPr>
          <p:cNvPr id="39" name="Text: Capture能動入力中央値"/>
          <p:cNvSpPr txBox="1"/>
          <p:nvPr/>
        </p:nvSpPr>
        <p:spPr>
          <a:xfrm>
            <a:off x="1801368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Capture能動入力中央値</a:t>
            </a:r>
          </a:p>
        </p:txBody>
      </p:sp>
      <p:sp>
        <p:nvSpPr>
          <p:cNvPr id="40" name="Text: 30秒以内"/>
          <p:cNvSpPr txBox="1"/>
          <p:nvPr/>
        </p:nvSpPr>
        <p:spPr>
          <a:xfrm>
            <a:off x="3547872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30秒以内</a:t>
            </a:r>
          </a:p>
        </p:txBody>
      </p:sp>
      <p:sp>
        <p:nvSpPr>
          <p:cNvPr id="41" name="Text: meaningful Commit"/>
          <p:cNvSpPr txBox="1"/>
          <p:nvPr/>
        </p:nvSpPr>
        <p:spPr>
          <a:xfrm>
            <a:off x="4507992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meaningful Commit</a:t>
            </a:r>
          </a:p>
        </p:txBody>
      </p:sp>
      <p:sp>
        <p:nvSpPr>
          <p:cNvPr id="42" name="Text: 2分以内"/>
          <p:cNvSpPr txBox="1"/>
          <p:nvPr/>
        </p:nvSpPr>
        <p:spPr>
          <a:xfrm>
            <a:off x="6254496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8C4A12"/>
                </a:solidFill>
                <a:latin typeface="Noto Sans JP"/>
                <a:ea typeface="Noto Sans JP"/>
              </a:rPr>
              <a:t>2分以内</a:t>
            </a:r>
          </a:p>
        </p:txBody>
      </p:sp>
      <p:sp>
        <p:nvSpPr>
          <p:cNvPr id="43" name="Text: 重要変更の説明・引継ぎ"/>
          <p:cNvSpPr txBox="1"/>
          <p:nvPr/>
        </p:nvSpPr>
        <p:spPr>
          <a:xfrm>
            <a:off x="7214616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重要変更の説明・引継ぎ</a:t>
            </a:r>
          </a:p>
        </p:txBody>
      </p:sp>
      <p:sp>
        <p:nvSpPr>
          <p:cNvPr id="44" name="Text: 100%"/>
          <p:cNvSpPr txBox="1"/>
          <p:nvPr/>
        </p:nvSpPr>
        <p:spPr>
          <a:xfrm>
            <a:off x="8961119" y="5404104"/>
            <a:ext cx="969264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lang="ja-JP">
                <a:solidFill>
                  <a:srgbClr val="29704A"/>
                </a:solidFill>
                <a:latin typeface="Noto Sans JP"/>
                <a:ea typeface="Noto Sans JP"/>
              </a:rPr>
              <a:t>100%</a:t>
            </a:r>
          </a:p>
        </p:txBody>
      </p:sp>
      <p:sp>
        <p:nvSpPr>
          <p:cNvPr id="45" name="Text: 空store restore成功"/>
          <p:cNvSpPr txBox="1"/>
          <p:nvPr/>
        </p:nvSpPr>
        <p:spPr>
          <a:xfrm>
            <a:off x="9921240" y="5358384"/>
            <a:ext cx="1609344" cy="365760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lang="ja-JP">
                <a:solidFill>
                  <a:srgbClr val="5E6873"/>
                </a:solidFill>
                <a:latin typeface="Noto Sans JP"/>
                <a:ea typeface="Noto Sans JP"/>
              </a:rPr>
              <a:t>空store restore成功</a:t>
            </a:r>
          </a:p>
        </p:txBody>
      </p:sp>
      <p:sp>
        <p:nvSpPr>
          <p:cNvPr id="46" name="Text: すべてPilot UX／受入目標。実績値ではあり"/>
          <p:cNvSpPr txBox="1"/>
          <p:nvPr/>
        </p:nvSpPr>
        <p:spPr>
          <a:xfrm>
            <a:off x="3986784" y="6016752"/>
            <a:ext cx="4261104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lang="ja-JP">
                <a:solidFill>
                  <a:srgbClr val="A13A31"/>
                </a:solidFill>
                <a:latin typeface="Noto Sans JP"/>
                <a:ea typeface="Noto Sans JP"/>
              </a:rPr>
              <a:t>すべてPilot UX／受入目標。実績値ではありません。</a:t>
            </a:r>
          </a:p>
        </p:txBody>
      </p:sp>
      <p:cxnSp>
        <p:nvCxnSpPr>
          <p:cNvPr id="47" name="Connector 4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9" name="Text: Core concept §15 · Stage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Core concept §15 · Stage 0 benefit hypotheses</a:t>
            </a:r>
          </a:p>
        </p:txBody>
      </p:sp>
      <p:sp>
        <p:nvSpPr>
          <p:cNvPr id="50" name="Text: 10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 title: 現在地・信頼できる境界・次の実装"/>
          <p:cNvSpPr>
            <a:spLocks noGrp="1"/>
          </p:cNvSpPr>
          <p:nvPr>
            <p:ph type="title"/>
          </p:nvPr>
        </p:nvSpPr>
        <p:spPr>
          <a:xfrm>
            <a:off x="585216" y="621792"/>
            <a:ext cx="10972800" cy="566928"/>
          </a:xfrm>
        </p:spPr>
        <p:txBody>
          <a:bodyPr wrap="square" lIns="18288" rIns="18288" tIns="18288" bIns="18288"/>
          <a:lstStyle/>
          <a:p>
            <a:pPr algn="l"/>
            <a:r>
              <a:rPr sz="2800" b="1" lang="ja-JP">
                <a:solidFill>
                  <a:srgbClr val="13202B"/>
                </a:solidFill>
                <a:latin typeface="Noto Sans JP"/>
                <a:ea typeface="Noto Sans JP"/>
              </a:rPr>
              <a:t>現在地・信頼できる境界・次の実装</a:t>
            </a:r>
          </a:p>
        </p:txBody>
      </p:sp>
      <p:sp>
        <p:nvSpPr>
          <p:cNvPr id="3" name="Text: CURRENT STATE"/>
          <p:cNvSpPr txBox="1"/>
          <p:nvPr/>
        </p:nvSpPr>
        <p:spPr>
          <a:xfrm>
            <a:off x="585216" y="320040"/>
            <a:ext cx="265176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lang="ja-JP">
                <a:solidFill>
                  <a:srgbClr val="0B6E69"/>
                </a:solidFill>
                <a:latin typeface="Noto Sans JP"/>
                <a:ea typeface="Noto Sans JP"/>
              </a:rPr>
              <a:t>CURRENT STATE</a:t>
            </a:r>
          </a:p>
        </p:txBody>
      </p:sp>
      <p:sp>
        <p:nvSpPr>
          <p:cNvPr id="4" name="Text: 前10枚は利用構想を含みます。製品UIの完成状態"/>
          <p:cNvSpPr txBox="1"/>
          <p:nvPr/>
        </p:nvSpPr>
        <p:spPr>
          <a:xfrm>
            <a:off x="603504" y="1170432"/>
            <a:ext cx="1078992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lang="ja-JP">
                <a:solidFill>
                  <a:srgbClr val="5E6873"/>
                </a:solidFill>
                <a:latin typeface="Noto Sans JP"/>
                <a:ea typeface="Noto Sans JP"/>
              </a:rPr>
              <a:t>前10枚は利用構想を含みます。製品UIの完成状態を示すものではありません。</a:t>
            </a:r>
          </a:p>
        </p:txBody>
      </p:sp>
      <p:sp>
        <p:nvSpPr>
          <p:cNvPr id="5" name="v0.9.0 · 確認日 2026-09-27" title="v0.9.0 · 確認日 2026-09-27" descr="v0.9.0 · 確認日 2026-09-27"/>
          <p:cNvSpPr/>
          <p:nvPr/>
        </p:nvSpPr>
        <p:spPr>
          <a:xfrm>
            <a:off x="9418320" y="475488"/>
            <a:ext cx="2212848" cy="384048"/>
          </a:xfrm>
          <a:prstGeom prst="roundRect">
            <a:avLst/>
          </a:prstGeom>
          <a:solidFill>
            <a:srgbClr val="F3E3C7"/>
          </a:solidFill>
          <a:ln w="8890">
            <a:solidFill>
              <a:srgbClr val="8C4A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lang="ja-JP">
                <a:solidFill>
                  <a:srgbClr val="8C4A12"/>
                </a:solidFill>
                <a:latin typeface="Noto Sans JP"/>
                <a:ea typeface="Noto Sans JP"/>
              </a:rPr>
              <a:t>v0.9.0 · 確認日 2026-09-27</a:t>
            </a:r>
          </a:p>
        </p:txBody>
      </p:sp>
      <p:sp>
        <p:nvSpPr>
          <p:cNvPr id="6" name="Card: 実装済み · Co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cent: 実装済み · Core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1645920"/>
            <a:ext cx="128016" cy="1024128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: 実装済み · Core"/>
          <p:cNvSpPr txBox="1"/>
          <p:nvPr/>
        </p:nvSpPr>
        <p:spPr>
          <a:xfrm>
            <a:off x="109728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実装済み · Core</a:t>
            </a:r>
          </a:p>
        </p:txBody>
      </p:sp>
      <p:sp>
        <p:nvSpPr>
          <p:cNvPr id="9" name="Text: strict JSON／schema&#10;canon"/>
          <p:cNvSpPr txBox="1"/>
          <p:nvPr/>
        </p:nvSpPr>
        <p:spPr>
          <a:xfrm>
            <a:off x="109728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strict JSON／schema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canonical OID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validated ingest</a:t>
            </a:r>
          </a:p>
        </p:txBody>
      </p:sp>
      <p:sp>
        <p:nvSpPr>
          <p:cNvPr id="10" name="Card: 実装済み · Loc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Accent: 実装済み · Local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1645920"/>
            <a:ext cx="128016" cy="1024128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: 実装済み · Local"/>
          <p:cNvSpPr txBox="1"/>
          <p:nvPr/>
        </p:nvSpPr>
        <p:spPr>
          <a:xfrm>
            <a:off x="4846319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実装済み · Local</a:t>
            </a:r>
          </a:p>
        </p:txBody>
      </p:sp>
      <p:sp>
        <p:nvSpPr>
          <p:cNvPr id="13" name="Text: filesystem／Ref CAS&#10;archi"/>
          <p:cNvSpPr txBox="1"/>
          <p:nvPr/>
        </p:nvSpPr>
        <p:spPr>
          <a:xfrm>
            <a:off x="4846319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filesystem／Ref CAS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archive round trip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SQLite projection／lineage</a:t>
            </a:r>
          </a:p>
        </p:txBody>
      </p:sp>
      <p:sp>
        <p:nvSpPr>
          <p:cNvPr id="14" name="Card: 実装済み · App route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1481328"/>
            <a:ext cx="3456432" cy="13533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cent: 実装済み · App routes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1645920"/>
            <a:ext cx="128016" cy="1024128"/>
          </a:xfrm>
          <a:prstGeom prst="roundRect">
            <a:avLst/>
          </a:prstGeom>
          <a:solidFill>
            <a:srgbClr val="7442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: 実装済み · App routes"/>
          <p:cNvSpPr txBox="1"/>
          <p:nvPr/>
        </p:nvSpPr>
        <p:spPr>
          <a:xfrm>
            <a:off x="8595360" y="1609344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74428A"/>
                </a:solidFill>
                <a:latin typeface="Noto Sans JP"/>
                <a:ea typeface="Noto Sans JP"/>
              </a:rPr>
              <a:t>実装済み · App routes</a:t>
            </a:r>
          </a:p>
        </p:txBody>
      </p:sp>
      <p:sp>
        <p:nvSpPr>
          <p:cNvPr id="17" name="Text: AI: preflight／Executor&#10;H"/>
          <p:cNvSpPr txBox="1"/>
          <p:nvPr/>
        </p:nvSpPr>
        <p:spPr>
          <a:xfrm>
            <a:off x="8595360" y="2011680"/>
            <a:ext cx="2834639" cy="713231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AI: preflight／Executor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Human: admitted handle／permit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ACL/profile FIFO fence</a:t>
            </a:r>
          </a:p>
        </p:txBody>
      </p:sp>
      <p:sp>
        <p:nvSpPr>
          <p:cNvPr id="18" name="Card: 今すぐ試せる · localho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8368" y="3108960"/>
            <a:ext cx="345643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cent: 今すぐ試せる · localhost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22959" y="3273552"/>
            <a:ext cx="128016" cy="1545336"/>
          </a:xfrm>
          <a:prstGeom prst="roundRect">
            <a:avLst/>
          </a:prstGeom>
          <a:solidFill>
            <a:srgbClr val="297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: 今すぐ試せる · localhost"/>
          <p:cNvSpPr txBox="1"/>
          <p:nvPr/>
        </p:nvSpPr>
        <p:spPr>
          <a:xfrm>
            <a:off x="1097280" y="323697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29704A"/>
                </a:solidFill>
                <a:latin typeface="Noto Sans JP"/>
                <a:ea typeface="Noto Sans JP"/>
              </a:rPr>
              <a:t>今すぐ試せる · localhost</a:t>
            </a:r>
          </a:p>
        </p:txBody>
      </p:sp>
      <p:sp>
        <p:nvSpPr>
          <p:cNvPr id="21" name="Text: 3画像import／review UI&#10;byte"/>
          <p:cNvSpPr txBox="1"/>
          <p:nvPr/>
        </p:nvSpPr>
        <p:spPr>
          <a:xfrm>
            <a:off x="1097280" y="3639312"/>
            <a:ext cx="2834639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3画像import／review UI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byte identityのみのAnalysis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fsck／archiveブラウザ操作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(loopback限定・要ローカル起動)</a:t>
            </a:r>
          </a:p>
        </p:txBody>
      </p:sp>
      <p:sp>
        <p:nvSpPr>
          <p:cNvPr id="22" name="Card: 境界の注意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407407" y="3108960"/>
            <a:ext cx="345643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Accent: 境界の注意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1999" y="3273552"/>
            <a:ext cx="128016" cy="1545336"/>
          </a:xfrm>
          <a:prstGeom prst="roundRect">
            <a:avLst/>
          </a:prstGeom>
          <a:solidFill>
            <a:srgbClr val="0B6E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: 境界の注意"/>
          <p:cNvSpPr txBox="1"/>
          <p:nvPr/>
        </p:nvSpPr>
        <p:spPr>
          <a:xfrm>
            <a:off x="4846319" y="323697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0B6E69"/>
                </a:solidFill>
                <a:latin typeface="Noto Sans JP"/>
                <a:ea typeface="Noto Sans JP"/>
              </a:rPr>
              <a:t>境界の注意</a:t>
            </a:r>
          </a:p>
        </p:txBody>
      </p:sp>
      <p:sp>
        <p:nvSpPr>
          <p:cNvPr id="25" name="Text: hashはbyte identityのみ照合&#10;p"/>
          <p:cNvSpPr txBox="1"/>
          <p:nvPr/>
        </p:nvSpPr>
        <p:spPr>
          <a:xfrm>
            <a:off x="4846319" y="3639312"/>
            <a:ext cx="2834639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hashはbyte identityのみ照合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pixel／EXIF／外観は見ない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Human認証はpublish冒頭1回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TTLが外部revocation差を限定</a:t>
            </a:r>
          </a:p>
        </p:txBody>
      </p:sp>
      <p:sp>
        <p:nvSpPr>
          <p:cNvPr id="26" name="Card: 未実装・構想のみ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156448" y="3108960"/>
            <a:ext cx="345643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7B85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cent: 未実装・構想のみ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21040" y="3273552"/>
            <a:ext cx="128016" cy="1545336"/>
          </a:xfrm>
          <a:prstGeom prst="roundRect">
            <a:avLst/>
          </a:prstGeom>
          <a:solidFill>
            <a:srgbClr val="8C45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: 未実装・構想のみ"/>
          <p:cNvSpPr txBox="1"/>
          <p:nvPr/>
        </p:nvSpPr>
        <p:spPr>
          <a:xfrm>
            <a:off x="8595360" y="3236976"/>
            <a:ext cx="2834639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50" b="1" lang="ja-JP">
                <a:solidFill>
                  <a:srgbClr val="8C450E"/>
                </a:solidFill>
                <a:latin typeface="Noto Sans JP"/>
                <a:ea typeface="Noto Sans JP"/>
              </a:rPr>
              <a:t>未実装・構想のみ</a:t>
            </a:r>
          </a:p>
        </p:txBody>
      </p:sp>
      <p:sp>
        <p:nvSpPr>
          <p:cNvPr id="29" name="Text: capture client・繰り返し撮影&#10;pi"/>
          <p:cNvSpPr txBox="1"/>
          <p:nvPr/>
        </p:nvSpPr>
        <p:spPr>
          <a:xfrm>
            <a:off x="8595360" y="3639312"/>
            <a:ext cx="2834639" cy="12344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capture client・繰り返し撮影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pixel registration／視覚差分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本番HTTP／JWT・durable ACL</a:t>
            </a:r>
            <a:br/>
            <a:r>
              <a:rPr sz="1400" b="0" lang="ja-JP">
                <a:solidFill>
                  <a:srgbClr val="13202B"/>
                </a:solidFill>
                <a:latin typeface="Noto Sans JP"/>
                <a:ea typeface="Noto Sans JP"/>
              </a:rPr>
              <a:t>general-purpose creator app</a:t>
            </a:r>
          </a:p>
        </p:txBody>
      </p:sp>
      <p:sp>
        <p:nvSpPr>
          <p:cNvPr id="30" name="Text: しない約束：作者性・現実・契約適合の自動証明／常"/>
          <p:cNvSpPr txBox="1"/>
          <p:nvPr/>
        </p:nvSpPr>
        <p:spPr>
          <a:xfrm>
            <a:off x="768096" y="5138928"/>
            <a:ext cx="10643616" cy="3108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lang="ja-JP">
                <a:solidFill>
                  <a:srgbClr val="A13A31"/>
                </a:solidFill>
                <a:latin typeface="Noto Sans JP"/>
                <a:ea typeface="Noto Sans JP"/>
              </a:rPr>
              <a:t>しない約束：作者性・現実・契約適合の自動証明／常時監視／個人生産性score／無断AI学習／「永久保存」の過大表示</a:t>
            </a:r>
          </a:p>
        </p:txBody>
      </p:sp>
      <p:sp>
        <p:nvSpPr>
          <p:cNvPr id="31" name="Text: v0.9.0 tag resources"/>
          <p:cNvSpPr txBox="1"/>
          <p:nvPr/>
        </p:nvSpPr>
        <p:spPr>
          <a:xfrm>
            <a:off x="676656" y="5449824"/>
            <a:ext cx="23774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lang="ja-JP">
                <a:solidFill>
                  <a:srgbClr val="5E6873"/>
                </a:solidFill>
                <a:latin typeface="Noto Sans JP"/>
                <a:ea typeface="Noto Sans JP"/>
              </a:rPr>
              <a:t>v0.9.0 tag resources</a:t>
            </a:r>
          </a:p>
        </p:txBody>
      </p:sp>
      <p:sp>
        <p:nvSpPr>
          <p:cNvPr id="32" name="Usage guide" title="Usage guide" descr="branch main link: https://github.com/howlrs/synapsegit/blob/v0.9.0/docs/usage_guide.md">
            <a:hlinkClick r:id="rId2"/>
          </p:cNvPr>
          <p:cNvSpPr/>
          <p:nvPr/>
        </p:nvSpPr>
        <p:spPr>
          <a:xfrm>
            <a:off x="65836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B6E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0B6E69"/>
                </a:solidFill>
                <a:latin typeface="Noto Sans JP"/>
                <a:ea typeface="Noto Sans JP"/>
                <a:hlinkClick r:id="rId2"/>
              </a:rPr>
              <a:t>Usage guide</a:t>
            </a:r>
          </a:p>
        </p:txBody>
      </p:sp>
      <p:sp>
        <p:nvSpPr>
          <p:cNvPr id="33" name="Core concept" title="Core concept" descr="branch main link: https://github.com/howlrs/synapsegit/blob/v0.9.0/docs/core_concept.md">
            <a:hlinkClick r:id="rId3"/>
          </p:cNvPr>
          <p:cNvSpPr/>
          <p:nvPr/>
        </p:nvSpPr>
        <p:spPr>
          <a:xfrm>
            <a:off x="285292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E51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4E51A8"/>
                </a:solidFill>
                <a:latin typeface="Noto Sans JP"/>
                <a:ea typeface="Noto Sans JP"/>
                <a:hlinkClick r:id="rId3"/>
              </a:rPr>
              <a:t>Core concept</a:t>
            </a:r>
          </a:p>
        </p:txBody>
      </p:sp>
      <p:sp>
        <p:nvSpPr>
          <p:cNvPr id="34" name="Project status" title="Project status" descr="branch main link: https://github.com/howlrs/synapsegit/blob/v0.9.0/docs/project_status.md">
            <a:hlinkClick r:id="rId4"/>
          </p:cNvPr>
          <p:cNvSpPr/>
          <p:nvPr/>
        </p:nvSpPr>
        <p:spPr>
          <a:xfrm>
            <a:off x="504748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C450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8C450E"/>
                </a:solidFill>
                <a:latin typeface="Noto Sans JP"/>
                <a:ea typeface="Noto Sans JP"/>
                <a:hlinkClick r:id="rId4"/>
              </a:rPr>
              <a:t>Project status</a:t>
            </a:r>
          </a:p>
        </p:txBody>
      </p:sp>
      <p:sp>
        <p:nvSpPr>
          <p:cNvPr id="35" name="Protocol v0.1" title="Protocol v0.1" descr="branch main link: https://github.com/howlrs/synapsegit/blob/v0.9.0/spec/core/v0.1/README.md">
            <a:hlinkClick r:id="rId5"/>
          </p:cNvPr>
          <p:cNvSpPr/>
          <p:nvPr/>
        </p:nvSpPr>
        <p:spPr>
          <a:xfrm>
            <a:off x="7242047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442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74428A"/>
                </a:solidFill>
                <a:latin typeface="Noto Sans JP"/>
                <a:ea typeface="Noto Sans JP"/>
                <a:hlinkClick r:id="rId5"/>
              </a:rPr>
              <a:t>Protocol v0.1</a:t>
            </a:r>
          </a:p>
        </p:txBody>
      </p:sp>
      <p:sp>
        <p:nvSpPr>
          <p:cNvPr id="36" name="Mural tutorial" title="Mural tutorial" descr="branch main link: https://github.com/howlrs/synapsegit/blob/v0.9.0/docs/tutorial/README.ja.md">
            <a:hlinkClick r:id="rId6"/>
          </p:cNvPr>
          <p:cNvSpPr/>
          <p:nvPr/>
        </p:nvSpPr>
        <p:spPr>
          <a:xfrm>
            <a:off x="9436608" y="5742432"/>
            <a:ext cx="2084831" cy="42062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97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50" b="1" lang="ja-JP">
                <a:solidFill>
                  <a:srgbClr val="29704A"/>
                </a:solidFill>
                <a:latin typeface="Noto Sans JP"/>
                <a:ea typeface="Noto Sans JP"/>
                <a:hlinkClick r:id="rId6"/>
              </a:rPr>
              <a:t>Mural tutorial</a:t>
            </a:r>
          </a:p>
        </p:txBody>
      </p:sp>
      <p:sp>
        <p:nvSpPr>
          <p:cNvPr id="37" name="Text: リンク先はGitHub v0.9.0 tagの固"/>
          <p:cNvSpPr txBox="1"/>
          <p:nvPr/>
        </p:nvSpPr>
        <p:spPr>
          <a:xfrm>
            <a:off x="694944" y="6217920"/>
            <a:ext cx="10899648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lang="ja-JP">
                <a:solidFill>
                  <a:srgbClr val="5E6873"/>
                </a:solidFill>
                <a:latin typeface="Noto Sans JP"/>
                <a:ea typeface="Noto Sans JP"/>
              </a:rPr>
              <a:t>リンク先はGitHub v0.9.0 tagの固定内容。</a:t>
            </a:r>
          </a:p>
        </p:txBody>
      </p:sp>
      <p:cxnSp>
        <p:nvCxnSpPr>
          <p:cNvPr id="38" name="Connector 3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>
            <a:off x="585216" y="6446520"/>
            <a:ext cx="11009376" cy="0"/>
          </a:xfrm>
          <a:prstGeom prst="line">
            <a:avLst/>
          </a:prstGeom>
          <a:ln w="8890">
            <a:solidFill>
              <a:srgbClr val="7B85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: Concept · v0.9.0 · 確認日 2"/>
          <p:cNvSpPr txBox="1"/>
          <p:nvPr/>
        </p:nvSpPr>
        <p:spPr>
          <a:xfrm>
            <a:off x="585216" y="6492240"/>
            <a:ext cx="2743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  <a:hlinkClick r:id="rId2"/>
              </a:rPr>
              <a:t>Concept · v0.9.0 · 確認日 2026-09-27</a:t>
            </a:r>
          </a:p>
        </p:txBody>
      </p:sp>
      <p:sp>
        <p:nvSpPr>
          <p:cNvPr id="40" name="Text: project_status.md · READ"/>
          <p:cNvSpPr txBox="1"/>
          <p:nvPr/>
        </p:nvSpPr>
        <p:spPr>
          <a:xfrm>
            <a:off x="3429000" y="6492240"/>
            <a:ext cx="722376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 lang="ja-JP">
                <a:solidFill>
                  <a:srgbClr val="5E6873"/>
                </a:solidFill>
                <a:latin typeface="Noto Sans JP"/>
                <a:ea typeface="Noto Sans JP"/>
              </a:rPr>
              <a:t>project_status.md · README · Stage 0 execution plan</a:t>
            </a:r>
          </a:p>
        </p:txBody>
      </p:sp>
      <p:sp>
        <p:nvSpPr>
          <p:cNvPr id="41" name="Text: 11"/>
          <p:cNvSpPr txBox="1"/>
          <p:nvPr/>
        </p:nvSpPr>
        <p:spPr>
          <a:xfrm>
            <a:off x="11137392" y="6492240"/>
            <a:ext cx="45720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50" b="1" lang="ja-JP">
                <a:solidFill>
                  <a:srgbClr val="5E6873"/>
                </a:solidFill>
                <a:latin typeface="Noto Sans JP"/>
                <a:ea typeface="Noto Sans JP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SynapseGit 利用イメージ — 想定利用者別シナリオ</dc:title>
  <dc:subject>Core v0.1 / Stage 0 intended-user visualization</dc:subject>
  <dc:creator>SynapseGit project</dc:creator>
  <cp:keywords>SynapseGit, creator, observation, decision, Creative AI</cp:keywords>
  <dc:description>Generated from docs/presentations/generate_user_scenarios_pptx.py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