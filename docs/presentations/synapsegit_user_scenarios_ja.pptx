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github.com/howlrs/synapsegit/blob/v0.9.0/docs/usage_guide.md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github.com/howlrs/synapsegit/blob/v0.9.0/docs/usage_guide.m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github.com/howlrs/synapsegit/blob/v0.9.0/docs/usage_guide.md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github.com/howlrs/synapsegit/blob/v0.9.0/docs/tutorial/README.ja.md" TargetMode="External"/><Relationship Id="rId3" Type="http://schemas.openxmlformats.org/officeDocument/2006/relationships/hyperlink" Target="https://github.com/howlrs/synapsegit/blob/v0.9.0/docs/usage_guide.md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github.com/howlrs/synapsegit/blob/v0.9.0/docs/usage_guide.md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github.com/howlrs/synapsegit/blob/v0.9.0/docs/usage_guide.md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github.com/howlrs/synapsegit/blob/v0.9.0/docs/usage_guide.md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github.com/howlrs/synapsegit/blob/v0.9.0/docs/usage_guide.md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github.com/howlrs/synapsegit/blob/v0.9.0/docs/usage_guide.md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github.com/howlrs/synapsegit/blob/v0.9.0/docs/usage_guide.md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github.com/howlrs/synapsegit/blob/v0.9.0/docs/usage_guide.md" TargetMode="External"/><Relationship Id="rId3" Type="http://schemas.openxmlformats.org/officeDocument/2006/relationships/hyperlink" Target="https://github.com/howlrs/synapsegit/blob/v0.9.0/docs/core_concept.md" TargetMode="External"/><Relationship Id="rId4" Type="http://schemas.openxmlformats.org/officeDocument/2006/relationships/hyperlink" Target="https://github.com/howlrs/synapsegit/blob/v0.9.0/docs/project_status.md" TargetMode="External"/><Relationship Id="rId5" Type="http://schemas.openxmlformats.org/officeDocument/2006/relationships/hyperlink" Target="https://github.com/howlrs/synapsegit/blob/v0.9.0/spec/core/v0.1/README.md" TargetMode="External"/><Relationship Id="rId6" Type="http://schemas.openxmlformats.org/officeDocument/2006/relationships/hyperlink" Target="https://github.com/howlrs/synapsegit/blob/v0.9.0/docs/tutorial/README.ja.m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: SynapseGit&#10;利用イメージ"/>
          <p:cNvSpPr>
            <a:spLocks noGrp="1"/>
          </p:cNvSpPr>
          <p:nvPr>
            <p:ph type="title"/>
          </p:nvPr>
        </p:nvSpPr>
        <p:spPr>
          <a:xfrm>
            <a:off x="658368" y="1188720"/>
            <a:ext cx="5852160" cy="1051560"/>
          </a:xfrm>
        </p:spPr>
        <p:txBody>
          <a:bodyPr wrap="square" lIns="18288" rIns="18288" tIns="18288" bIns="18288"/>
          <a:lstStyle/>
          <a:p>
            <a:pPr algn="l"/>
            <a:r>
              <a:rPr sz="3700" b="1" lang="ja-JP">
                <a:solidFill>
                  <a:srgbClr val="FFFFFF"/>
                </a:solidFill>
                <a:latin typeface="Noto Sans JP"/>
                <a:ea typeface="Noto Sans JP"/>
              </a:rPr>
              <a:t>SynapseGit</a:t>
            </a:r>
            <a:br/>
            <a:r>
              <a:rPr sz="3700" b="1" lang="ja-JP">
                <a:solidFill>
                  <a:srgbClr val="FFFFFF"/>
                </a:solidFill>
                <a:latin typeface="Noto Sans JP"/>
                <a:ea typeface="Noto Sans JP"/>
              </a:rPr>
              <a:t>利用イメージ</a:t>
            </a:r>
          </a:p>
        </p:txBody>
      </p:sp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RE v0.1 · STAGE 0" title="CORE v0.1 · STAGE 0" descr="CORE v0.1 · STAGE 0"/>
          <p:cNvSpPr/>
          <p:nvPr/>
        </p:nvSpPr>
        <p:spPr>
          <a:xfrm>
            <a:off x="658368" y="475488"/>
            <a:ext cx="2084831" cy="347472"/>
          </a:xfrm>
          <a:prstGeom prst="roundRect">
            <a:avLst/>
          </a:prstGeom>
          <a:solidFill>
            <a:srgbClr val="142D45"/>
          </a:solidFill>
          <a:ln w="8890">
            <a:solidFill>
              <a:srgbClr val="3A8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lang="ja-JP">
                <a:solidFill>
                  <a:srgbClr val="3A8EA8"/>
                </a:solidFill>
                <a:latin typeface="Noto Sans JP"/>
                <a:ea typeface="Noto Sans JP"/>
              </a:rPr>
              <a:t>CORE v0.1 · STAGE 0</a:t>
            </a:r>
          </a:p>
        </p:txBody>
      </p:sp>
      <p:sp>
        <p:nvSpPr>
          <p:cNvPr id="5" name="Text: 完成物だけでなく、&#10;何を変え、なぜ採用したかを次"/>
          <p:cNvSpPr txBox="1"/>
          <p:nvPr/>
        </p:nvSpPr>
        <p:spPr>
          <a:xfrm>
            <a:off x="685800" y="2487168"/>
            <a:ext cx="5349240" cy="10241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lang="ja-JP">
                <a:solidFill>
                  <a:srgbClr val="DCE6F2"/>
                </a:solidFill>
                <a:latin typeface="Noto Sans JP"/>
                <a:ea typeface="Noto Sans JP"/>
              </a:rPr>
              <a:t>完成物だけでなく、</a:t>
            </a:r>
            <a:br/>
            <a:r>
              <a:rPr sz="2200" b="1" lang="ja-JP">
                <a:solidFill>
                  <a:srgbClr val="DCE6F2"/>
                </a:solidFill>
                <a:latin typeface="Noto Sans JP"/>
                <a:ea typeface="Noto Sans JP"/>
              </a:rPr>
              <a:t>何を変え、なぜ採用したかを次へ渡す。</a:t>
            </a:r>
          </a:p>
        </p:txBody>
      </p:sp>
      <p:sp>
        <p:nvSpPr>
          <p:cNvPr id="6" name="Text: 画家・壁画家／建築家／施工・修復／&#10;デザイナー＋"/>
          <p:cNvSpPr txBox="1"/>
          <p:nvPr/>
        </p:nvSpPr>
        <p:spPr>
          <a:xfrm>
            <a:off x="685800" y="3794760"/>
            <a:ext cx="521208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lang="ja-JP">
                <a:solidFill>
                  <a:srgbClr val="AAB8C8"/>
                </a:solidFill>
                <a:latin typeface="Noto Sans JP"/>
                <a:ea typeface="Noto Sans JP"/>
              </a:rPr>
              <a:t>画家・壁画家／建築家／施工・修復／</a:t>
            </a:r>
            <a:br/>
            <a:r>
              <a:rPr sz="1550" b="0" lang="ja-JP">
                <a:solidFill>
                  <a:srgbClr val="AAB8C8"/>
                </a:solidFill>
                <a:latin typeface="Noto Sans JP"/>
                <a:ea typeface="Noto Sans JP"/>
              </a:rPr>
              <a:t>デザイナー＋Creative AI</a:t>
            </a:r>
          </a:p>
        </p:txBody>
      </p:sp>
      <p:sp>
        <p:nvSpPr>
          <p:cNvPr id="7" name="利用構想 · UIスクリーンショットではありません" title="利用構想 · UIスクリーンショットではありません" descr="利用構想 · UIスクリーンショットではありません"/>
          <p:cNvSpPr/>
          <p:nvPr/>
        </p:nvSpPr>
        <p:spPr>
          <a:xfrm>
            <a:off x="685800" y="5047488"/>
            <a:ext cx="3218688" cy="402336"/>
          </a:xfrm>
          <a:prstGeom prst="roundRect">
            <a:avLst/>
          </a:prstGeom>
          <a:solidFill>
            <a:srgbClr val="233047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lang="ja-JP">
                <a:solidFill>
                  <a:srgbClr val="FFFFFF"/>
                </a:solidFill>
                <a:latin typeface="Noto Sans JP"/>
                <a:ea typeface="Noto Sans JP"/>
              </a:rPr>
              <a:t>利用構想 · UIスクリーンショットではありません</a:t>
            </a:r>
          </a:p>
        </p:txBody>
      </p:sp>
      <p:cxnSp>
        <p:nvCxnSpPr>
          <p:cNvPr id="8" name="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903720" y="1234440"/>
            <a:ext cx="0" cy="4206240"/>
          </a:xfrm>
          <a:prstGeom prst="line">
            <a:avLst/>
          </a:prstGeom>
          <a:ln w="38100">
            <a:solidFill>
              <a:srgbClr val="718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6903720" y="1645920"/>
            <a:ext cx="1463040" cy="658368"/>
          </a:xfrm>
          <a:prstGeom prst="line">
            <a:avLst/>
          </a:prstGeom>
          <a:ln w="25400">
            <a:solidFill>
              <a:srgbClr val="7442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903720" y="3182112"/>
            <a:ext cx="1691640" cy="0"/>
          </a:xfrm>
          <a:prstGeom prst="line">
            <a:avLst/>
          </a:prstGeom>
          <a:ln w="25400">
            <a:solidFill>
              <a:srgbClr val="0B6E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903720" y="4069080"/>
            <a:ext cx="1463040" cy="667512"/>
          </a:xfrm>
          <a:prstGeom prst="line">
            <a:avLst/>
          </a:prstGeom>
          <a:ln w="25400">
            <a:solidFill>
              <a:srgbClr val="8C45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Node: 意図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786384"/>
            <a:ext cx="1554480" cy="841248"/>
          </a:xfrm>
          <a:prstGeom prst="roundRect">
            <a:avLst/>
          </a:prstGeom>
          <a:solidFill>
            <a:srgbClr val="E2E4F7"/>
          </a:solidFill>
          <a:ln w="15240">
            <a:solidFill>
              <a:srgbClr val="4E5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意図"/>
          <p:cNvSpPr txBox="1"/>
          <p:nvPr/>
        </p:nvSpPr>
        <p:spPr>
          <a:xfrm>
            <a:off x="6236208" y="914400"/>
            <a:ext cx="133502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lang="ja-JP">
                <a:solidFill>
                  <a:srgbClr val="4E51A8"/>
                </a:solidFill>
                <a:latin typeface="Noto Sans JP"/>
                <a:ea typeface="Noto Sans JP"/>
              </a:rPr>
              <a:t>意図</a:t>
            </a:r>
          </a:p>
        </p:txBody>
      </p:sp>
      <p:sp>
        <p:nvSpPr>
          <p:cNvPr id="14" name="Text: Plan"/>
          <p:cNvSpPr txBox="1"/>
          <p:nvPr/>
        </p:nvSpPr>
        <p:spPr>
          <a:xfrm>
            <a:off x="6217920" y="1289304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lang="ja-JP">
                <a:solidFill>
                  <a:srgbClr val="13202B"/>
                </a:solidFill>
                <a:latin typeface="Noto Sans JP"/>
                <a:ea typeface="Noto Sans JP"/>
              </a:rPr>
              <a:t>Plan</a:t>
            </a:r>
          </a:p>
        </p:txBody>
      </p:sp>
      <p:sp>
        <p:nvSpPr>
          <p:cNvPr id="15" name="Node: 実行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1938528"/>
            <a:ext cx="1554480" cy="841248"/>
          </a:xfrm>
          <a:prstGeom prst="roundRect">
            <a:avLst/>
          </a:prstGeom>
          <a:solidFill>
            <a:srgbClr val="F5E4D4"/>
          </a:solidFill>
          <a:ln w="15240">
            <a:solidFill>
              <a:srgbClr val="8C45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実行"/>
          <p:cNvSpPr txBox="1"/>
          <p:nvPr/>
        </p:nvSpPr>
        <p:spPr>
          <a:xfrm>
            <a:off x="6236208" y="2066544"/>
            <a:ext cx="133502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lang="ja-JP">
                <a:solidFill>
                  <a:srgbClr val="8C450E"/>
                </a:solidFill>
                <a:latin typeface="Noto Sans JP"/>
                <a:ea typeface="Noto Sans JP"/>
              </a:rPr>
              <a:t>実行</a:t>
            </a:r>
          </a:p>
        </p:txBody>
      </p:sp>
      <p:sp>
        <p:nvSpPr>
          <p:cNvPr id="17" name="Text: Activity"/>
          <p:cNvSpPr txBox="1"/>
          <p:nvPr/>
        </p:nvSpPr>
        <p:spPr>
          <a:xfrm>
            <a:off x="6217920" y="2441448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lang="ja-JP">
                <a:solidFill>
                  <a:srgbClr val="13202B"/>
                </a:solidFill>
                <a:latin typeface="Noto Sans JP"/>
                <a:ea typeface="Noto Sans JP"/>
              </a:rPr>
              <a:t>Activity</a:t>
            </a:r>
          </a:p>
        </p:txBody>
      </p:sp>
      <p:sp>
        <p:nvSpPr>
          <p:cNvPr id="18" name="Node: 観測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834640"/>
            <a:ext cx="1554480" cy="841248"/>
          </a:xfrm>
          <a:prstGeom prst="roundRect">
            <a:avLst/>
          </a:prstGeom>
          <a:solidFill>
            <a:srgbClr val="D9EEEB"/>
          </a:solidFill>
          <a:ln w="15240">
            <a:solidFill>
              <a:srgbClr val="0B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観測"/>
          <p:cNvSpPr txBox="1"/>
          <p:nvPr/>
        </p:nvSpPr>
        <p:spPr>
          <a:xfrm>
            <a:off x="6236208" y="2962656"/>
            <a:ext cx="133502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lang="ja-JP">
                <a:solidFill>
                  <a:srgbClr val="0B6E69"/>
                </a:solidFill>
                <a:latin typeface="Noto Sans JP"/>
                <a:ea typeface="Noto Sans JP"/>
              </a:rPr>
              <a:t>観測</a:t>
            </a:r>
          </a:p>
        </p:txBody>
      </p:sp>
      <p:sp>
        <p:nvSpPr>
          <p:cNvPr id="20" name="Text: Observation"/>
          <p:cNvSpPr txBox="1"/>
          <p:nvPr/>
        </p:nvSpPr>
        <p:spPr>
          <a:xfrm>
            <a:off x="6217920" y="3337560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lang="ja-JP">
                <a:solidFill>
                  <a:srgbClr val="13202B"/>
                </a:solidFill>
                <a:latin typeface="Noto Sans JP"/>
                <a:ea typeface="Noto Sans JP"/>
              </a:rPr>
              <a:t>Observation</a:t>
            </a:r>
          </a:p>
        </p:txBody>
      </p:sp>
      <p:sp>
        <p:nvSpPr>
          <p:cNvPr id="21" name="Node: 意味付け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3730752"/>
            <a:ext cx="1554480" cy="841248"/>
          </a:xfrm>
          <a:prstGeom prst="roundRect">
            <a:avLst/>
          </a:prstGeom>
          <a:solidFill>
            <a:srgbClr val="E8E1F3"/>
          </a:solidFill>
          <a:ln w="15240">
            <a:solidFill>
              <a:srgbClr val="744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意味付け"/>
          <p:cNvSpPr txBox="1"/>
          <p:nvPr/>
        </p:nvSpPr>
        <p:spPr>
          <a:xfrm>
            <a:off x="6236208" y="3858768"/>
            <a:ext cx="133502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lang="ja-JP">
                <a:solidFill>
                  <a:srgbClr val="74428A"/>
                </a:solidFill>
                <a:latin typeface="Noto Sans JP"/>
                <a:ea typeface="Noto Sans JP"/>
              </a:rPr>
              <a:t>意味付け</a:t>
            </a:r>
          </a:p>
        </p:txBody>
      </p:sp>
      <p:sp>
        <p:nvSpPr>
          <p:cNvPr id="23" name="Text: Claim"/>
          <p:cNvSpPr txBox="1"/>
          <p:nvPr/>
        </p:nvSpPr>
        <p:spPr>
          <a:xfrm>
            <a:off x="6217920" y="4233672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lang="ja-JP">
                <a:solidFill>
                  <a:srgbClr val="13202B"/>
                </a:solidFill>
                <a:latin typeface="Noto Sans JP"/>
                <a:ea typeface="Noto Sans JP"/>
              </a:rPr>
              <a:t>Claim</a:t>
            </a:r>
          </a:p>
        </p:txBody>
      </p:sp>
      <p:sp>
        <p:nvSpPr>
          <p:cNvPr id="24" name="Node: 人が判断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4846320"/>
            <a:ext cx="1828800" cy="914400"/>
          </a:xfrm>
          <a:prstGeom prst="roundRect">
            <a:avLst/>
          </a:prstGeom>
          <a:solidFill>
            <a:srgbClr val="F3E3C7"/>
          </a:solidFill>
          <a:ln w="15240">
            <a:solidFill>
              <a:srgbClr val="8C4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人が判断"/>
          <p:cNvSpPr txBox="1"/>
          <p:nvPr/>
        </p:nvSpPr>
        <p:spPr>
          <a:xfrm>
            <a:off x="6099048" y="4974336"/>
            <a:ext cx="160934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lang="ja-JP">
                <a:solidFill>
                  <a:srgbClr val="8C4A12"/>
                </a:solidFill>
                <a:latin typeface="Noto Sans JP"/>
                <a:ea typeface="Noto Sans JP"/>
              </a:rPr>
              <a:t>人が判断</a:t>
            </a:r>
          </a:p>
        </p:txBody>
      </p:sp>
      <p:sp>
        <p:nvSpPr>
          <p:cNvPr id="26" name="Text: Decision Commit"/>
          <p:cNvSpPr txBox="1"/>
          <p:nvPr/>
        </p:nvSpPr>
        <p:spPr>
          <a:xfrm>
            <a:off x="6080759" y="5349240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lang="ja-JP">
                <a:solidFill>
                  <a:srgbClr val="13202B"/>
                </a:solidFill>
                <a:latin typeface="Noto Sans JP"/>
                <a:ea typeface="Noto Sans JP"/>
              </a:rPr>
              <a:t>Decision Commit</a:t>
            </a:r>
          </a:p>
        </p:txBody>
      </p:sp>
      <p:sp>
        <p:nvSpPr>
          <p:cNvPr id="27" name="Card: 今日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0" y="1143000"/>
            <a:ext cx="28346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ccent: 今日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77072" y="1307592"/>
            <a:ext cx="128016" cy="905256"/>
          </a:xfrm>
          <a:prstGeom prst="round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今日"/>
          <p:cNvSpPr txBox="1"/>
          <p:nvPr/>
        </p:nvSpPr>
        <p:spPr>
          <a:xfrm>
            <a:off x="8851392" y="1271016"/>
            <a:ext cx="221284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lang="ja-JP">
                <a:solidFill>
                  <a:srgbClr val="0B6E69"/>
                </a:solidFill>
                <a:latin typeface="Noto Sans JP"/>
                <a:ea typeface="Noto Sans JP"/>
              </a:rPr>
              <a:t>今日</a:t>
            </a:r>
          </a:p>
        </p:txBody>
      </p:sp>
      <p:sp>
        <p:nvSpPr>
          <p:cNvPr id="30" name="Text: 比較して、次の一手を決める"/>
          <p:cNvSpPr txBox="1"/>
          <p:nvPr/>
        </p:nvSpPr>
        <p:spPr>
          <a:xfrm>
            <a:off x="8851392" y="1673352"/>
            <a:ext cx="221284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比較して、次の一手を決める</a:t>
            </a:r>
          </a:p>
        </p:txBody>
      </p:sp>
      <p:sp>
        <p:nvSpPr>
          <p:cNvPr id="31" name="Card: 次の案件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41080" y="2633472"/>
            <a:ext cx="28346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ccent: 次の案件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5672" y="2798064"/>
            <a:ext cx="128016" cy="905256"/>
          </a:xfrm>
          <a:prstGeom prst="roundRect">
            <a:avLst/>
          </a:prstGeom>
          <a:solidFill>
            <a:srgbClr val="4E5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次の案件"/>
          <p:cNvSpPr txBox="1"/>
          <p:nvPr/>
        </p:nvSpPr>
        <p:spPr>
          <a:xfrm>
            <a:off x="9079992" y="2761488"/>
            <a:ext cx="221284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lang="ja-JP">
                <a:solidFill>
                  <a:srgbClr val="4E51A8"/>
                </a:solidFill>
                <a:latin typeface="Noto Sans JP"/>
                <a:ea typeface="Noto Sans JP"/>
              </a:rPr>
              <a:t>次の案件</a:t>
            </a:r>
          </a:p>
        </p:txBody>
      </p:sp>
      <p:sp>
        <p:nvSpPr>
          <p:cNvPr id="34" name="Text: 手順・却下案・判断基準を再利用"/>
          <p:cNvSpPr txBox="1"/>
          <p:nvPr/>
        </p:nvSpPr>
        <p:spPr>
          <a:xfrm>
            <a:off x="9079992" y="3163824"/>
            <a:ext cx="221284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手順・却下案・判断基準を再利用</a:t>
            </a:r>
          </a:p>
        </p:txBody>
      </p:sp>
      <p:sp>
        <p:nvSpPr>
          <p:cNvPr id="35" name="Card: 将来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0" y="4151376"/>
            <a:ext cx="28346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ccent: 将来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77072" y="4315968"/>
            <a:ext cx="128016" cy="905256"/>
          </a:xfrm>
          <a:prstGeom prst="roundRect">
            <a:avLst/>
          </a:prstGeom>
          <a:solidFill>
            <a:srgbClr val="8C4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将来"/>
          <p:cNvSpPr txBox="1"/>
          <p:nvPr/>
        </p:nvSpPr>
        <p:spPr>
          <a:xfrm>
            <a:off x="8851392" y="4279392"/>
            <a:ext cx="221284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lang="ja-JP">
                <a:solidFill>
                  <a:srgbClr val="8C4A12"/>
                </a:solidFill>
                <a:latin typeface="Noto Sans JP"/>
                <a:ea typeface="Noto Sans JP"/>
              </a:rPr>
              <a:t>将来</a:t>
            </a:r>
          </a:p>
        </p:txBody>
      </p:sp>
      <p:sp>
        <p:nvSpPr>
          <p:cNvPr id="38" name="Text: 改修・修復・再展示時に根拠へ戻る"/>
          <p:cNvSpPr txBox="1"/>
          <p:nvPr/>
        </p:nvSpPr>
        <p:spPr>
          <a:xfrm>
            <a:off x="8851392" y="4681728"/>
            <a:ext cx="221284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改修・修復・再展示時に根拠へ戻る</a:t>
            </a:r>
          </a:p>
        </p:txBody>
      </p:sp>
      <p:sp>
        <p:nvSpPr>
          <p:cNvPr id="39" name="Text: 作者証明・完全な現実記録・&#10;自動利益分配ではあり"/>
          <p:cNvSpPr txBox="1"/>
          <p:nvPr/>
        </p:nvSpPr>
        <p:spPr>
          <a:xfrm>
            <a:off x="7818120" y="5769864"/>
            <a:ext cx="361188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lang="ja-JP">
                <a:solidFill>
                  <a:srgbClr val="C3CDDA"/>
                </a:solidFill>
                <a:latin typeface="Noto Sans JP"/>
                <a:ea typeface="Noto Sans JP"/>
              </a:rPr>
              <a:t>作者証明・完全な現実記録・</a:t>
            </a:r>
            <a:br/>
            <a:r>
              <a:rPr sz="1150" b="0" lang="ja-JP">
                <a:solidFill>
                  <a:srgbClr val="C3CDDA"/>
                </a:solidFill>
                <a:latin typeface="Noto Sans JP"/>
                <a:ea typeface="Noto Sans JP"/>
              </a:rPr>
              <a:t>自動利益分配ではありません</a:t>
            </a:r>
          </a:p>
        </p:txBody>
      </p:sp>
      <p:sp>
        <p:nvSpPr>
          <p:cNvPr id="40" name="Text: Scope: SynapseGit Coreのみ"/>
          <p:cNvSpPr txBox="1"/>
          <p:nvPr/>
        </p:nvSpPr>
        <p:spPr>
          <a:xfrm>
            <a:off x="685800" y="5769864"/>
            <a:ext cx="544068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lang="ja-JP">
                <a:solidFill>
                  <a:srgbClr val="C3CDDA"/>
                </a:solidFill>
                <a:latin typeface="Noto Sans JP"/>
                <a:ea typeface="Noto Sans JP"/>
              </a:rPr>
              <a:t>Scope: SynapseGit Coreのみ</a:t>
            </a:r>
            <a:br/>
            <a:r>
              <a:rPr sz="1150" b="0" lang="ja-JP">
                <a:solidFill>
                  <a:srgbClr val="C3CDDA"/>
                </a:solidFill>
                <a:latin typeface="Noto Sans JP"/>
                <a:ea typeface="Noto Sans JP"/>
              </a:rPr>
              <a:t>Chrono-Engine／歴史的人物再現は対象外</a:t>
            </a:r>
          </a:p>
        </p:txBody>
      </p:sp>
      <p:cxnSp>
        <p:nvCxnSpPr>
          <p:cNvPr id="41" name="Connector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85216" y="6446520"/>
            <a:ext cx="11009376" cy="0"/>
          </a:xfrm>
          <a:prstGeom prst="line">
            <a:avLst/>
          </a:prstGeom>
          <a:ln w="8890">
            <a:solidFill>
              <a:srgbClr val="3340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: Concept · v0.9.0 · 確認日 2"/>
          <p:cNvSpPr txBox="1"/>
          <p:nvPr/>
        </p:nvSpPr>
        <p:spPr>
          <a:xfrm>
            <a:off x="585216" y="6492240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lang="ja-JP">
                <a:solidFill>
                  <a:srgbClr val="AAB5C5"/>
                </a:solidFill>
                <a:latin typeface="Noto Sans JP"/>
                <a:ea typeface="Noto Sans JP"/>
                <a:hlinkClick r:id="rId2"/>
              </a:rPr>
              <a:t>Concept · v0.9.0 · 確認日 2026-09-27</a:t>
            </a:r>
          </a:p>
        </p:txBody>
      </p:sp>
      <p:sp>
        <p:nvSpPr>
          <p:cNvPr id="43" name="Text: Core concept §§1, 20 · S"/>
          <p:cNvSpPr txBox="1"/>
          <p:nvPr/>
        </p:nvSpPr>
        <p:spPr>
          <a:xfrm>
            <a:off x="3429000" y="6492240"/>
            <a:ext cx="7223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lang="ja-JP">
                <a:solidFill>
                  <a:srgbClr val="AAB5C5"/>
                </a:solidFill>
                <a:latin typeface="Noto Sans JP"/>
                <a:ea typeface="Noto Sans JP"/>
              </a:rPr>
              <a:t>Core concept §§1, 20 · Stage 0 draft</a:t>
            </a:r>
          </a:p>
        </p:txBody>
      </p:sp>
      <p:sp>
        <p:nvSpPr>
          <p:cNvPr id="44" name="Text: 01"/>
          <p:cNvSpPr txBox="1"/>
          <p:nvPr/>
        </p:nvSpPr>
        <p:spPr>
          <a:xfrm>
            <a:off x="11137392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lang="ja-JP">
                <a:solidFill>
                  <a:srgbClr val="AAB5C5"/>
                </a:solidFill>
                <a:latin typeface="Noto Sans JP"/>
                <a:ea typeface="Noto Sans JP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: 誰の、どんな断絶を解くのか"/>
          <p:cNvSpPr>
            <a:spLocks noGrp="1"/>
          </p:cNvSpPr>
          <p:nvPr>
            <p:ph type="title"/>
          </p:nvPr>
        </p:nvSpPr>
        <p:spPr>
          <a:xfrm>
            <a:off x="585216" y="621792"/>
            <a:ext cx="10972800" cy="566928"/>
          </a:xfrm>
        </p:spPr>
        <p:txBody>
          <a:bodyPr wrap="square" lIns="18288" rIns="18288" tIns="18288" bIns="18288"/>
          <a:lstStyle/>
          <a:p>
            <a:pPr algn="l"/>
            <a:r>
              <a:rPr sz="2800" b="1" lang="ja-JP">
                <a:solidFill>
                  <a:srgbClr val="13202B"/>
                </a:solidFill>
                <a:latin typeface="Noto Sans JP"/>
                <a:ea typeface="Noto Sans JP"/>
              </a:rPr>
              <a:t>誰の、どんな断絶を解くのか</a:t>
            </a:r>
          </a:p>
        </p:txBody>
      </p:sp>
      <p:sp>
        <p:nvSpPr>
          <p:cNvPr id="3" name="Text: WHO"/>
          <p:cNvSpPr txBox="1"/>
          <p:nvPr/>
        </p:nvSpPr>
        <p:spPr>
          <a:xfrm>
            <a:off x="585216" y="320040"/>
            <a:ext cx="2651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lang="ja-JP">
                <a:solidFill>
                  <a:srgbClr val="0B6E69"/>
                </a:solidFill>
                <a:latin typeface="Noto Sans JP"/>
                <a:ea typeface="Noto Sans JP"/>
              </a:rPr>
              <a:t>WHO</a:t>
            </a:r>
          </a:p>
        </p:txBody>
      </p:sp>
      <p:sp>
        <p:nvSpPr>
          <p:cNvPr id="4" name="Text: 異なる現場から、同じ「判断の系譜」へ接続する"/>
          <p:cNvSpPr txBox="1"/>
          <p:nvPr/>
        </p:nvSpPr>
        <p:spPr>
          <a:xfrm>
            <a:off x="603504" y="1170432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lang="ja-JP">
                <a:solidFill>
                  <a:srgbClr val="5E6873"/>
                </a:solidFill>
                <a:latin typeface="Noto Sans JP"/>
                <a:ea typeface="Noto Sans JP"/>
              </a:rPr>
              <a:t>異なる現場から、同じ「判断の系譜」へ接続する</a:t>
            </a:r>
          </a:p>
        </p:txBody>
      </p:sp>
      <p:sp>
        <p:nvSpPr>
          <p:cNvPr id="5" name="Shared proble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" y="1444752"/>
            <a:ext cx="10972800" cy="475488"/>
          </a:xfrm>
          <a:prstGeom prst="roundRect">
            <a:avLst/>
          </a:prstGeom>
          <a:solidFill>
            <a:srgbClr val="0B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写真・図面・チャット・AI案が散在　→　判断理由"/>
          <p:cNvSpPr txBox="1"/>
          <p:nvPr/>
        </p:nvSpPr>
        <p:spPr>
          <a:xfrm>
            <a:off x="804672" y="1536192"/>
            <a:ext cx="105704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lang="ja-JP">
                <a:solidFill>
                  <a:srgbClr val="FFFFFF"/>
                </a:solidFill>
                <a:latin typeface="Noto Sans JP"/>
                <a:ea typeface="Noto Sans JP"/>
              </a:rPr>
              <a:t>写真・図面・チャット・AI案が散在　→　判断理由が消える　→　次の担当が最初から探し直す</a:t>
            </a:r>
          </a:p>
        </p:txBody>
      </p:sp>
      <p:sp>
        <p:nvSpPr>
          <p:cNvPr id="7" name="Card: 画家・壁画家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" y="2148840"/>
            <a:ext cx="2551176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ccent: 画家・壁画家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8096" y="2313432"/>
            <a:ext cx="128016" cy="2642616"/>
          </a:xfrm>
          <a:prstGeom prst="round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 画家・壁画家"/>
          <p:cNvSpPr txBox="1"/>
          <p:nvPr/>
        </p:nvSpPr>
        <p:spPr>
          <a:xfrm>
            <a:off x="1042416" y="2276856"/>
            <a:ext cx="19293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lang="ja-JP">
                <a:solidFill>
                  <a:srgbClr val="0B6E69"/>
                </a:solidFill>
                <a:latin typeface="Noto Sans JP"/>
                <a:ea typeface="Noto Sans JP"/>
              </a:rPr>
              <a:t>画家・壁画家</a:t>
            </a:r>
          </a:p>
        </p:txBody>
      </p:sp>
      <p:sp>
        <p:nvSpPr>
          <p:cNvPr id="10" name="Text: 困りごと&#10;色・構図・偶然・保留が&#10;完成画像へ埋も"/>
          <p:cNvSpPr txBox="1"/>
          <p:nvPr/>
        </p:nvSpPr>
        <p:spPr>
          <a:xfrm>
            <a:off x="1042416" y="2679192"/>
            <a:ext cx="1929384" cy="23317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困りごと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色・構図・偶然・保留が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完成画像へ埋もれる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/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返るもの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同条件比較／制作process pack</a:t>
            </a:r>
          </a:p>
        </p:txBody>
      </p:sp>
      <p:sp>
        <p:nvSpPr>
          <p:cNvPr id="11" name="Card: 建築家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74136" y="2148840"/>
            <a:ext cx="2551176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ccent: 建築家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38728" y="2313432"/>
            <a:ext cx="128016" cy="2642616"/>
          </a:xfrm>
          <a:prstGeom prst="roundRect">
            <a:avLst/>
          </a:prstGeom>
          <a:solidFill>
            <a:srgbClr val="4E5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建築家"/>
          <p:cNvSpPr txBox="1"/>
          <p:nvPr/>
        </p:nvSpPr>
        <p:spPr>
          <a:xfrm>
            <a:off x="3813048" y="2276856"/>
            <a:ext cx="19293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lang="ja-JP">
                <a:solidFill>
                  <a:srgbClr val="4E51A8"/>
                </a:solidFill>
                <a:latin typeface="Noto Sans JP"/>
                <a:ea typeface="Noto Sans JP"/>
              </a:rPr>
              <a:t>建築家</a:t>
            </a:r>
          </a:p>
        </p:txBody>
      </p:sp>
      <p:sp>
        <p:nvSpPr>
          <p:cNvPr id="14" name="Text: 困りごと&#10;Brief・案・現場判断が&#10;別資料へ散"/>
          <p:cNvSpPr txBox="1"/>
          <p:nvPr/>
        </p:nvSpPr>
        <p:spPr>
          <a:xfrm>
            <a:off x="3813048" y="2679192"/>
            <a:ext cx="1929384" cy="23317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困りごと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Brief・案・現場判断が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別資料へ散る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/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返るもの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三者比較／設計変更理由</a:t>
            </a:r>
          </a:p>
        </p:txBody>
      </p:sp>
      <p:sp>
        <p:nvSpPr>
          <p:cNvPr id="15" name="Card: 施工・修復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4768" y="2148840"/>
            <a:ext cx="2551176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ccent: 施工・修復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59" y="2313432"/>
            <a:ext cx="128016" cy="2642616"/>
          </a:xfrm>
          <a:prstGeom prst="roundRect">
            <a:avLst/>
          </a:prstGeom>
          <a:solidFill>
            <a:srgbClr val="8C4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施工・修復"/>
          <p:cNvSpPr txBox="1"/>
          <p:nvPr/>
        </p:nvSpPr>
        <p:spPr>
          <a:xfrm>
            <a:off x="6583679" y="2276856"/>
            <a:ext cx="19293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lang="ja-JP">
                <a:solidFill>
                  <a:srgbClr val="8C450E"/>
                </a:solidFill>
                <a:latin typeface="Noto Sans JP"/>
                <a:ea typeface="Noto Sans JP"/>
              </a:rPr>
              <a:t>施工・修復</a:t>
            </a:r>
          </a:p>
        </p:txBody>
      </p:sp>
      <p:sp>
        <p:nvSpPr>
          <p:cNvPr id="18" name="Text: 困りごと&#10;計画外作業・欠測・処置が&#10;後任へ伝わら"/>
          <p:cNvSpPr txBox="1"/>
          <p:nvPr/>
        </p:nvSpPr>
        <p:spPr>
          <a:xfrm>
            <a:off x="6583679" y="2679192"/>
            <a:ext cx="1929384" cy="23317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困りごと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計画外作業・欠測・処置が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後任へ伝わらない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/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返るもの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Hold Point／引渡し記録</a:t>
            </a:r>
          </a:p>
        </p:txBody>
      </p:sp>
      <p:sp>
        <p:nvSpPr>
          <p:cNvPr id="19" name="Card: デザイナー＋A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15400" y="2148840"/>
            <a:ext cx="2551176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ccent: デザイナー＋A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9992" y="2313432"/>
            <a:ext cx="128016" cy="2642616"/>
          </a:xfrm>
          <a:prstGeom prst="roundRect">
            <a:avLst/>
          </a:prstGeom>
          <a:solidFill>
            <a:srgbClr val="744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デザイナー＋AI"/>
          <p:cNvSpPr txBox="1"/>
          <p:nvPr/>
        </p:nvSpPr>
        <p:spPr>
          <a:xfrm>
            <a:off x="9354312" y="2276856"/>
            <a:ext cx="19293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lang="ja-JP">
                <a:solidFill>
                  <a:srgbClr val="74428A"/>
                </a:solidFill>
                <a:latin typeface="Noto Sans JP"/>
                <a:ea typeface="Noto Sans JP"/>
              </a:rPr>
              <a:t>デザイナー＋AI</a:t>
            </a:r>
          </a:p>
        </p:txBody>
      </p:sp>
      <p:sp>
        <p:nvSpPr>
          <p:cNvPr id="22" name="Text: 困りごと&#10;ツールやAIを跨ぐと&#10;採否の文脈が消え"/>
          <p:cNvSpPr txBox="1"/>
          <p:nvPr/>
        </p:nvSpPr>
        <p:spPr>
          <a:xfrm>
            <a:off x="9354312" y="2679192"/>
            <a:ext cx="1929384" cy="23317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困りごと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ツールやAIを跨ぐと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採否の文脈が消える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/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返るもの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提案系列／可搬な文脈</a:t>
            </a:r>
          </a:p>
        </p:txBody>
      </p:sp>
      <p:sp>
        <p:nvSpPr>
          <p:cNvPr id="23" name="Rounded Rectangl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" y="5394960"/>
            <a:ext cx="109728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504688"/>
            <a:ext cx="10497312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350" b="1" lang="ja-JP">
                <a:solidFill>
                  <a:srgbClr val="5E6873"/>
                </a:solidFill>
                <a:latin typeface="Noto Sans JP"/>
                <a:ea typeface="Noto Sans JP"/>
              </a:rPr>
              <a:t>二次利用者　</a:t>
            </a:r>
            <a:r>
              <a:rPr sz="1350" b="0" lang="ja-JP">
                <a:solidFill>
                  <a:srgbClr val="13202B"/>
                </a:solidFill>
                <a:latin typeface="Noto Sans JP"/>
                <a:ea typeface="Noto Sans JP"/>
              </a:rPr>
              <a:t>制作チーム・後任・施主・所有者・コレクター・美術館　</a:t>
            </a:r>
            <a:r>
              <a:rPr sz="1350" b="1" lang="ja-JP">
                <a:solidFill>
                  <a:srgbClr val="29704A"/>
                </a:solidFill>
                <a:latin typeface="Noto Sans JP"/>
                <a:ea typeface="Noto Sans JP"/>
              </a:rPr>
              <a:t>← 報告・引き継ぎ・保存資料として受け取る</a:t>
            </a:r>
          </a:p>
        </p:txBody>
      </p:sp>
      <p:sp>
        <p:nvSpPr>
          <p:cNvPr id="25" name="Text: 制作ソフト、BIM/CAD、ペイントツールを置き"/>
          <p:cNvSpPr txBox="1"/>
          <p:nvPr/>
        </p:nvSpPr>
        <p:spPr>
          <a:xfrm>
            <a:off x="1188720" y="6053328"/>
            <a:ext cx="9784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lang="ja-JP">
                <a:solidFill>
                  <a:srgbClr val="5E6873"/>
                </a:solidFill>
                <a:latin typeface="Noto Sans JP"/>
                <a:ea typeface="Noto Sans JP"/>
              </a:rPr>
              <a:t>制作ソフト、BIM/CAD、ペイントツールを置き換えるのではなく、判断を横断してつなぐ。</a:t>
            </a:r>
          </a:p>
        </p:txBody>
      </p:sp>
      <p:cxnSp>
        <p:nvCxnSpPr>
          <p:cNvPr id="26" name="Connecto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85216" y="6446520"/>
            <a:ext cx="11009376" cy="0"/>
          </a:xfrm>
          <a:prstGeom prst="line">
            <a:avLst/>
          </a:prstGeom>
          <a:ln w="8890">
            <a:solidFill>
              <a:srgbClr val="7B8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: Concept · v0.9.0 · 確認日 2"/>
          <p:cNvSpPr txBox="1"/>
          <p:nvPr/>
        </p:nvSpPr>
        <p:spPr>
          <a:xfrm>
            <a:off x="585216" y="6492240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lang="ja-JP">
                <a:solidFill>
                  <a:srgbClr val="5E6873"/>
                </a:solidFill>
                <a:latin typeface="Noto Sans JP"/>
                <a:ea typeface="Noto Sans JP"/>
                <a:hlinkClick r:id="rId2"/>
              </a:rPr>
              <a:t>Concept · v0.9.0 · 確認日 2026-09-27</a:t>
            </a:r>
          </a:p>
        </p:txBody>
      </p:sp>
      <p:sp>
        <p:nvSpPr>
          <p:cNvPr id="28" name="Text: Core concept §§14, 20.2"/>
          <p:cNvSpPr txBox="1"/>
          <p:nvPr/>
        </p:nvSpPr>
        <p:spPr>
          <a:xfrm>
            <a:off x="3429000" y="6492240"/>
            <a:ext cx="7223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lang="ja-JP">
                <a:solidFill>
                  <a:srgbClr val="5E6873"/>
                </a:solidFill>
                <a:latin typeface="Noto Sans JP"/>
                <a:ea typeface="Noto Sans JP"/>
              </a:rPr>
              <a:t>Core concept §§14, 20.2</a:t>
            </a:r>
          </a:p>
        </p:txBody>
      </p:sp>
      <p:sp>
        <p:nvSpPr>
          <p:cNvPr id="29" name="Text: 02"/>
          <p:cNvSpPr txBox="1"/>
          <p:nvPr/>
        </p:nvSpPr>
        <p:spPr>
          <a:xfrm>
            <a:off x="11137392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lang="ja-JP">
                <a:solidFill>
                  <a:srgbClr val="5E6873"/>
                </a:solidFill>
                <a:latin typeface="Noto Sans JP"/>
                <a:ea typeface="Noto Sans JP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: 節目で残し、すぐ返す"/>
          <p:cNvSpPr>
            <a:spLocks noGrp="1"/>
          </p:cNvSpPr>
          <p:nvPr>
            <p:ph type="title"/>
          </p:nvPr>
        </p:nvSpPr>
        <p:spPr>
          <a:xfrm>
            <a:off x="585216" y="621792"/>
            <a:ext cx="10972800" cy="566928"/>
          </a:xfrm>
        </p:spPr>
        <p:txBody>
          <a:bodyPr wrap="square" lIns="18288" rIns="18288" tIns="18288" bIns="18288"/>
          <a:lstStyle/>
          <a:p>
            <a:pPr algn="l"/>
            <a:r>
              <a:rPr sz="2800" b="1" lang="ja-JP">
                <a:solidFill>
                  <a:srgbClr val="13202B"/>
                </a:solidFill>
                <a:latin typeface="Noto Sans JP"/>
                <a:ea typeface="Noto Sans JP"/>
              </a:rPr>
              <a:t>節目で残し、すぐ返す</a:t>
            </a:r>
          </a:p>
        </p:txBody>
      </p:sp>
      <p:sp>
        <p:nvSpPr>
          <p:cNvPr id="3" name="Text: HOW"/>
          <p:cNvSpPr txBox="1"/>
          <p:nvPr/>
        </p:nvSpPr>
        <p:spPr>
          <a:xfrm>
            <a:off x="585216" y="320040"/>
            <a:ext cx="2651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lang="ja-JP">
                <a:solidFill>
                  <a:srgbClr val="0B6E69"/>
                </a:solidFill>
                <a:latin typeface="Noto Sans JP"/>
                <a:ea typeface="Noto Sans JP"/>
              </a:rPr>
              <a:t>HOW</a:t>
            </a:r>
          </a:p>
        </p:txBody>
      </p:sp>
      <p:sp>
        <p:nvSpPr>
          <p:cNvPr id="4" name="Text: セッション終了・承認・引き渡し・Hold Poi"/>
          <p:cNvSpPr txBox="1"/>
          <p:nvPr/>
        </p:nvSpPr>
        <p:spPr>
          <a:xfrm>
            <a:off x="603504" y="1170432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lang="ja-JP">
                <a:solidFill>
                  <a:srgbClr val="5E6873"/>
                </a:solidFill>
                <a:latin typeface="Noto Sans JP"/>
                <a:ea typeface="Noto Sans JP"/>
              </a:rPr>
              <a:t>セッション終了・承認・引き渡し・Hold Pointだけを意味ある履歴にする</a:t>
            </a:r>
          </a:p>
        </p:txBody>
      </p:sp>
      <p:sp>
        <p:nvSpPr>
          <p:cNvPr id="5" name="Chevron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21408" y="2322576"/>
            <a:ext cx="310896" cy="402336"/>
          </a:xfrm>
          <a:prstGeom prst="chevron">
            <a:avLst/>
          </a:prstGeom>
          <a:solidFill>
            <a:srgbClr val="7B8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77639" y="2322576"/>
            <a:ext cx="310896" cy="402336"/>
          </a:xfrm>
          <a:prstGeom prst="chevron">
            <a:avLst/>
          </a:prstGeom>
          <a:solidFill>
            <a:srgbClr val="7B8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33872" y="2322576"/>
            <a:ext cx="310896" cy="402336"/>
          </a:xfrm>
          <a:prstGeom prst="chevron">
            <a:avLst/>
          </a:prstGeom>
          <a:solidFill>
            <a:srgbClr val="7B8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evron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90104" y="2322576"/>
            <a:ext cx="310896" cy="402336"/>
          </a:xfrm>
          <a:prstGeom prst="chevron">
            <a:avLst/>
          </a:prstGeom>
          <a:solidFill>
            <a:srgbClr val="7B8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vron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46336" y="2322576"/>
            <a:ext cx="310896" cy="402336"/>
          </a:xfrm>
          <a:prstGeom prst="chevron">
            <a:avLst/>
          </a:prstGeom>
          <a:solidFill>
            <a:srgbClr val="7B8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ode: 意図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" y="2011680"/>
            <a:ext cx="1508760" cy="1024128"/>
          </a:xfrm>
          <a:prstGeom prst="roundRect">
            <a:avLst/>
          </a:prstGeom>
          <a:solidFill>
            <a:srgbClr val="E2E4F7"/>
          </a:solidFill>
          <a:ln w="15240">
            <a:solidFill>
              <a:srgbClr val="4E5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意図"/>
          <p:cNvSpPr txBox="1"/>
          <p:nvPr/>
        </p:nvSpPr>
        <p:spPr>
          <a:xfrm>
            <a:off x="713232" y="2139696"/>
            <a:ext cx="128930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lang="ja-JP">
                <a:solidFill>
                  <a:srgbClr val="4E51A8"/>
                </a:solidFill>
                <a:latin typeface="Noto Sans JP"/>
                <a:ea typeface="Noto Sans JP"/>
              </a:rPr>
              <a:t>意図</a:t>
            </a:r>
          </a:p>
        </p:txBody>
      </p:sp>
      <p:sp>
        <p:nvSpPr>
          <p:cNvPr id="12" name="Text: Plan"/>
          <p:cNvSpPr txBox="1"/>
          <p:nvPr/>
        </p:nvSpPr>
        <p:spPr>
          <a:xfrm>
            <a:off x="694944" y="2514600"/>
            <a:ext cx="1325880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lang="ja-JP">
                <a:solidFill>
                  <a:srgbClr val="13202B"/>
                </a:solidFill>
                <a:latin typeface="Noto Sans JP"/>
                <a:ea typeface="Noto Sans JP"/>
              </a:rPr>
              <a:t>Plan</a:t>
            </a:r>
          </a:p>
        </p:txBody>
      </p:sp>
      <p:sp>
        <p:nvSpPr>
          <p:cNvPr id="13" name="Node: 実行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59736" y="2011680"/>
            <a:ext cx="1508760" cy="1024128"/>
          </a:xfrm>
          <a:prstGeom prst="roundRect">
            <a:avLst/>
          </a:prstGeom>
          <a:solidFill>
            <a:srgbClr val="F5E4D4"/>
          </a:solidFill>
          <a:ln w="15240">
            <a:solidFill>
              <a:srgbClr val="8C45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実行"/>
          <p:cNvSpPr txBox="1"/>
          <p:nvPr/>
        </p:nvSpPr>
        <p:spPr>
          <a:xfrm>
            <a:off x="2569464" y="2139696"/>
            <a:ext cx="128930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lang="ja-JP">
                <a:solidFill>
                  <a:srgbClr val="8C450E"/>
                </a:solidFill>
                <a:latin typeface="Noto Sans JP"/>
                <a:ea typeface="Noto Sans JP"/>
              </a:rPr>
              <a:t>実行</a:t>
            </a:r>
          </a:p>
        </p:txBody>
      </p:sp>
      <p:sp>
        <p:nvSpPr>
          <p:cNvPr id="15" name="Text: Activity"/>
          <p:cNvSpPr txBox="1"/>
          <p:nvPr/>
        </p:nvSpPr>
        <p:spPr>
          <a:xfrm>
            <a:off x="2551176" y="2514600"/>
            <a:ext cx="1325880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lang="ja-JP">
                <a:solidFill>
                  <a:srgbClr val="13202B"/>
                </a:solidFill>
                <a:latin typeface="Noto Sans JP"/>
                <a:ea typeface="Noto Sans JP"/>
              </a:rPr>
              <a:t>Activity</a:t>
            </a:r>
          </a:p>
        </p:txBody>
      </p:sp>
      <p:sp>
        <p:nvSpPr>
          <p:cNvPr id="16" name="Node: 観測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5968" y="2011680"/>
            <a:ext cx="1508760" cy="1024128"/>
          </a:xfrm>
          <a:prstGeom prst="roundRect">
            <a:avLst/>
          </a:prstGeom>
          <a:solidFill>
            <a:srgbClr val="D9EEEB"/>
          </a:solidFill>
          <a:ln w="15240">
            <a:solidFill>
              <a:srgbClr val="0B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観測"/>
          <p:cNvSpPr txBox="1"/>
          <p:nvPr/>
        </p:nvSpPr>
        <p:spPr>
          <a:xfrm>
            <a:off x="4425696" y="2139696"/>
            <a:ext cx="128930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lang="ja-JP">
                <a:solidFill>
                  <a:srgbClr val="0B6E69"/>
                </a:solidFill>
                <a:latin typeface="Noto Sans JP"/>
                <a:ea typeface="Noto Sans JP"/>
              </a:rPr>
              <a:t>観測</a:t>
            </a:r>
          </a:p>
        </p:txBody>
      </p:sp>
      <p:sp>
        <p:nvSpPr>
          <p:cNvPr id="18" name="Text: Observation"/>
          <p:cNvSpPr txBox="1"/>
          <p:nvPr/>
        </p:nvSpPr>
        <p:spPr>
          <a:xfrm>
            <a:off x="4407407" y="2514600"/>
            <a:ext cx="1325880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lang="ja-JP">
                <a:solidFill>
                  <a:srgbClr val="13202B"/>
                </a:solidFill>
                <a:latin typeface="Noto Sans JP"/>
                <a:ea typeface="Noto Sans JP"/>
              </a:rPr>
              <a:t>Observation</a:t>
            </a:r>
          </a:p>
        </p:txBody>
      </p:sp>
      <p:sp>
        <p:nvSpPr>
          <p:cNvPr id="19" name="Node: 比較候補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2011680"/>
            <a:ext cx="1508760" cy="1024128"/>
          </a:xfrm>
          <a:prstGeom prst="roundRect">
            <a:avLst/>
          </a:prstGeom>
          <a:solidFill>
            <a:srgbClr val="E7EAED"/>
          </a:solidFill>
          <a:ln w="15240">
            <a:solidFill>
              <a:srgbClr val="5E687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比較候補"/>
          <p:cNvSpPr txBox="1"/>
          <p:nvPr/>
        </p:nvSpPr>
        <p:spPr>
          <a:xfrm>
            <a:off x="6281928" y="2139696"/>
            <a:ext cx="128930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lang="ja-JP">
                <a:solidFill>
                  <a:srgbClr val="5E6873"/>
                </a:solidFill>
                <a:latin typeface="Noto Sans JP"/>
                <a:ea typeface="Noto Sans JP"/>
              </a:rPr>
              <a:t>比較候補</a:t>
            </a:r>
          </a:p>
        </p:txBody>
      </p:sp>
      <p:sp>
        <p:nvSpPr>
          <p:cNvPr id="21" name="Text: Analysis"/>
          <p:cNvSpPr txBox="1"/>
          <p:nvPr/>
        </p:nvSpPr>
        <p:spPr>
          <a:xfrm>
            <a:off x="6263640" y="2514600"/>
            <a:ext cx="1325880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lang="ja-JP">
                <a:solidFill>
                  <a:srgbClr val="13202B"/>
                </a:solidFill>
                <a:latin typeface="Noto Sans JP"/>
                <a:ea typeface="Noto Sans JP"/>
              </a:rPr>
              <a:t>Analysis</a:t>
            </a:r>
          </a:p>
        </p:txBody>
      </p:sp>
      <p:sp>
        <p:nvSpPr>
          <p:cNvPr id="22" name="Node: 意味付け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8431" y="2011680"/>
            <a:ext cx="1508760" cy="1024128"/>
          </a:xfrm>
          <a:prstGeom prst="roundRect">
            <a:avLst/>
          </a:prstGeom>
          <a:solidFill>
            <a:srgbClr val="E8E1F3"/>
          </a:solidFill>
          <a:ln w="15240">
            <a:solidFill>
              <a:srgbClr val="744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意味付け"/>
          <p:cNvSpPr txBox="1"/>
          <p:nvPr/>
        </p:nvSpPr>
        <p:spPr>
          <a:xfrm>
            <a:off x="8138159" y="2139696"/>
            <a:ext cx="128930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lang="ja-JP">
                <a:solidFill>
                  <a:srgbClr val="74428A"/>
                </a:solidFill>
                <a:latin typeface="Noto Sans JP"/>
                <a:ea typeface="Noto Sans JP"/>
              </a:rPr>
              <a:t>意味付け</a:t>
            </a:r>
          </a:p>
        </p:txBody>
      </p:sp>
      <p:sp>
        <p:nvSpPr>
          <p:cNvPr id="24" name="Text: Claim"/>
          <p:cNvSpPr txBox="1"/>
          <p:nvPr/>
        </p:nvSpPr>
        <p:spPr>
          <a:xfrm>
            <a:off x="8119871" y="2514600"/>
            <a:ext cx="1325880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lang="ja-JP">
                <a:solidFill>
                  <a:srgbClr val="13202B"/>
                </a:solidFill>
                <a:latin typeface="Noto Sans JP"/>
                <a:ea typeface="Noto Sans JP"/>
              </a:rPr>
              <a:t>Claim</a:t>
            </a:r>
          </a:p>
        </p:txBody>
      </p:sp>
      <p:sp>
        <p:nvSpPr>
          <p:cNvPr id="25" name="Node: 人の判断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84663" y="2011680"/>
            <a:ext cx="1508760" cy="1024128"/>
          </a:xfrm>
          <a:prstGeom prst="roundRect">
            <a:avLst/>
          </a:prstGeom>
          <a:solidFill>
            <a:srgbClr val="F3E3C7"/>
          </a:solidFill>
          <a:ln w="15240">
            <a:solidFill>
              <a:srgbClr val="8C4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人の判断"/>
          <p:cNvSpPr txBox="1"/>
          <p:nvPr/>
        </p:nvSpPr>
        <p:spPr>
          <a:xfrm>
            <a:off x="9994391" y="2139696"/>
            <a:ext cx="128930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lang="ja-JP">
                <a:solidFill>
                  <a:srgbClr val="8C4A12"/>
                </a:solidFill>
                <a:latin typeface="Noto Sans JP"/>
                <a:ea typeface="Noto Sans JP"/>
              </a:rPr>
              <a:t>人の判断</a:t>
            </a:r>
          </a:p>
        </p:txBody>
      </p:sp>
      <p:sp>
        <p:nvSpPr>
          <p:cNvPr id="27" name="Text: Decision"/>
          <p:cNvSpPr txBox="1"/>
          <p:nvPr/>
        </p:nvSpPr>
        <p:spPr>
          <a:xfrm>
            <a:off x="9976103" y="2514600"/>
            <a:ext cx="1325880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lang="ja-JP">
                <a:solidFill>
                  <a:srgbClr val="13202B"/>
                </a:solidFill>
                <a:latin typeface="Noto Sans JP"/>
                <a:ea typeface="Noto Sans JP"/>
              </a:rPr>
              <a:t>Decision</a:t>
            </a:r>
          </a:p>
        </p:txBody>
      </p:sp>
      <p:sp>
        <p:nvSpPr>
          <p:cNvPr id="28" name="Text: 人が採否を判断"/>
          <p:cNvSpPr txBox="1"/>
          <p:nvPr/>
        </p:nvSpPr>
        <p:spPr>
          <a:xfrm>
            <a:off x="5321808" y="3136392"/>
            <a:ext cx="1600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lang="ja-JP">
                <a:solidFill>
                  <a:srgbClr val="8C4A12"/>
                </a:solidFill>
                <a:latin typeface="Noto Sans JP"/>
                <a:ea typeface="Noto Sans JP"/>
              </a:rPr>
              <a:t>人が採否を判断</a:t>
            </a:r>
          </a:p>
        </p:txBody>
      </p:sp>
      <p:sp>
        <p:nvSpPr>
          <p:cNvPr id="29" name="Card: 比較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785615"/>
            <a:ext cx="252374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ccent: 比較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7552" y="3950207"/>
            <a:ext cx="128016" cy="969264"/>
          </a:xfrm>
          <a:prstGeom prst="round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比較"/>
          <p:cNvSpPr txBox="1"/>
          <p:nvPr/>
        </p:nvSpPr>
        <p:spPr>
          <a:xfrm>
            <a:off x="1261872" y="3913631"/>
            <a:ext cx="190195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lang="ja-JP">
                <a:solidFill>
                  <a:srgbClr val="0B6E69"/>
                </a:solidFill>
                <a:latin typeface="Noto Sans JP"/>
                <a:ea typeface="Noto Sans JP"/>
              </a:rPr>
              <a:t>比較</a:t>
            </a:r>
          </a:p>
        </p:txBody>
      </p:sp>
      <p:sp>
        <p:nvSpPr>
          <p:cNvPr id="32" name="Text: 前後・計画との違い"/>
          <p:cNvSpPr txBox="1"/>
          <p:nvPr/>
        </p:nvSpPr>
        <p:spPr>
          <a:xfrm>
            <a:off x="1261872" y="4315968"/>
            <a:ext cx="1901951" cy="6583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前後・計画との違い</a:t>
            </a:r>
          </a:p>
        </p:txBody>
      </p:sp>
      <p:sp>
        <p:nvSpPr>
          <p:cNvPr id="33" name="Card: 記録復元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30168" y="3785615"/>
            <a:ext cx="252374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ccent: 記録復元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94759" y="3950207"/>
            <a:ext cx="128016" cy="969264"/>
          </a:xfrm>
          <a:prstGeom prst="roundRect">
            <a:avLst/>
          </a:prstGeom>
          <a:solidFill>
            <a:srgbClr val="4E5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記録復元"/>
          <p:cNvSpPr txBox="1"/>
          <p:nvPr/>
        </p:nvSpPr>
        <p:spPr>
          <a:xfrm>
            <a:off x="4069079" y="3913631"/>
            <a:ext cx="190195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lang="ja-JP">
                <a:solidFill>
                  <a:srgbClr val="4E51A8"/>
                </a:solidFill>
                <a:latin typeface="Noto Sans JP"/>
                <a:ea typeface="Noto Sans JP"/>
              </a:rPr>
              <a:t>記録復元</a:t>
            </a:r>
          </a:p>
        </p:txBody>
      </p:sp>
      <p:sp>
        <p:nvSpPr>
          <p:cNvPr id="36" name="Text: その節目の記録を取り出す"/>
          <p:cNvSpPr txBox="1"/>
          <p:nvPr/>
        </p:nvSpPr>
        <p:spPr>
          <a:xfrm>
            <a:off x="4069079" y="4315968"/>
            <a:ext cx="1901951" cy="6583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その節目の記録を取り出す</a:t>
            </a:r>
          </a:p>
        </p:txBody>
      </p:sp>
      <p:sp>
        <p:nvSpPr>
          <p:cNvPr id="37" name="Card: 報告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37376" y="3785615"/>
            <a:ext cx="252374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ccent: 報告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1968" y="3950207"/>
            <a:ext cx="128016" cy="969264"/>
          </a:xfrm>
          <a:prstGeom prst="roundRect">
            <a:avLst/>
          </a:prstGeom>
          <a:solidFill>
            <a:srgbClr val="8C4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報告"/>
          <p:cNvSpPr txBox="1"/>
          <p:nvPr/>
        </p:nvSpPr>
        <p:spPr>
          <a:xfrm>
            <a:off x="6876288" y="3913631"/>
            <a:ext cx="190195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lang="ja-JP">
                <a:solidFill>
                  <a:srgbClr val="8C450E"/>
                </a:solidFill>
                <a:latin typeface="Noto Sans JP"/>
                <a:ea typeface="Noto Sans JP"/>
              </a:rPr>
              <a:t>報告</a:t>
            </a:r>
          </a:p>
        </p:txBody>
      </p:sp>
      <p:sp>
        <p:nvSpPr>
          <p:cNvPr id="40" name="Text: 進捗・処置の下書き"/>
          <p:cNvSpPr txBox="1"/>
          <p:nvPr/>
        </p:nvSpPr>
        <p:spPr>
          <a:xfrm>
            <a:off x="6876288" y="4315968"/>
            <a:ext cx="1901951" cy="6583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進捗・処置の下書き</a:t>
            </a:r>
          </a:p>
        </p:txBody>
      </p:sp>
      <p:sp>
        <p:nvSpPr>
          <p:cNvPr id="41" name="Card: 引き継ぎ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4584" y="3785615"/>
            <a:ext cx="252374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ccent: 引き継ぎ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09176" y="3950207"/>
            <a:ext cx="128016" cy="969264"/>
          </a:xfrm>
          <a:prstGeom prst="roundRect">
            <a:avLst/>
          </a:prstGeom>
          <a:solidFill>
            <a:srgbClr val="29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引き継ぎ"/>
          <p:cNvSpPr txBox="1"/>
          <p:nvPr/>
        </p:nvSpPr>
        <p:spPr>
          <a:xfrm>
            <a:off x="9683496" y="3913631"/>
            <a:ext cx="190195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lang="ja-JP">
                <a:solidFill>
                  <a:srgbClr val="29704A"/>
                </a:solidFill>
                <a:latin typeface="Noto Sans JP"/>
                <a:ea typeface="Noto Sans JP"/>
              </a:rPr>
              <a:t>引き継ぎ</a:t>
            </a:r>
          </a:p>
        </p:txBody>
      </p:sp>
      <p:sp>
        <p:nvSpPr>
          <p:cNvPr id="44" name="Text: 理由・制約・未解決"/>
          <p:cNvSpPr txBox="1"/>
          <p:nvPr/>
        </p:nvSpPr>
        <p:spPr>
          <a:xfrm>
            <a:off x="9683496" y="4315968"/>
            <a:ext cx="1901951" cy="6583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理由・制約・未解決</a:t>
            </a:r>
          </a:p>
        </p:txBody>
      </p:sp>
      <p:sp>
        <p:nvSpPr>
          <p:cNvPr id="45" name="Rounded Rectangle 4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5367528"/>
            <a:ext cx="10570464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4128" y="5477256"/>
            <a:ext cx="10168128" cy="512064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400" b="1" lang="ja-JP">
                <a:solidFill>
                  <a:srgbClr val="13202B"/>
                </a:solidFill>
                <a:latin typeface="Noto Sans JP"/>
                <a:ea typeface="Noto Sans JP"/>
              </a:rPr>
              <a:t>見方の原則　</a:t>
            </a:r>
            <a:r>
              <a:rPr sz="1400" b="1" lang="ja-JP">
                <a:solidFill>
                  <a:srgbClr val="0B6E69"/>
                </a:solidFill>
                <a:latin typeface="Noto Sans JP"/>
                <a:ea typeface="Noto Sans JP"/>
              </a:rPr>
              <a:t>写真＝観測　</a:t>
            </a:r>
            <a:r>
              <a:rPr sz="1400" b="1" lang="ja-JP">
                <a:solidFill>
                  <a:srgbClr val="5E6873"/>
                </a:solidFill>
                <a:latin typeface="Noto Sans JP"/>
                <a:ea typeface="Noto Sans JP"/>
              </a:rPr>
              <a:t>差分＝再計算可能な解析　</a:t>
            </a:r>
            <a:r>
              <a:rPr sz="1400" b="1" lang="ja-JP">
                <a:solidFill>
                  <a:srgbClr val="A13A31"/>
                </a:solidFill>
                <a:latin typeface="Noto Sans JP"/>
                <a:ea typeface="Noto Sans JP"/>
              </a:rPr>
              <a:t>確定事実ではない　</a:t>
            </a: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常時監視・隠れた録画は行わない</a:t>
            </a:r>
          </a:p>
        </p:txBody>
      </p:sp>
      <p:cxnSp>
        <p:nvCxnSpPr>
          <p:cNvPr id="47" name="Connector 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85216" y="6446520"/>
            <a:ext cx="11009376" cy="0"/>
          </a:xfrm>
          <a:prstGeom prst="line">
            <a:avLst/>
          </a:prstGeom>
          <a:ln w="8890">
            <a:solidFill>
              <a:srgbClr val="7B8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: Concept · v0.9.0 · 確認日 2"/>
          <p:cNvSpPr txBox="1"/>
          <p:nvPr/>
        </p:nvSpPr>
        <p:spPr>
          <a:xfrm>
            <a:off x="585216" y="6492240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lang="ja-JP">
                <a:solidFill>
                  <a:srgbClr val="5E6873"/>
                </a:solidFill>
                <a:latin typeface="Noto Sans JP"/>
                <a:ea typeface="Noto Sans JP"/>
                <a:hlinkClick r:id="rId2"/>
              </a:rPr>
              <a:t>Concept · v0.9.0 · 確認日 2026-09-27</a:t>
            </a:r>
          </a:p>
        </p:txBody>
      </p:sp>
      <p:sp>
        <p:nvSpPr>
          <p:cNvPr id="49" name="Text: Core concept §§3, 14.4, "/>
          <p:cNvSpPr txBox="1"/>
          <p:nvPr/>
        </p:nvSpPr>
        <p:spPr>
          <a:xfrm>
            <a:off x="3429000" y="6492240"/>
            <a:ext cx="7223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lang="ja-JP">
                <a:solidFill>
                  <a:srgbClr val="5E6873"/>
                </a:solidFill>
                <a:latin typeface="Noto Sans JP"/>
                <a:ea typeface="Noto Sans JP"/>
              </a:rPr>
              <a:t>Core concept §§3, 14.4, 20.4</a:t>
            </a:r>
          </a:p>
        </p:txBody>
      </p:sp>
      <p:sp>
        <p:nvSpPr>
          <p:cNvPr id="50" name="Text: 03"/>
          <p:cNvSpPr txBox="1"/>
          <p:nvPr/>
        </p:nvSpPr>
        <p:spPr>
          <a:xfrm>
            <a:off x="11137392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lang="ja-JP">
                <a:solidFill>
                  <a:srgbClr val="5E6873"/>
                </a:solidFill>
                <a:latin typeface="Noto Sans JP"/>
                <a:ea typeface="Noto Sans JP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: 仕組みを具体例で見る — 3画像から人の判断まで"/>
          <p:cNvSpPr>
            <a:spLocks noGrp="1"/>
          </p:cNvSpPr>
          <p:nvPr>
            <p:ph type="title"/>
          </p:nvPr>
        </p:nvSpPr>
        <p:spPr>
          <a:xfrm>
            <a:off x="585216" y="621792"/>
            <a:ext cx="10972800" cy="566928"/>
          </a:xfrm>
        </p:spPr>
        <p:txBody>
          <a:bodyPr wrap="square" lIns="18288" rIns="18288" tIns="18288" bIns="18288"/>
          <a:lstStyle/>
          <a:p>
            <a:pPr algn="l"/>
            <a:r>
              <a:rPr sz="2800" b="1" lang="ja-JP">
                <a:solidFill>
                  <a:srgbClr val="13202B"/>
                </a:solidFill>
                <a:latin typeface="Noto Sans JP"/>
                <a:ea typeface="Noto Sans JP"/>
              </a:rPr>
              <a:t>仕組みを具体例で見る — 3画像から人の判断まで</a:t>
            </a:r>
          </a:p>
        </p:txBody>
      </p:sp>
      <p:sp>
        <p:nvSpPr>
          <p:cNvPr id="3" name="Text: MECHANISM · 今すぐ試せる"/>
          <p:cNvSpPr txBox="1"/>
          <p:nvPr/>
        </p:nvSpPr>
        <p:spPr>
          <a:xfrm>
            <a:off x="585216" y="320040"/>
            <a:ext cx="2651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lang="ja-JP">
                <a:solidFill>
                  <a:srgbClr val="0B6E69"/>
                </a:solidFill>
                <a:latin typeface="Noto Sans JP"/>
                <a:ea typeface="Noto Sans JP"/>
              </a:rPr>
              <a:t>MECHANISM · 今すぐ試せる</a:t>
            </a:r>
          </a:p>
        </p:txBody>
      </p:sp>
      <p:sp>
        <p:nvSpPr>
          <p:cNvPr id="4" name="Text: v0.9.0の壁画tutorialに基づく最小構"/>
          <p:cNvSpPr txBox="1"/>
          <p:nvPr/>
        </p:nvSpPr>
        <p:spPr>
          <a:xfrm>
            <a:off x="603504" y="1170432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lang="ja-JP">
                <a:solidFill>
                  <a:srgbClr val="5E6873"/>
                </a:solidFill>
                <a:latin typeface="Noto Sans JP"/>
                <a:ea typeface="Noto Sans JP"/>
              </a:rPr>
              <a:t>v0.9.0の壁画tutorialに基づく最小構成。図はconcept diagramで実画面ではない</a:t>
            </a:r>
          </a:p>
        </p:txBody>
      </p:sp>
      <p:sp>
        <p:nvSpPr>
          <p:cNvPr id="5" name="今すぐ試せる操作" title="今すぐ試せる操作" descr="今すぐ試せる操作"/>
          <p:cNvSpPr/>
          <p:nvPr/>
        </p:nvSpPr>
        <p:spPr>
          <a:xfrm>
            <a:off x="9747504" y="475488"/>
            <a:ext cx="1883664" cy="365760"/>
          </a:xfrm>
          <a:prstGeom prst="roundRect">
            <a:avLst/>
          </a:prstGeom>
          <a:solidFill>
            <a:srgbClr val="DCEEE4"/>
          </a:solidFill>
          <a:ln w="8890">
            <a:solidFill>
              <a:srgbClr val="297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lang="ja-JP">
                <a:solidFill>
                  <a:srgbClr val="29704A"/>
                </a:solidFill>
                <a:latin typeface="Noto Sans JP"/>
                <a:ea typeface="Noto Sans JP"/>
              </a:rPr>
              <a:t>今すぐ試せる操作</a:t>
            </a:r>
          </a:p>
        </p:txBody>
      </p:sp>
      <p:sp>
        <p:nvSpPr>
          <p:cNvPr id="6" name="Node: Original referenc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600200"/>
            <a:ext cx="2304288" cy="1097280"/>
          </a:xfrm>
          <a:prstGeom prst="roundRect">
            <a:avLst/>
          </a:prstGeom>
          <a:solidFill>
            <a:srgbClr val="E2E4F7"/>
          </a:solidFill>
          <a:ln w="15240">
            <a:solidFill>
              <a:srgbClr val="4E5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 Original reference"/>
          <p:cNvSpPr txBox="1"/>
          <p:nvPr/>
        </p:nvSpPr>
        <p:spPr>
          <a:xfrm>
            <a:off x="731520" y="1728216"/>
            <a:ext cx="20848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lang="ja-JP">
                <a:solidFill>
                  <a:srgbClr val="4E51A8"/>
                </a:solidFill>
                <a:latin typeface="Noto Sans JP"/>
                <a:ea typeface="Noto Sans JP"/>
              </a:rPr>
              <a:t>Original reference</a:t>
            </a:r>
          </a:p>
        </p:txBody>
      </p:sp>
      <p:sp>
        <p:nvSpPr>
          <p:cNvPr id="8" name="Text: 過去の参照状態"/>
          <p:cNvSpPr txBox="1"/>
          <p:nvPr/>
        </p:nvSpPr>
        <p:spPr>
          <a:xfrm>
            <a:off x="713232" y="2103120"/>
            <a:ext cx="2121408" cy="5029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lang="ja-JP">
                <a:solidFill>
                  <a:srgbClr val="13202B"/>
                </a:solidFill>
                <a:latin typeface="Noto Sans JP"/>
                <a:ea typeface="Noto Sans JP"/>
              </a:rPr>
              <a:t>過去の参照状態</a:t>
            </a:r>
          </a:p>
        </p:txBody>
      </p:sp>
      <p:sp>
        <p:nvSpPr>
          <p:cNvPr id="9" name="Node: Current observ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520" y="1600200"/>
            <a:ext cx="2304288" cy="1097280"/>
          </a:xfrm>
          <a:prstGeom prst="roundRect">
            <a:avLst/>
          </a:prstGeom>
          <a:solidFill>
            <a:srgbClr val="D9EEEB"/>
          </a:solidFill>
          <a:ln w="15240">
            <a:solidFill>
              <a:srgbClr val="0B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Current observation"/>
          <p:cNvSpPr txBox="1"/>
          <p:nvPr/>
        </p:nvSpPr>
        <p:spPr>
          <a:xfrm>
            <a:off x="3127248" y="1728216"/>
            <a:ext cx="20848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lang="ja-JP">
                <a:solidFill>
                  <a:srgbClr val="0B6E69"/>
                </a:solidFill>
                <a:latin typeface="Noto Sans JP"/>
                <a:ea typeface="Noto Sans JP"/>
              </a:rPr>
              <a:t>Current observation</a:t>
            </a:r>
          </a:p>
        </p:txBody>
      </p:sp>
      <p:sp>
        <p:nvSpPr>
          <p:cNvPr id="11" name="Text: 現在観測した状態"/>
          <p:cNvSpPr txBox="1"/>
          <p:nvPr/>
        </p:nvSpPr>
        <p:spPr>
          <a:xfrm>
            <a:off x="3108960" y="2103120"/>
            <a:ext cx="2121408" cy="5029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lang="ja-JP">
                <a:solidFill>
                  <a:srgbClr val="13202B"/>
                </a:solidFill>
                <a:latin typeface="Noto Sans JP"/>
                <a:ea typeface="Noto Sans JP"/>
              </a:rPr>
              <a:t>現在観測した状態</a:t>
            </a:r>
          </a:p>
        </p:txBody>
      </p:sp>
      <p:sp>
        <p:nvSpPr>
          <p:cNvPr id="12" name="Node: 外部で用意した候補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3248" y="1600200"/>
            <a:ext cx="2304288" cy="1097280"/>
          </a:xfrm>
          <a:prstGeom prst="roundRect">
            <a:avLst/>
          </a:prstGeom>
          <a:solidFill>
            <a:srgbClr val="E8E1F3"/>
          </a:solidFill>
          <a:ln w="15240">
            <a:solidFill>
              <a:srgbClr val="744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外部で用意した候補"/>
          <p:cNvSpPr txBox="1"/>
          <p:nvPr/>
        </p:nvSpPr>
        <p:spPr>
          <a:xfrm>
            <a:off x="5522976" y="1728216"/>
            <a:ext cx="20848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lang="ja-JP">
                <a:solidFill>
                  <a:srgbClr val="74428A"/>
                </a:solidFill>
                <a:latin typeface="Noto Sans JP"/>
                <a:ea typeface="Noto Sans JP"/>
              </a:rPr>
              <a:t>外部で用意した候補</a:t>
            </a:r>
          </a:p>
        </p:txBody>
      </p:sp>
      <p:sp>
        <p:nvSpPr>
          <p:cNvPr id="14" name="Text: AI-attributed proposal&#10;("/>
          <p:cNvSpPr txBox="1"/>
          <p:nvPr/>
        </p:nvSpPr>
        <p:spPr>
          <a:xfrm>
            <a:off x="5504688" y="2103120"/>
            <a:ext cx="2121408" cy="5029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lang="ja-JP">
                <a:solidFill>
                  <a:srgbClr val="13202B"/>
                </a:solidFill>
                <a:latin typeface="Noto Sans JP"/>
                <a:ea typeface="Noto Sans JP"/>
              </a:rPr>
              <a:t>AI-attributed proposal</a:t>
            </a:r>
            <a:br/>
            <a:r>
              <a:rPr sz="1250" b="0" lang="ja-JP">
                <a:solidFill>
                  <a:srgbClr val="13202B"/>
                </a:solidFill>
                <a:latin typeface="Noto Sans JP"/>
                <a:ea typeface="Noto Sans JP"/>
              </a:rPr>
              <a:t>(caller-supplied)</a:t>
            </a:r>
          </a:p>
        </p:txBody>
      </p:sp>
      <p:sp>
        <p:nvSpPr>
          <p:cNvPr id="15" name="Chevron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36776" y="2724912"/>
            <a:ext cx="274320" cy="310896"/>
          </a:xfrm>
          <a:prstGeom prst="chevron">
            <a:avLst/>
          </a:prstGeom>
          <a:solidFill>
            <a:srgbClr val="7B8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32504" y="2724912"/>
            <a:ext cx="274320" cy="310896"/>
          </a:xfrm>
          <a:prstGeom prst="chevron">
            <a:avLst/>
          </a:prstGeom>
          <a:solidFill>
            <a:srgbClr val="7B8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28232" y="2724912"/>
            <a:ext cx="274320" cy="310896"/>
          </a:xfrm>
          <a:prstGeom prst="chevron">
            <a:avLst/>
          </a:prstGeom>
          <a:solidFill>
            <a:srgbClr val="7B8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ode: 記録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3090672"/>
            <a:ext cx="2194560" cy="1051560"/>
          </a:xfrm>
          <a:prstGeom prst="roundRect">
            <a:avLst/>
          </a:prstGeom>
          <a:solidFill>
            <a:srgbClr val="D9EEEB"/>
          </a:solidFill>
          <a:ln w="15240">
            <a:solidFill>
              <a:srgbClr val="0B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記録"/>
          <p:cNvSpPr txBox="1"/>
          <p:nvPr/>
        </p:nvSpPr>
        <p:spPr>
          <a:xfrm>
            <a:off x="731520" y="3218688"/>
            <a:ext cx="197510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lang="ja-JP">
                <a:solidFill>
                  <a:srgbClr val="0B6E69"/>
                </a:solidFill>
                <a:latin typeface="Noto Sans JP"/>
                <a:ea typeface="Noto Sans JP"/>
              </a:rPr>
              <a:t>記録</a:t>
            </a:r>
          </a:p>
        </p:txBody>
      </p:sp>
      <p:sp>
        <p:nvSpPr>
          <p:cNvPr id="20" name="Text: Observation Record&#10;byte "/>
          <p:cNvSpPr txBox="1"/>
          <p:nvPr/>
        </p:nvSpPr>
        <p:spPr>
          <a:xfrm>
            <a:off x="713232" y="3593591"/>
            <a:ext cx="2011679" cy="4571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lang="ja-JP">
                <a:solidFill>
                  <a:srgbClr val="13202B"/>
                </a:solidFill>
                <a:latin typeface="Noto Sans JP"/>
                <a:ea typeface="Noto Sans JP"/>
              </a:rPr>
              <a:t>Observation Record</a:t>
            </a:r>
            <a:br/>
            <a:r>
              <a:rPr sz="1250" b="0" lang="ja-JP">
                <a:solidFill>
                  <a:srgbClr val="13202B"/>
                </a:solidFill>
                <a:latin typeface="Noto Sans JP"/>
                <a:ea typeface="Noto Sans JP"/>
              </a:rPr>
              <a:t>byte OIDで保存</a:t>
            </a:r>
          </a:p>
        </p:txBody>
      </p:sp>
      <p:sp>
        <p:nvSpPr>
          <p:cNvPr id="21" name="Chevron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26080" y="3429000"/>
            <a:ext cx="310896" cy="384048"/>
          </a:xfrm>
          <a:prstGeom prst="chevron">
            <a:avLst/>
          </a:prstGeom>
          <a:solidFill>
            <a:srgbClr val="7B8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ode: byte identity比較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3090672"/>
            <a:ext cx="2615184" cy="1051560"/>
          </a:xfrm>
          <a:prstGeom prst="roundRect">
            <a:avLst/>
          </a:prstGeom>
          <a:solidFill>
            <a:srgbClr val="E7EAED"/>
          </a:solidFill>
          <a:ln w="15240">
            <a:solidFill>
              <a:srgbClr val="5E687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byte identity比較"/>
          <p:cNvSpPr txBox="1"/>
          <p:nvPr/>
        </p:nvSpPr>
        <p:spPr>
          <a:xfrm>
            <a:off x="3401568" y="3218688"/>
            <a:ext cx="239572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lang="ja-JP">
                <a:solidFill>
                  <a:srgbClr val="5E6873"/>
                </a:solidFill>
                <a:latin typeface="Noto Sans JP"/>
                <a:ea typeface="Noto Sans JP"/>
              </a:rPr>
              <a:t>byte identity比較</a:t>
            </a:r>
          </a:p>
        </p:txBody>
      </p:sp>
      <p:sp>
        <p:nvSpPr>
          <p:cNvPr id="24" name="Text: 主Blob OID一致／不一致のみ&#10;(pixel"/>
          <p:cNvSpPr txBox="1"/>
          <p:nvPr/>
        </p:nvSpPr>
        <p:spPr>
          <a:xfrm>
            <a:off x="3383280" y="3593591"/>
            <a:ext cx="2432303" cy="4571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lang="ja-JP">
                <a:solidFill>
                  <a:srgbClr val="13202B"/>
                </a:solidFill>
                <a:latin typeface="Noto Sans JP"/>
                <a:ea typeface="Noto Sans JP"/>
              </a:rPr>
              <a:t>主Blob OID一致／不一致のみ</a:t>
            </a:r>
            <a:br/>
            <a:r>
              <a:rPr sz="1250" b="0" lang="ja-JP">
                <a:solidFill>
                  <a:srgbClr val="13202B"/>
                </a:solidFill>
                <a:latin typeface="Noto Sans JP"/>
                <a:ea typeface="Noto Sans JP"/>
              </a:rPr>
              <a:t>(pixel・EXIFは見ない)</a:t>
            </a:r>
          </a:p>
        </p:txBody>
      </p:sp>
      <p:sp>
        <p:nvSpPr>
          <p:cNvPr id="25" name="Chevron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16752" y="3429000"/>
            <a:ext cx="310896" cy="384048"/>
          </a:xfrm>
          <a:prstGeom prst="chevron">
            <a:avLst/>
          </a:prstGeom>
          <a:solidFill>
            <a:srgbClr val="7B8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人が判断" title="人が判断" descr="Adopt・Reject・Deferのいずれかを人が選ぶ。SynapseGitはモデルを呼ばず、実行しない"/>
          <p:cNvSpPr/>
          <p:nvPr/>
        </p:nvSpPr>
        <p:spPr>
          <a:xfrm>
            <a:off x="6455664" y="3090672"/>
            <a:ext cx="1920240" cy="1051560"/>
          </a:xfrm>
          <a:prstGeom prst="hexagon">
            <a:avLst/>
          </a:prstGeom>
          <a:solidFill>
            <a:srgbClr val="F3E3C7"/>
          </a:solidFill>
          <a:ln w="30480">
            <a:solidFill>
              <a:srgbClr val="8C4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人が判断"/>
          <p:cNvSpPr txBox="1"/>
          <p:nvPr/>
        </p:nvSpPr>
        <p:spPr>
          <a:xfrm>
            <a:off x="6583680" y="3236976"/>
            <a:ext cx="16642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lang="ja-JP">
                <a:solidFill>
                  <a:srgbClr val="8C4A12"/>
                </a:solidFill>
                <a:latin typeface="Noto Sans JP"/>
                <a:ea typeface="Noto Sans JP"/>
              </a:rPr>
              <a:t>人が判断</a:t>
            </a:r>
          </a:p>
        </p:txBody>
      </p:sp>
      <p:sp>
        <p:nvSpPr>
          <p:cNvPr id="28" name="Text: Adopt／Reject／Defer"/>
          <p:cNvSpPr txBox="1"/>
          <p:nvPr/>
        </p:nvSpPr>
        <p:spPr>
          <a:xfrm>
            <a:off x="6583680" y="3566160"/>
            <a:ext cx="1664208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lang="ja-JP">
                <a:solidFill>
                  <a:srgbClr val="13202B"/>
                </a:solidFill>
                <a:latin typeface="Noto Sans JP"/>
                <a:ea typeface="Noto Sans JP"/>
              </a:rPr>
              <a:t>Adopt／Reject／Defer</a:t>
            </a:r>
          </a:p>
        </p:txBody>
      </p:sp>
      <p:sp>
        <p:nvSpPr>
          <p:cNvPr id="29" name="Chevron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03920" y="3429000"/>
            <a:ext cx="310896" cy="384048"/>
          </a:xfrm>
          <a:prstGeom prst="chevron">
            <a:avLst/>
          </a:prstGeom>
          <a:solidFill>
            <a:srgbClr val="7B8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: creator-repor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0" y="1600200"/>
            <a:ext cx="2615184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ccent: creator-repor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25712" y="1764792"/>
            <a:ext cx="128016" cy="539496"/>
          </a:xfrm>
          <a:prstGeom prst="roundRect">
            <a:avLst/>
          </a:prstGeom>
          <a:solidFill>
            <a:srgbClr val="8C4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creator-report"/>
          <p:cNvSpPr txBox="1"/>
          <p:nvPr/>
        </p:nvSpPr>
        <p:spPr>
          <a:xfrm>
            <a:off x="9400032" y="1728216"/>
            <a:ext cx="199339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lang="ja-JP">
                <a:solidFill>
                  <a:srgbClr val="8C450E"/>
                </a:solidFill>
                <a:latin typeface="Noto Sans JP"/>
                <a:ea typeface="Noto Sans JP"/>
              </a:rPr>
              <a:t>creator-report</a:t>
            </a:r>
          </a:p>
        </p:txBody>
      </p:sp>
      <p:sp>
        <p:nvSpPr>
          <p:cNvPr id="33" name="Text: CLI出力"/>
          <p:cNvSpPr txBox="1"/>
          <p:nvPr/>
        </p:nvSpPr>
        <p:spPr>
          <a:xfrm>
            <a:off x="9400032" y="2130552"/>
            <a:ext cx="199339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CLI出力</a:t>
            </a:r>
          </a:p>
        </p:txBody>
      </p:sp>
      <p:sp>
        <p:nvSpPr>
          <p:cNvPr id="34" name="Card: localhost U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0" y="2578608"/>
            <a:ext cx="2615184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ccent: localhost U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25712" y="2743200"/>
            <a:ext cx="128016" cy="539496"/>
          </a:xfrm>
          <a:prstGeom prst="round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localhost UI"/>
          <p:cNvSpPr txBox="1"/>
          <p:nvPr/>
        </p:nvSpPr>
        <p:spPr>
          <a:xfrm>
            <a:off x="9400032" y="2706624"/>
            <a:ext cx="199339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lang="ja-JP">
                <a:solidFill>
                  <a:srgbClr val="0B6E69"/>
                </a:solidFill>
                <a:latin typeface="Noto Sans JP"/>
                <a:ea typeface="Noto Sans JP"/>
              </a:rPr>
              <a:t>localhost UI</a:t>
            </a:r>
          </a:p>
        </p:txBody>
      </p:sp>
      <p:sp>
        <p:nvSpPr>
          <p:cNvPr id="37" name="Text: pending／完了画面"/>
          <p:cNvSpPr txBox="1"/>
          <p:nvPr/>
        </p:nvSpPr>
        <p:spPr>
          <a:xfrm>
            <a:off x="9400032" y="3108960"/>
            <a:ext cx="199339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pending／完了画面</a:t>
            </a:r>
          </a:p>
        </p:txBody>
      </p:sp>
      <p:sp>
        <p:nvSpPr>
          <p:cNvPr id="38" name="Card: publication vie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0" y="3557016"/>
            <a:ext cx="2615184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ccent: publication vie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25712" y="3721608"/>
            <a:ext cx="128016" cy="539496"/>
          </a:xfrm>
          <a:prstGeom prst="roundRect">
            <a:avLst/>
          </a:prstGeom>
          <a:solidFill>
            <a:srgbClr val="29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publication view"/>
          <p:cNvSpPr txBox="1"/>
          <p:nvPr/>
        </p:nvSpPr>
        <p:spPr>
          <a:xfrm>
            <a:off x="9400032" y="3685032"/>
            <a:ext cx="199339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lang="ja-JP">
                <a:solidFill>
                  <a:srgbClr val="29704A"/>
                </a:solidFill>
                <a:latin typeface="Noto Sans JP"/>
                <a:ea typeface="Noto Sans JP"/>
              </a:rPr>
              <a:t>publication view</a:t>
            </a:r>
          </a:p>
        </p:txBody>
      </p:sp>
      <p:sp>
        <p:nvSpPr>
          <p:cNvPr id="41" name="Text: ローカル生成のみ"/>
          <p:cNvSpPr txBox="1"/>
          <p:nvPr/>
        </p:nvSpPr>
        <p:spPr>
          <a:xfrm>
            <a:off x="9400032" y="4087368"/>
            <a:ext cx="199339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ローカル生成のみ</a:t>
            </a:r>
          </a:p>
        </p:txBody>
      </p:sp>
      <p:cxnSp>
        <p:nvCxnSpPr>
          <p:cNvPr id="42" name="Connector 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8375904" y="2034540"/>
            <a:ext cx="585216" cy="1581912"/>
          </a:xfrm>
          <a:prstGeom prst="line">
            <a:avLst/>
          </a:prstGeom>
          <a:ln w="17780">
            <a:solidFill>
              <a:srgbClr val="7B8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8375904" y="3012948"/>
            <a:ext cx="585216" cy="603504"/>
          </a:xfrm>
          <a:prstGeom prst="line">
            <a:avLst/>
          </a:prstGeom>
          <a:ln w="17780">
            <a:solidFill>
              <a:srgbClr val="7B8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375904" y="3616452"/>
            <a:ext cx="585216" cy="374904"/>
          </a:xfrm>
          <a:prstGeom prst="line">
            <a:avLst/>
          </a:prstGeom>
          <a:ln w="17780">
            <a:solidFill>
              <a:srgbClr val="7B8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26280"/>
            <a:ext cx="109728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" y="4617720"/>
            <a:ext cx="10515600" cy="7680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50" b="1" lang="ja-JP">
                <a:solidFill>
                  <a:srgbClr val="8C4A12"/>
                </a:solidFill>
                <a:latin typeface="Noto Sans JP"/>
                <a:ea typeface="Noto Sans JP"/>
              </a:rPr>
              <a:t>候補は誰が用意する？　</a:t>
            </a:r>
            <a:r>
              <a:rPr sz="1250" b="0" lang="ja-JP">
                <a:solidFill>
                  <a:srgbClr val="13202B"/>
                </a:solidFill>
                <a:latin typeface="Noto Sans JP"/>
                <a:ea typeface="Noto Sans JP"/>
              </a:rPr>
              <a:t>利用者が外部ツールで用意する。SynapseGitはmodelを呼ばず、自動実行しない。
</a:t>
            </a:r>
            <a:r>
              <a:rPr sz="1250" b="1" lang="ja-JP">
                <a:solidFill>
                  <a:srgbClr val="8C4A12"/>
                </a:solidFill>
                <a:latin typeface="Noto Sans JP"/>
                <a:ea typeface="Noto Sans JP"/>
              </a:rPr>
              <a:t>誰が決める？　</a:t>
            </a:r>
            <a:r>
              <a:rPr sz="1250" b="0" lang="ja-JP">
                <a:solidFill>
                  <a:srgbClr val="13202B"/>
                </a:solidFill>
                <a:latin typeface="Noto Sans JP"/>
                <a:ea typeface="Noto Sans JP"/>
              </a:rPr>
              <a:t>人だけ。Deferもその1回のDecisionを完了する（改めて判断するには別セッションを作る）。
</a:t>
            </a:r>
            <a:r>
              <a:rPr sz="1250" b="1" lang="ja-JP">
                <a:solidFill>
                  <a:srgbClr val="8C4A12"/>
                </a:solidFill>
                <a:latin typeface="Noto Sans JP"/>
                <a:ea typeface="Noto Sans JP"/>
              </a:rPr>
              <a:t>何を比較する？　</a:t>
            </a:r>
            <a:r>
              <a:rPr sz="1250" b="0" lang="ja-JP">
                <a:solidFill>
                  <a:srgbClr val="13202B"/>
                </a:solidFill>
                <a:latin typeface="Noto Sans JP"/>
                <a:ea typeface="Noto Sans JP"/>
              </a:rPr>
              <a:t>主Blob OIDのbyte一致のみ。位置合わせ・pixel差分・意味解釈は行わない。</a:t>
            </a:r>
          </a:p>
        </p:txBody>
      </p:sp>
      <p:sp>
        <p:nvSpPr>
          <p:cNvPr id="47" name="Text: しないこと：AIの自動実行・自動採否／画像の意味"/>
          <p:cNvSpPr txBox="1"/>
          <p:nvPr/>
        </p:nvSpPr>
        <p:spPr>
          <a:xfrm>
            <a:off x="658368" y="5541264"/>
            <a:ext cx="10881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lang="ja-JP">
                <a:solidFill>
                  <a:srgbClr val="A13A31"/>
                </a:solidFill>
                <a:latin typeface="Noto Sans JP"/>
                <a:ea typeface="Noto Sans JP"/>
              </a:rPr>
              <a:t>しないこと：AIの自動実行・自動採否／画像の意味解析・作者証明／pixel-levelの視覚差分</a:t>
            </a:r>
          </a:p>
        </p:txBody>
      </p:sp>
      <p:sp>
        <p:nvSpPr>
          <p:cNvPr id="48" name="Text: 詳しい手順: 15分 壁画tutorial"/>
          <p:cNvSpPr txBox="1"/>
          <p:nvPr/>
        </p:nvSpPr>
        <p:spPr>
          <a:xfrm>
            <a:off x="658368" y="5852160"/>
            <a:ext cx="10881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lang="ja-JP">
                <a:solidFill>
                  <a:srgbClr val="5E6873"/>
                </a:solidFill>
                <a:latin typeface="Noto Sans JP"/>
                <a:ea typeface="Noto Sans JP"/>
                <a:hlinkClick r:id="rId2"/>
              </a:rPr>
              <a:t>詳しい手順: 15分 壁画tutorial</a:t>
            </a:r>
          </a:p>
        </p:txBody>
      </p:sp>
      <p:cxnSp>
        <p:nvCxnSpPr>
          <p:cNvPr id="49" name="Connector 4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85216" y="6446520"/>
            <a:ext cx="11009376" cy="0"/>
          </a:xfrm>
          <a:prstGeom prst="line">
            <a:avLst/>
          </a:prstGeom>
          <a:ln w="8890">
            <a:solidFill>
              <a:srgbClr val="7B8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: Concept · v0.9.0 · 確認日 2"/>
          <p:cNvSpPr txBox="1"/>
          <p:nvPr/>
        </p:nvSpPr>
        <p:spPr>
          <a:xfrm>
            <a:off x="585216" y="6492240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lang="ja-JP">
                <a:solidFill>
                  <a:srgbClr val="5E6873"/>
                </a:solidFill>
                <a:latin typeface="Noto Sans JP"/>
                <a:ea typeface="Noto Sans JP"/>
                <a:hlinkClick r:id="rId3"/>
              </a:rPr>
              <a:t>Concept · v0.9.0 · 確認日 2026-09-27</a:t>
            </a:r>
          </a:p>
        </p:txBody>
      </p:sp>
      <p:sp>
        <p:nvSpPr>
          <p:cNvPr id="51" name="Text: Creator workflow §§1-3 ·"/>
          <p:cNvSpPr txBox="1"/>
          <p:nvPr/>
        </p:nvSpPr>
        <p:spPr>
          <a:xfrm>
            <a:off x="3429000" y="6492240"/>
            <a:ext cx="7223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lang="ja-JP">
                <a:solidFill>
                  <a:srgbClr val="5E6873"/>
                </a:solidFill>
                <a:latin typeface="Noto Sans JP"/>
                <a:ea typeface="Noto Sans JP"/>
              </a:rPr>
              <a:t>Creator workflow §§1-3 · core_model.md · tutorial/README.ja.md</a:t>
            </a:r>
          </a:p>
        </p:txBody>
      </p:sp>
      <p:sp>
        <p:nvSpPr>
          <p:cNvPr id="52" name="Text: 04"/>
          <p:cNvSpPr txBox="1"/>
          <p:nvPr/>
        </p:nvSpPr>
        <p:spPr>
          <a:xfrm>
            <a:off x="11137392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lang="ja-JP">
                <a:solidFill>
                  <a:srgbClr val="5E6873"/>
                </a:solidFill>
                <a:latin typeface="Noto Sans JP"/>
                <a:ea typeface="Noto Sans JP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: 画家・壁画家 — 塗り重ねの「なぜ」を残す"/>
          <p:cNvSpPr>
            <a:spLocks noGrp="1"/>
          </p:cNvSpPr>
          <p:nvPr>
            <p:ph type="title"/>
          </p:nvPr>
        </p:nvSpPr>
        <p:spPr>
          <a:xfrm>
            <a:off x="585216" y="621792"/>
            <a:ext cx="10972800" cy="566928"/>
          </a:xfrm>
        </p:spPr>
        <p:txBody>
          <a:bodyPr wrap="square" lIns="18288" rIns="18288" tIns="18288" bIns="18288"/>
          <a:lstStyle/>
          <a:p>
            <a:pPr algn="l"/>
            <a:r>
              <a:rPr sz="2800" b="1" lang="ja-JP">
                <a:solidFill>
                  <a:srgbClr val="13202B"/>
                </a:solidFill>
                <a:latin typeface="Noto Sans JP"/>
                <a:ea typeface="Noto Sans JP"/>
              </a:rPr>
              <a:t>画家・壁画家 — 塗り重ねの「なぜ」を残す</a:t>
            </a:r>
          </a:p>
        </p:txBody>
      </p:sp>
      <p:sp>
        <p:nvSpPr>
          <p:cNvPr id="3" name="Text: SCENARIO 01"/>
          <p:cNvSpPr txBox="1"/>
          <p:nvPr/>
        </p:nvSpPr>
        <p:spPr>
          <a:xfrm>
            <a:off x="585216" y="320040"/>
            <a:ext cx="2651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lang="ja-JP">
                <a:solidFill>
                  <a:srgbClr val="0B6E69"/>
                </a:solidFill>
                <a:latin typeface="Noto Sans JP"/>
                <a:ea typeface="Noto Sans JP"/>
              </a:rPr>
              <a:t>SCENARIO 01</a:t>
            </a:r>
          </a:p>
        </p:txBody>
      </p:sp>
      <p:sp>
        <p:nvSpPr>
          <p:cNvPr id="4" name="Text: 同じ視点の前後を比べ、差分候補へ人が意味を付ける"/>
          <p:cNvSpPr txBox="1"/>
          <p:nvPr/>
        </p:nvSpPr>
        <p:spPr>
          <a:xfrm>
            <a:off x="603504" y="1170432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lang="ja-JP">
                <a:solidFill>
                  <a:srgbClr val="5E6873"/>
                </a:solidFill>
                <a:latin typeface="Noto Sans JP"/>
                <a:ea typeface="Noto Sans JP"/>
              </a:rPr>
              <a:t>同じ視点の前後を比べ、差分候補へ人が意味を付ける</a:t>
            </a:r>
          </a:p>
        </p:txBody>
      </p:sp>
      <p:sp>
        <p:nvSpPr>
          <p:cNvPr id="5" name="Text: 制作前 Capture"/>
          <p:cNvSpPr txBox="1"/>
          <p:nvPr/>
        </p:nvSpPr>
        <p:spPr>
          <a:xfrm>
            <a:off x="658368" y="1417320"/>
            <a:ext cx="2468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lang="ja-JP">
                <a:solidFill>
                  <a:srgbClr val="0B6E69"/>
                </a:solidFill>
                <a:latin typeface="Noto Sans JP"/>
                <a:ea typeface="Noto Sans JP"/>
              </a:rPr>
              <a:t>制作前 Capture</a:t>
            </a:r>
          </a:p>
        </p:txBody>
      </p:sp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773936"/>
            <a:ext cx="2359152" cy="1993392"/>
          </a:xfrm>
          <a:prstGeom prst="rect">
            <a:avLst/>
          </a:prstGeom>
          <a:solidFill>
            <a:srgbClr val="EFE9DE"/>
          </a:solidFill>
          <a:ln w="15240">
            <a:solidFill>
              <a:srgbClr val="B6AA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7552" y="2157984"/>
            <a:ext cx="1389888" cy="1097280"/>
          </a:xfrm>
          <a:prstGeom prst="arc">
            <a:avLst/>
          </a:prstGeom>
          <a:solidFill>
            <a:srgbClr val="E2E4F7"/>
          </a:solidFill>
          <a:ln w="15240">
            <a:solidFill>
              <a:srgbClr val="4E5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9112" y="2139696"/>
            <a:ext cx="676656" cy="676656"/>
          </a:xfrm>
          <a:prstGeom prst="ellipse">
            <a:avLst/>
          </a:prstGeom>
          <a:solidFill>
            <a:srgbClr val="F3E3C7"/>
          </a:solidFill>
          <a:ln w="12700">
            <a:solidFill>
              <a:srgbClr val="8C4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av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8992" y="2916936"/>
            <a:ext cx="1609344" cy="512064"/>
          </a:xfrm>
          <a:prstGeom prst="wave">
            <a:avLst/>
          </a:prstGeom>
          <a:solidFill>
            <a:srgbClr val="D9EEEB"/>
          </a:solidFill>
          <a:ln w="12700">
            <a:solidFill>
              <a:srgbClr val="0B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制作 Session"/>
          <p:cNvSpPr txBox="1"/>
          <p:nvPr/>
        </p:nvSpPr>
        <p:spPr>
          <a:xfrm>
            <a:off x="3703320" y="1417320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lang="ja-JP">
                <a:solidFill>
                  <a:srgbClr val="8C450E"/>
                </a:solidFill>
                <a:latin typeface="Noto Sans JP"/>
                <a:ea typeface="Noto Sans JP"/>
              </a:rPr>
              <a:t>制作 Session</a:t>
            </a:r>
          </a:p>
        </p:txBody>
      </p:sp>
      <p:sp>
        <p:nvSpPr>
          <p:cNvPr id="11" name="Rounded 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67328" y="1773936"/>
            <a:ext cx="2084831" cy="1993392"/>
          </a:xfrm>
          <a:prstGeom prst="roundRect">
            <a:avLst/>
          </a:prstGeom>
          <a:solidFill>
            <a:srgbClr val="F5E4D4"/>
          </a:solidFill>
          <a:ln w="15240">
            <a:solidFill>
              <a:srgbClr val="8C45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描く&#10;塗り重ねる"/>
          <p:cNvSpPr txBox="1"/>
          <p:nvPr/>
        </p:nvSpPr>
        <p:spPr>
          <a:xfrm>
            <a:off x="4050791" y="1975104"/>
            <a:ext cx="15087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lang="ja-JP">
                <a:solidFill>
                  <a:srgbClr val="8C450E"/>
                </a:solidFill>
                <a:latin typeface="Noto Sans JP"/>
                <a:ea typeface="Noto Sans JP"/>
              </a:rPr>
              <a:t>描く</a:t>
            </a:r>
            <a:br/>
            <a:r>
              <a:rPr sz="1900" b="1" lang="ja-JP">
                <a:solidFill>
                  <a:srgbClr val="8C450E"/>
                </a:solidFill>
                <a:latin typeface="Noto Sans JP"/>
                <a:ea typeface="Noto Sans JP"/>
              </a:rPr>
              <a:t>塗り重ねる</a:t>
            </a:r>
          </a:p>
        </p:txBody>
      </p:sp>
      <p:sp>
        <p:nvSpPr>
          <p:cNvPr id="13" name="任意の一言・音声" title="任意の一言・音声" descr="任意の一言・音声"/>
          <p:cNvSpPr/>
          <p:nvPr/>
        </p:nvSpPr>
        <p:spPr>
          <a:xfrm>
            <a:off x="3968496" y="2907792"/>
            <a:ext cx="1682496" cy="3840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8C45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lang="ja-JP">
                <a:solidFill>
                  <a:srgbClr val="8C450E"/>
                </a:solidFill>
                <a:latin typeface="Noto Sans JP"/>
                <a:ea typeface="Noto Sans JP"/>
              </a:rPr>
              <a:t>任意の一言・音声</a:t>
            </a:r>
          </a:p>
        </p:txBody>
      </p:sp>
      <p:sp>
        <p:nvSpPr>
          <p:cNvPr id="14" name="Chevron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3824" y="2523744"/>
            <a:ext cx="384048" cy="475488"/>
          </a:xfrm>
          <a:prstGeom prst="chevron">
            <a:avLst/>
          </a:prstGeom>
          <a:solidFill>
            <a:srgbClr val="7B8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16752" y="2523744"/>
            <a:ext cx="384048" cy="475488"/>
          </a:xfrm>
          <a:prstGeom prst="chevron">
            <a:avLst/>
          </a:prstGeom>
          <a:solidFill>
            <a:srgbClr val="7B8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制作後 Capture"/>
          <p:cNvSpPr txBox="1"/>
          <p:nvPr/>
        </p:nvSpPr>
        <p:spPr>
          <a:xfrm>
            <a:off x="6446520" y="1417320"/>
            <a:ext cx="2468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lang="ja-JP">
                <a:solidFill>
                  <a:srgbClr val="0B6E69"/>
                </a:solidFill>
                <a:latin typeface="Noto Sans JP"/>
                <a:ea typeface="Noto Sans JP"/>
              </a:rPr>
              <a:t>制作後 Capture</a:t>
            </a:r>
          </a:p>
        </p:txBody>
      </p:sp>
      <p:sp>
        <p:nvSpPr>
          <p:cNvPr id="17" name="Rectangl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2240" y="1773936"/>
            <a:ext cx="2359152" cy="1993392"/>
          </a:xfrm>
          <a:prstGeom prst="rect">
            <a:avLst/>
          </a:prstGeom>
          <a:solidFill>
            <a:srgbClr val="EFE9DE"/>
          </a:solidFill>
          <a:ln w="15240">
            <a:solidFill>
              <a:srgbClr val="B6AA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rc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59" y="2157984"/>
            <a:ext cx="1389888" cy="1097280"/>
          </a:xfrm>
          <a:prstGeom prst="arc">
            <a:avLst/>
          </a:prstGeom>
          <a:solidFill>
            <a:srgbClr val="E2E4F7"/>
          </a:solidFill>
          <a:ln w="15240">
            <a:solidFill>
              <a:srgbClr val="4E5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8119" y="2139696"/>
            <a:ext cx="676656" cy="676656"/>
          </a:xfrm>
          <a:prstGeom prst="ellipse">
            <a:avLst/>
          </a:prstGeom>
          <a:solidFill>
            <a:srgbClr val="F3E3C7"/>
          </a:solidFill>
          <a:ln w="12700">
            <a:solidFill>
              <a:srgbClr val="8C4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Wav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2916936"/>
            <a:ext cx="1609344" cy="512064"/>
          </a:xfrm>
          <a:prstGeom prst="wave">
            <a:avLst/>
          </a:prstGeom>
          <a:solidFill>
            <a:srgbClr val="D9EEEB"/>
          </a:solidFill>
          <a:ln w="12700">
            <a:solidFill>
              <a:srgbClr val="0B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loud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79" y="2615184"/>
            <a:ext cx="786384" cy="676656"/>
          </a:xfrm>
          <a:prstGeom prst="cloud">
            <a:avLst/>
          </a:prstGeom>
          <a:solidFill>
            <a:srgbClr val="F5DEDB"/>
          </a:solidFill>
          <a:ln w="25400">
            <a:solidFill>
              <a:srgbClr val="A1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差分候補" title="差分候補" descr="差分候補"/>
          <p:cNvSpPr/>
          <p:nvPr/>
        </p:nvSpPr>
        <p:spPr>
          <a:xfrm>
            <a:off x="7534656" y="3145536"/>
            <a:ext cx="1170432" cy="310896"/>
          </a:xfrm>
          <a:prstGeom prst="roundRect">
            <a:avLst/>
          </a:prstGeom>
          <a:solidFill>
            <a:srgbClr val="F5DEDB"/>
          </a:solidFill>
          <a:ln w="8890">
            <a:solidFill>
              <a:srgbClr val="A1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lang="ja-JP">
                <a:solidFill>
                  <a:srgbClr val="A13A31"/>
                </a:solidFill>
                <a:latin typeface="Noto Sans JP"/>
                <a:ea typeface="Noto Sans JP"/>
              </a:rPr>
              <a:t>差分候補</a:t>
            </a:r>
          </a:p>
        </p:txBody>
      </p:sp>
      <p:sp>
        <p:nvSpPr>
          <p:cNvPr id="23" name="Card: すぐ返るもの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89720" y="1572768"/>
            <a:ext cx="2359152" cy="2377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ccent: すぐ返るもの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54312" y="1737360"/>
            <a:ext cx="128016" cy="2048256"/>
          </a:xfrm>
          <a:prstGeom prst="roundRect">
            <a:avLst/>
          </a:prstGeom>
          <a:solidFill>
            <a:srgbClr val="29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すぐ返るもの"/>
          <p:cNvSpPr txBox="1"/>
          <p:nvPr/>
        </p:nvSpPr>
        <p:spPr>
          <a:xfrm>
            <a:off x="9628632" y="1700784"/>
            <a:ext cx="1737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lang="ja-JP">
                <a:solidFill>
                  <a:srgbClr val="29704A"/>
                </a:solidFill>
                <a:latin typeface="Noto Sans JP"/>
                <a:ea typeface="Noto Sans JP"/>
              </a:rPr>
              <a:t>すぐ返るもの</a:t>
            </a:r>
          </a:p>
        </p:txBody>
      </p:sp>
      <p:sp>
        <p:nvSpPr>
          <p:cNvPr id="26" name="Text: 前後比較&#10;差分候補&#10;制作process pack"/>
          <p:cNvSpPr txBox="1"/>
          <p:nvPr/>
        </p:nvSpPr>
        <p:spPr>
          <a:xfrm>
            <a:off x="9628632" y="2103120"/>
            <a:ext cx="173736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前後比較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差分候補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制作process pack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未採用案の再利用</a:t>
            </a:r>
          </a:p>
        </p:txBody>
      </p:sp>
      <p:sp>
        <p:nvSpPr>
          <p:cNvPr id="27" name="Text: 色・構図案を分ける"/>
          <p:cNvSpPr txBox="1"/>
          <p:nvPr/>
        </p:nvSpPr>
        <p:spPr>
          <a:xfrm>
            <a:off x="749808" y="4078224"/>
            <a:ext cx="20116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lang="ja-JP">
                <a:solidFill>
                  <a:srgbClr val="74428A"/>
                </a:solidFill>
                <a:latin typeface="Noto Sans JP"/>
                <a:ea typeface="Noto Sans JP"/>
              </a:rPr>
              <a:t>色・構図案を分ける</a:t>
            </a:r>
          </a:p>
        </p:txBody>
      </p:sp>
      <p:cxnSp>
        <p:nvCxnSpPr>
          <p:cNvPr id="28" name="Connector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005840" y="4791456"/>
            <a:ext cx="2240280" cy="0"/>
          </a:xfrm>
          <a:prstGeom prst="line">
            <a:avLst/>
          </a:prstGeom>
          <a:ln w="25400">
            <a:solidFill>
              <a:srgbClr val="7442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1874519" y="4416552"/>
            <a:ext cx="777241" cy="374904"/>
          </a:xfrm>
          <a:prstGeom prst="line">
            <a:avLst/>
          </a:prstGeom>
          <a:ln w="19050">
            <a:solidFill>
              <a:srgbClr val="7442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874519" y="4791456"/>
            <a:ext cx="777241" cy="374904"/>
          </a:xfrm>
          <a:prstGeom prst="line">
            <a:avLst/>
          </a:prstGeom>
          <a:ln w="19050">
            <a:solidFill>
              <a:srgbClr val="7442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採用した色案" title="採用した色案" descr="採用した色案"/>
          <p:cNvSpPr/>
          <p:nvPr/>
        </p:nvSpPr>
        <p:spPr>
          <a:xfrm>
            <a:off x="2770632" y="4233672"/>
            <a:ext cx="1463040" cy="384048"/>
          </a:xfrm>
          <a:prstGeom prst="roundRect">
            <a:avLst/>
          </a:prstGeom>
          <a:solidFill>
            <a:srgbClr val="DCEEE4"/>
          </a:solidFill>
          <a:ln w="8890">
            <a:solidFill>
              <a:srgbClr val="297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lang="ja-JP">
                <a:solidFill>
                  <a:srgbClr val="29704A"/>
                </a:solidFill>
                <a:latin typeface="Noto Sans JP"/>
                <a:ea typeface="Noto Sans JP"/>
              </a:rPr>
              <a:t>採用した色案</a:t>
            </a:r>
          </a:p>
        </p:txBody>
      </p:sp>
      <p:sp>
        <p:nvSpPr>
          <p:cNvPr id="32" name="保留・未採用案" title="保留・未採用案" descr="保留・未採用案"/>
          <p:cNvSpPr/>
          <p:nvPr/>
        </p:nvSpPr>
        <p:spPr>
          <a:xfrm>
            <a:off x="2770632" y="5010912"/>
            <a:ext cx="1691640" cy="384048"/>
          </a:xfrm>
          <a:prstGeom prst="roundRect">
            <a:avLst/>
          </a:prstGeom>
          <a:solidFill>
            <a:srgbClr val="E8E1F3"/>
          </a:solidFill>
          <a:ln w="8890">
            <a:solidFill>
              <a:srgbClr val="744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lang="ja-JP">
                <a:solidFill>
                  <a:srgbClr val="74428A"/>
                </a:solidFill>
                <a:latin typeface="Noto Sans JP"/>
                <a:ea typeface="Noto Sans JP"/>
              </a:rPr>
              <a:t>保留・未採用案</a:t>
            </a:r>
          </a:p>
        </p:txBody>
      </p:sp>
      <p:sp>
        <p:nvSpPr>
          <p:cNvPr id="33" name="Rounded Rectangle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4169663"/>
            <a:ext cx="6821424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6048" y="4370832"/>
            <a:ext cx="6327648" cy="8686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 lang="ja-JP">
                <a:solidFill>
                  <a:srgbClr val="8C4A12"/>
                </a:solidFill>
                <a:latin typeface="Noto Sans JP"/>
                <a:ea typeface="Noto Sans JP"/>
              </a:rPr>
              <a:t>人が残す意味　</a:t>
            </a: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「この変化を採用」「偶然を残す」「まだ不明」
</a:t>
            </a:r>
            <a:r>
              <a:rPr sz="1400" b="1" lang="ja-JP">
                <a:solidFill>
                  <a:srgbClr val="A13A31"/>
                </a:solidFill>
                <a:latin typeface="Noto Sans JP"/>
                <a:ea typeface="Noto Sans JP"/>
              </a:rPr>
              <a:t>しないこと　</a:t>
            </a: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差分量を創造性・努力の点数にしない／画像から作者を特定しない</a:t>
            </a:r>
          </a:p>
        </p:txBody>
      </p:sp>
      <p:sp>
        <p:nvSpPr>
          <p:cNvPr id="35" name="Status: n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577840"/>
            <a:ext cx="5431536" cy="786384"/>
          </a:xfrm>
          <a:prstGeom prst="roundRect">
            <a:avLst/>
          </a:prstGeom>
          <a:solidFill>
            <a:srgbClr val="DCEEE4"/>
          </a:solidFill>
          <a:ln w="12700">
            <a:solidFill>
              <a:srgbClr val="297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tatus: pla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3056" y="5577840"/>
            <a:ext cx="5431536" cy="786384"/>
          </a:xfrm>
          <a:prstGeom prst="roundRect">
            <a:avLst/>
          </a:prstGeom>
          <a:solidFill>
            <a:srgbClr val="F5E4D4"/>
          </a:solidFill>
          <a:ln w="12700">
            <a:solidFill>
              <a:srgbClr val="8C45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今すぐ試せる（v0.9.0）"/>
          <p:cNvSpPr txBox="1"/>
          <p:nvPr/>
        </p:nvSpPr>
        <p:spPr>
          <a:xfrm>
            <a:off x="768096" y="5632703"/>
            <a:ext cx="51572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lang="ja-JP">
                <a:solidFill>
                  <a:srgbClr val="29704A"/>
                </a:solidFill>
                <a:latin typeface="Noto Sans JP"/>
                <a:ea typeface="Noto Sans JP"/>
              </a:rPr>
              <a:t>今すぐ試せる（v0.9.0）</a:t>
            </a:r>
          </a:p>
        </p:txBody>
      </p:sp>
      <p:sp>
        <p:nvSpPr>
          <p:cNvPr id="38" name="Text: 前後の画像と外部で用意した候補を記録し、byte"/>
          <p:cNvSpPr txBox="1"/>
          <p:nvPr/>
        </p:nvSpPr>
        <p:spPr>
          <a:xfrm>
            <a:off x="768096" y="5852159"/>
            <a:ext cx="515721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lang="ja-JP">
                <a:solidFill>
                  <a:srgbClr val="13202B"/>
                </a:solidFill>
                <a:latin typeface="Noto Sans JP"/>
                <a:ea typeface="Noto Sans JP"/>
              </a:rPr>
              <a:t>前後の画像と外部で用意した候補を記録し、byte identity比較と</a:t>
            </a:r>
            <a:br/>
            <a:r>
              <a:rPr sz="1200" b="0" lang="ja-JP">
                <a:solidFill>
                  <a:srgbClr val="13202B"/>
                </a:solidFill>
                <a:latin typeface="Noto Sans JP"/>
                <a:ea typeface="Noto Sans JP"/>
              </a:rPr>
              <a:t>人のAdopt／Reject／Defer＋理由を残す</a:t>
            </a:r>
          </a:p>
        </p:txBody>
      </p:sp>
      <p:sp>
        <p:nvSpPr>
          <p:cNvPr id="39" name="Text: 構想・未実装"/>
          <p:cNvSpPr txBox="1"/>
          <p:nvPr/>
        </p:nvSpPr>
        <p:spPr>
          <a:xfrm>
            <a:off x="6309360" y="5632703"/>
            <a:ext cx="51572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lang="ja-JP">
                <a:solidFill>
                  <a:srgbClr val="8C450E"/>
                </a:solidFill>
                <a:latin typeface="Noto Sans JP"/>
                <a:ea typeface="Noto Sans JP"/>
              </a:rPr>
              <a:t>構想・未実装</a:t>
            </a:r>
          </a:p>
        </p:txBody>
      </p:sp>
      <p:sp>
        <p:nvSpPr>
          <p:cNvPr id="40" name="Text: 撮影(Capture)機能・pixel差分の差分"/>
          <p:cNvSpPr txBox="1"/>
          <p:nvPr/>
        </p:nvSpPr>
        <p:spPr>
          <a:xfrm>
            <a:off x="6309360" y="5852159"/>
            <a:ext cx="515721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lang="ja-JP">
                <a:solidFill>
                  <a:srgbClr val="13202B"/>
                </a:solidFill>
                <a:latin typeface="Noto Sans JP"/>
                <a:ea typeface="Noto Sans JP"/>
              </a:rPr>
              <a:t>撮影(Capture)機能・pixel差分の差分候補・音声メモ・</a:t>
            </a:r>
            <a:br/>
            <a:r>
              <a:rPr sz="1200" b="0" lang="ja-JP">
                <a:solidFill>
                  <a:srgbClr val="13202B"/>
                </a:solidFill>
                <a:latin typeface="Noto Sans JP"/>
                <a:ea typeface="Noto Sans JP"/>
              </a:rPr>
              <a:t>制作process pack</a:t>
            </a:r>
          </a:p>
        </p:txBody>
      </p:sp>
      <p:cxnSp>
        <p:nvCxnSpPr>
          <p:cNvPr id="41" name="Connector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85216" y="6446520"/>
            <a:ext cx="11009376" cy="0"/>
          </a:xfrm>
          <a:prstGeom prst="line">
            <a:avLst/>
          </a:prstGeom>
          <a:ln w="8890">
            <a:solidFill>
              <a:srgbClr val="7B8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: Concept · v0.9.0 · 確認日 2"/>
          <p:cNvSpPr txBox="1"/>
          <p:nvPr/>
        </p:nvSpPr>
        <p:spPr>
          <a:xfrm>
            <a:off x="585216" y="6492240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lang="ja-JP">
                <a:solidFill>
                  <a:srgbClr val="5E6873"/>
                </a:solidFill>
                <a:latin typeface="Noto Sans JP"/>
                <a:ea typeface="Noto Sans JP"/>
                <a:hlinkClick r:id="rId2"/>
              </a:rPr>
              <a:t>Concept · v0.9.0 · 確認日 2026-09-27</a:t>
            </a:r>
          </a:p>
        </p:txBody>
      </p:sp>
      <p:sp>
        <p:nvSpPr>
          <p:cNvPr id="43" name="Text: Core concept §§14.2, 20."/>
          <p:cNvSpPr txBox="1"/>
          <p:nvPr/>
        </p:nvSpPr>
        <p:spPr>
          <a:xfrm>
            <a:off x="3429000" y="6492240"/>
            <a:ext cx="7223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lang="ja-JP">
                <a:solidFill>
                  <a:srgbClr val="5E6873"/>
                </a:solidFill>
                <a:latin typeface="Noto Sans JP"/>
                <a:ea typeface="Noto Sans JP"/>
              </a:rPr>
              <a:t>Core concept §§14.2, 20.2, 20.7 · project_status.md</a:t>
            </a:r>
          </a:p>
        </p:txBody>
      </p:sp>
      <p:sp>
        <p:nvSpPr>
          <p:cNvPr id="44" name="Text: 05"/>
          <p:cNvSpPr txBox="1"/>
          <p:nvPr/>
        </p:nvSpPr>
        <p:spPr>
          <a:xfrm>
            <a:off x="11137392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lang="ja-JP">
                <a:solidFill>
                  <a:srgbClr val="5E6873"/>
                </a:solidFill>
                <a:latin typeface="Noto Sans JP"/>
                <a:ea typeface="Noto Sans JP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: 建築家 — Plan・直前現況・現在現況を並べる"/>
          <p:cNvSpPr>
            <a:spLocks noGrp="1"/>
          </p:cNvSpPr>
          <p:nvPr>
            <p:ph type="title"/>
          </p:nvPr>
        </p:nvSpPr>
        <p:spPr>
          <a:xfrm>
            <a:off x="585216" y="621792"/>
            <a:ext cx="10972800" cy="566928"/>
          </a:xfrm>
        </p:spPr>
        <p:txBody>
          <a:bodyPr wrap="square" lIns="18288" rIns="18288" tIns="18288" bIns="18288"/>
          <a:lstStyle/>
          <a:p>
            <a:pPr algn="l"/>
            <a:r>
              <a:rPr sz="2800" b="1" lang="ja-JP">
                <a:solidFill>
                  <a:srgbClr val="13202B"/>
                </a:solidFill>
                <a:latin typeface="Noto Sans JP"/>
                <a:ea typeface="Noto Sans JP"/>
              </a:rPr>
              <a:t>建築家 — Plan・直前現況・現在現況を並べる</a:t>
            </a:r>
          </a:p>
        </p:txBody>
      </p:sp>
      <p:sp>
        <p:nvSpPr>
          <p:cNvPr id="3" name="Text: SCENARIO 02"/>
          <p:cNvSpPr txBox="1"/>
          <p:nvPr/>
        </p:nvSpPr>
        <p:spPr>
          <a:xfrm>
            <a:off x="585216" y="320040"/>
            <a:ext cx="2651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lang="ja-JP">
                <a:solidFill>
                  <a:srgbClr val="0B6E69"/>
                </a:solidFill>
                <a:latin typeface="Noto Sans JP"/>
                <a:ea typeface="Noto Sans JP"/>
              </a:rPr>
              <a:t>SCENARIO 02</a:t>
            </a:r>
          </a:p>
        </p:txBody>
      </p:sp>
      <p:sp>
        <p:nvSpPr>
          <p:cNvPr id="4" name="Text: 「計画との適合」と「時間変化」を混ぜずに判断する"/>
          <p:cNvSpPr txBox="1"/>
          <p:nvPr/>
        </p:nvSpPr>
        <p:spPr>
          <a:xfrm>
            <a:off x="603504" y="1170432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lang="ja-JP">
                <a:solidFill>
                  <a:srgbClr val="5E6873"/>
                </a:solidFill>
                <a:latin typeface="Noto Sans JP"/>
                <a:ea typeface="Noto Sans JP"/>
              </a:rPr>
              <a:t>「計画との適合」と「時間変化」を混ぜずに判断する</a:t>
            </a:r>
          </a:p>
        </p:txBody>
      </p:sp>
      <p:sp>
        <p:nvSpPr>
          <p:cNvPr id="5" name="Text: PLAN"/>
          <p:cNvSpPr txBox="1"/>
          <p:nvPr/>
        </p:nvSpPr>
        <p:spPr>
          <a:xfrm>
            <a:off x="621792" y="1444752"/>
            <a:ext cx="305409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lang="ja-JP">
                <a:solidFill>
                  <a:srgbClr val="4E51A8"/>
                </a:solidFill>
                <a:latin typeface="Noto Sans JP"/>
                <a:ea typeface="Noto Sans JP"/>
              </a:rPr>
              <a:t>PLAN</a:t>
            </a:r>
          </a:p>
        </p:txBody>
      </p:sp>
      <p:sp>
        <p:nvSpPr>
          <p:cNvPr id="6" name="Text: 実現したかった状態"/>
          <p:cNvSpPr txBox="1"/>
          <p:nvPr/>
        </p:nvSpPr>
        <p:spPr>
          <a:xfrm>
            <a:off x="621792" y="1709928"/>
            <a:ext cx="30540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lang="ja-JP">
                <a:solidFill>
                  <a:srgbClr val="5E6873"/>
                </a:solidFill>
                <a:latin typeface="Noto Sans JP"/>
                <a:ea typeface="Noto Sans JP"/>
              </a:rPr>
              <a:t>実現したかった状態</a:t>
            </a:r>
          </a:p>
        </p:txBody>
      </p:sp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029968"/>
            <a:ext cx="3054096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04672" y="2441448"/>
            <a:ext cx="2688335" cy="0"/>
          </a:xfrm>
          <a:prstGeom prst="line">
            <a:avLst/>
          </a:prstGeom>
          <a:ln w="7620">
            <a:solidFill>
              <a:srgbClr val="ED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04672" y="2852928"/>
            <a:ext cx="2688335" cy="0"/>
          </a:xfrm>
          <a:prstGeom prst="line">
            <a:avLst/>
          </a:prstGeom>
          <a:ln w="7620">
            <a:solidFill>
              <a:srgbClr val="ED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04672" y="3264408"/>
            <a:ext cx="2688335" cy="0"/>
          </a:xfrm>
          <a:prstGeom prst="line">
            <a:avLst/>
          </a:prstGeom>
          <a:ln w="7620">
            <a:solidFill>
              <a:srgbClr val="ED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04672" y="3675888"/>
            <a:ext cx="2688335" cy="0"/>
          </a:xfrm>
          <a:prstGeom prst="line">
            <a:avLst/>
          </a:prstGeom>
          <a:ln w="7620">
            <a:solidFill>
              <a:srgbClr val="ED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04672" y="4087368"/>
            <a:ext cx="2688335" cy="0"/>
          </a:xfrm>
          <a:prstGeom prst="line">
            <a:avLst/>
          </a:prstGeom>
          <a:ln w="7620">
            <a:solidFill>
              <a:srgbClr val="ED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4128" y="2468880"/>
            <a:ext cx="146304" cy="1572768"/>
          </a:xfrm>
          <a:prstGeom prst="rect">
            <a:avLst/>
          </a:prstGeom>
          <a:solidFill>
            <a:srgbClr val="4E5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4128" y="2468880"/>
            <a:ext cx="1755648" cy="146304"/>
          </a:xfrm>
          <a:prstGeom prst="rect">
            <a:avLst/>
          </a:prstGeom>
          <a:solidFill>
            <a:srgbClr val="4E5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15184" y="2468880"/>
            <a:ext cx="146304" cy="1078992"/>
          </a:xfrm>
          <a:prstGeom prst="rect">
            <a:avLst/>
          </a:prstGeom>
          <a:solidFill>
            <a:srgbClr val="4E5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73352" y="3447288"/>
            <a:ext cx="1088136" cy="146304"/>
          </a:xfrm>
          <a:prstGeom prst="rect">
            <a:avLst/>
          </a:prstGeom>
          <a:solidFill>
            <a:srgbClr val="4E5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PREVIOUS"/>
          <p:cNvSpPr txBox="1"/>
          <p:nvPr/>
        </p:nvSpPr>
        <p:spPr>
          <a:xfrm>
            <a:off x="4114800" y="1444752"/>
            <a:ext cx="305409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lang="ja-JP">
                <a:solidFill>
                  <a:srgbClr val="0B6E69"/>
                </a:solidFill>
                <a:latin typeface="Noto Sans JP"/>
                <a:ea typeface="Noto Sans JP"/>
              </a:rPr>
              <a:t>PREVIOUS</a:t>
            </a:r>
          </a:p>
        </p:txBody>
      </p:sp>
      <p:sp>
        <p:nvSpPr>
          <p:cNvPr id="18" name="Text: 直前に観測した状態"/>
          <p:cNvSpPr txBox="1"/>
          <p:nvPr/>
        </p:nvSpPr>
        <p:spPr>
          <a:xfrm>
            <a:off x="4114800" y="1709928"/>
            <a:ext cx="30540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lang="ja-JP">
                <a:solidFill>
                  <a:srgbClr val="5E6873"/>
                </a:solidFill>
                <a:latin typeface="Noto Sans JP"/>
                <a:ea typeface="Noto Sans JP"/>
              </a:rPr>
              <a:t>直前に観測した状態</a:t>
            </a:r>
          </a:p>
        </p:txBody>
      </p:sp>
      <p:sp>
        <p:nvSpPr>
          <p:cNvPr id="19" name="Rectangl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2029968"/>
            <a:ext cx="3054096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297680" y="2441448"/>
            <a:ext cx="2688336" cy="0"/>
          </a:xfrm>
          <a:prstGeom prst="line">
            <a:avLst/>
          </a:prstGeom>
          <a:ln w="7620">
            <a:solidFill>
              <a:srgbClr val="ED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297680" y="2852928"/>
            <a:ext cx="2688336" cy="0"/>
          </a:xfrm>
          <a:prstGeom prst="line">
            <a:avLst/>
          </a:prstGeom>
          <a:ln w="7620">
            <a:solidFill>
              <a:srgbClr val="ED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297680" y="3264408"/>
            <a:ext cx="2688336" cy="0"/>
          </a:xfrm>
          <a:prstGeom prst="line">
            <a:avLst/>
          </a:prstGeom>
          <a:ln w="7620">
            <a:solidFill>
              <a:srgbClr val="ED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297680" y="3675888"/>
            <a:ext cx="2688336" cy="0"/>
          </a:xfrm>
          <a:prstGeom prst="line">
            <a:avLst/>
          </a:prstGeom>
          <a:ln w="7620">
            <a:solidFill>
              <a:srgbClr val="ED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297680" y="4087368"/>
            <a:ext cx="2688336" cy="0"/>
          </a:xfrm>
          <a:prstGeom prst="line">
            <a:avLst/>
          </a:prstGeom>
          <a:ln w="7620">
            <a:solidFill>
              <a:srgbClr val="ED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17136" y="2468880"/>
            <a:ext cx="146304" cy="1572768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17136" y="2468880"/>
            <a:ext cx="1755648" cy="146304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08192" y="2468880"/>
            <a:ext cx="146304" cy="1078992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66360" y="3447288"/>
            <a:ext cx="1088136" cy="146304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CURRENT"/>
          <p:cNvSpPr txBox="1"/>
          <p:nvPr/>
        </p:nvSpPr>
        <p:spPr>
          <a:xfrm>
            <a:off x="7607808" y="1444752"/>
            <a:ext cx="305409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lang="ja-JP">
                <a:solidFill>
                  <a:srgbClr val="0B6E69"/>
                </a:solidFill>
                <a:latin typeface="Noto Sans JP"/>
                <a:ea typeface="Noto Sans JP"/>
              </a:rPr>
              <a:t>CURRENT</a:t>
            </a:r>
          </a:p>
        </p:txBody>
      </p:sp>
      <p:sp>
        <p:nvSpPr>
          <p:cNvPr id="30" name="Text: 現在観測した状態"/>
          <p:cNvSpPr txBox="1"/>
          <p:nvPr/>
        </p:nvSpPr>
        <p:spPr>
          <a:xfrm>
            <a:off x="7607808" y="1709928"/>
            <a:ext cx="30540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lang="ja-JP">
                <a:solidFill>
                  <a:srgbClr val="5E6873"/>
                </a:solidFill>
                <a:latin typeface="Noto Sans JP"/>
                <a:ea typeface="Noto Sans JP"/>
              </a:rPr>
              <a:t>現在観測した状態</a:t>
            </a:r>
          </a:p>
        </p:txBody>
      </p:sp>
      <p:sp>
        <p:nvSpPr>
          <p:cNvPr id="31" name="Rectangle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07808" y="2029968"/>
            <a:ext cx="3054096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790688" y="2441448"/>
            <a:ext cx="2688336" cy="0"/>
          </a:xfrm>
          <a:prstGeom prst="line">
            <a:avLst/>
          </a:prstGeom>
          <a:ln w="7620">
            <a:solidFill>
              <a:srgbClr val="ED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790688" y="2852928"/>
            <a:ext cx="2688336" cy="0"/>
          </a:xfrm>
          <a:prstGeom prst="line">
            <a:avLst/>
          </a:prstGeom>
          <a:ln w="7620">
            <a:solidFill>
              <a:srgbClr val="ED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790688" y="3264408"/>
            <a:ext cx="2688336" cy="0"/>
          </a:xfrm>
          <a:prstGeom prst="line">
            <a:avLst/>
          </a:prstGeom>
          <a:ln w="7620">
            <a:solidFill>
              <a:srgbClr val="ED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790688" y="3675888"/>
            <a:ext cx="2688336" cy="0"/>
          </a:xfrm>
          <a:prstGeom prst="line">
            <a:avLst/>
          </a:prstGeom>
          <a:ln w="7620">
            <a:solidFill>
              <a:srgbClr val="ED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790688" y="4087368"/>
            <a:ext cx="2688336" cy="0"/>
          </a:xfrm>
          <a:prstGeom prst="line">
            <a:avLst/>
          </a:prstGeom>
          <a:ln w="7620">
            <a:solidFill>
              <a:srgbClr val="ED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10144" y="2468880"/>
            <a:ext cx="146304" cy="1572768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10144" y="2468880"/>
            <a:ext cx="1755648" cy="146304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01200" y="2468880"/>
            <a:ext cx="146304" cy="1078992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59368" y="3447288"/>
            <a:ext cx="1088136" cy="146304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97696" y="3602736"/>
            <a:ext cx="493776" cy="411480"/>
          </a:xfrm>
          <a:prstGeom prst="rect">
            <a:avLst/>
          </a:prstGeom>
          <a:solidFill>
            <a:srgbClr val="F5DEDB"/>
          </a:solidFill>
          <a:ln w="20320">
            <a:solidFill>
              <a:srgbClr val="A1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要確認" title="要確認" descr="要確認"/>
          <p:cNvSpPr/>
          <p:nvPr/>
        </p:nvSpPr>
        <p:spPr>
          <a:xfrm>
            <a:off x="9034272" y="4005072"/>
            <a:ext cx="1170432" cy="310896"/>
          </a:xfrm>
          <a:prstGeom prst="roundRect">
            <a:avLst/>
          </a:prstGeom>
          <a:solidFill>
            <a:srgbClr val="F5DEDB"/>
          </a:solidFill>
          <a:ln w="8890">
            <a:solidFill>
              <a:srgbClr val="A1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lang="ja-JP">
                <a:solidFill>
                  <a:srgbClr val="A13A31"/>
                </a:solidFill>
                <a:latin typeface="Noto Sans JP"/>
                <a:ea typeface="Noto Sans JP"/>
              </a:rPr>
              <a:t>要確認</a:t>
            </a:r>
          </a:p>
        </p:txBody>
      </p:sp>
      <p:sp>
        <p:nvSpPr>
          <p:cNvPr id="43" name="Chevron 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03320" y="2971800"/>
            <a:ext cx="292608" cy="457200"/>
          </a:xfrm>
          <a:prstGeom prst="chevron">
            <a:avLst/>
          </a:prstGeom>
          <a:solidFill>
            <a:srgbClr val="7B8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evron 4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96328" y="2971800"/>
            <a:ext cx="292608" cy="457200"/>
          </a:xfrm>
          <a:prstGeom prst="chevron">
            <a:avLst/>
          </a:prstGeom>
          <a:solidFill>
            <a:srgbClr val="7B8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計画との適合"/>
          <p:cNvSpPr txBox="1"/>
          <p:nvPr/>
        </p:nvSpPr>
        <p:spPr>
          <a:xfrm>
            <a:off x="3127248" y="4462272"/>
            <a:ext cx="1463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lang="ja-JP">
                <a:solidFill>
                  <a:srgbClr val="4E51A8"/>
                </a:solidFill>
                <a:latin typeface="Noto Sans JP"/>
                <a:ea typeface="Noto Sans JP"/>
              </a:rPr>
              <a:t>計画との適合</a:t>
            </a:r>
          </a:p>
        </p:txBody>
      </p:sp>
      <p:sp>
        <p:nvSpPr>
          <p:cNvPr id="46" name="Text: 時間変化"/>
          <p:cNvSpPr txBox="1"/>
          <p:nvPr/>
        </p:nvSpPr>
        <p:spPr>
          <a:xfrm>
            <a:off x="6620256" y="4462272"/>
            <a:ext cx="1463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lang="ja-JP">
                <a:solidFill>
                  <a:srgbClr val="0B6E69"/>
                </a:solidFill>
                <a:latin typeface="Noto Sans JP"/>
                <a:ea typeface="Noto Sans JP"/>
              </a:rPr>
              <a:t>時間変化</a:t>
            </a:r>
          </a:p>
        </p:txBody>
      </p:sp>
      <p:sp>
        <p:nvSpPr>
          <p:cNvPr id="47" name="Rounded Rectangle 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35056" y="2029968"/>
            <a:ext cx="859536" cy="2560320"/>
          </a:xfrm>
          <a:prstGeom prst="roundRect">
            <a:avLst/>
          </a:prstGeom>
          <a:solidFill>
            <a:srgbClr val="F3E3C7"/>
          </a:solidFill>
          <a:ln w="17780">
            <a:solidFill>
              <a:srgbClr val="8C4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人が判断&#10;&#10;採用&#10;是正&#10;保留"/>
          <p:cNvSpPr txBox="1"/>
          <p:nvPr/>
        </p:nvSpPr>
        <p:spPr>
          <a:xfrm>
            <a:off x="10808208" y="2286000"/>
            <a:ext cx="713232" cy="19568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lang="ja-JP">
                <a:solidFill>
                  <a:srgbClr val="8C4A12"/>
                </a:solidFill>
                <a:latin typeface="Noto Sans JP"/>
                <a:ea typeface="Noto Sans JP"/>
              </a:rPr>
              <a:t>人が判断</a:t>
            </a:r>
            <a:br/>
            <a:r>
              <a:rPr sz="1400" b="1" lang="ja-JP">
                <a:solidFill>
                  <a:srgbClr val="8C4A12"/>
                </a:solidFill>
                <a:latin typeface="Noto Sans JP"/>
                <a:ea typeface="Noto Sans JP"/>
              </a:rPr>
              <a:t/>
            </a:r>
            <a:br/>
            <a:r>
              <a:rPr sz="1400" b="1" lang="ja-JP">
                <a:solidFill>
                  <a:srgbClr val="8C4A12"/>
                </a:solidFill>
                <a:latin typeface="Noto Sans JP"/>
                <a:ea typeface="Noto Sans JP"/>
              </a:rPr>
              <a:t>採用</a:t>
            </a:r>
            <a:br/>
            <a:r>
              <a:rPr sz="1400" b="1" lang="ja-JP">
                <a:solidFill>
                  <a:srgbClr val="8C4A12"/>
                </a:solidFill>
                <a:latin typeface="Noto Sans JP"/>
                <a:ea typeface="Noto Sans JP"/>
              </a:rPr>
              <a:t>是正</a:t>
            </a:r>
            <a:br/>
            <a:r>
              <a:rPr sz="1400" b="1" lang="ja-JP">
                <a:solidFill>
                  <a:srgbClr val="8C4A12"/>
                </a:solidFill>
                <a:latin typeface="Noto Sans JP"/>
                <a:ea typeface="Noto Sans JP"/>
              </a:rPr>
              <a:t>保留</a:t>
            </a:r>
          </a:p>
        </p:txBody>
      </p:sp>
      <p:sp>
        <p:nvSpPr>
          <p:cNvPr id="49" name="設計変更理由" title="設計変更理由" descr="設計変更理由"/>
          <p:cNvSpPr/>
          <p:nvPr/>
        </p:nvSpPr>
        <p:spPr>
          <a:xfrm>
            <a:off x="804672" y="4791456"/>
            <a:ext cx="3310128" cy="384048"/>
          </a:xfrm>
          <a:prstGeom prst="roundRect">
            <a:avLst/>
          </a:prstGeom>
          <a:solidFill>
            <a:srgbClr val="E2E4F7"/>
          </a:solidFill>
          <a:ln w="8890">
            <a:solidFill>
              <a:srgbClr val="4E5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ja-JP">
                <a:solidFill>
                  <a:srgbClr val="4E51A8"/>
                </a:solidFill>
                <a:latin typeface="Noto Sans JP"/>
                <a:ea typeface="Noto Sans JP"/>
              </a:rPr>
              <a:t>設計変更理由</a:t>
            </a:r>
          </a:p>
        </p:txBody>
      </p:sp>
      <p:sp>
        <p:nvSpPr>
          <p:cNvPr id="50" name="施主・現場との認識合わせ" title="施主・現場との認識合わせ" descr="施主・現場との認識合わせ"/>
          <p:cNvSpPr/>
          <p:nvPr/>
        </p:nvSpPr>
        <p:spPr>
          <a:xfrm>
            <a:off x="4480559" y="4791456"/>
            <a:ext cx="3310128" cy="384048"/>
          </a:xfrm>
          <a:prstGeom prst="roundRect">
            <a:avLst/>
          </a:prstGeom>
          <a:solidFill>
            <a:srgbClr val="D9EEEB"/>
          </a:solidFill>
          <a:ln w="8890">
            <a:solidFill>
              <a:srgbClr val="0B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ja-JP">
                <a:solidFill>
                  <a:srgbClr val="0B6E69"/>
                </a:solidFill>
                <a:latin typeface="Noto Sans JP"/>
                <a:ea typeface="Noto Sans JP"/>
              </a:rPr>
              <a:t>施主・現場との認識合わせ</a:t>
            </a:r>
          </a:p>
        </p:txBody>
      </p:sp>
      <p:sp>
        <p:nvSpPr>
          <p:cNvPr id="51" name="次案件へ判断基準を再利用" title="次案件へ判断基準を再利用" descr="次案件へ判断基準を再利用"/>
          <p:cNvSpPr/>
          <p:nvPr/>
        </p:nvSpPr>
        <p:spPr>
          <a:xfrm>
            <a:off x="8156448" y="4791456"/>
            <a:ext cx="3310128" cy="384048"/>
          </a:xfrm>
          <a:prstGeom prst="roundRect">
            <a:avLst/>
          </a:prstGeom>
          <a:solidFill>
            <a:srgbClr val="DCEEE4"/>
          </a:solidFill>
          <a:ln w="8890">
            <a:solidFill>
              <a:srgbClr val="297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ja-JP">
                <a:solidFill>
                  <a:srgbClr val="29704A"/>
                </a:solidFill>
                <a:latin typeface="Noto Sans JP"/>
                <a:ea typeface="Noto Sans JP"/>
              </a:rPr>
              <a:t>次案件へ判断基準を再利用</a:t>
            </a:r>
          </a:p>
        </p:txBody>
      </p:sp>
      <p:sp>
        <p:nvSpPr>
          <p:cNvPr id="52" name="Status: n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321808"/>
            <a:ext cx="5431536" cy="960120"/>
          </a:xfrm>
          <a:prstGeom prst="roundRect">
            <a:avLst/>
          </a:prstGeom>
          <a:solidFill>
            <a:srgbClr val="DCEEE4"/>
          </a:solidFill>
          <a:ln w="12700">
            <a:solidFill>
              <a:srgbClr val="297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tatus: pla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3056" y="5321808"/>
            <a:ext cx="5431536" cy="960120"/>
          </a:xfrm>
          <a:prstGeom prst="roundRect">
            <a:avLst/>
          </a:prstGeom>
          <a:solidFill>
            <a:srgbClr val="F5E4D4"/>
          </a:solidFill>
          <a:ln w="12700">
            <a:solidFill>
              <a:srgbClr val="8C45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: 今すぐ試せる（v0.9.0）"/>
          <p:cNvSpPr txBox="1"/>
          <p:nvPr/>
        </p:nvSpPr>
        <p:spPr>
          <a:xfrm>
            <a:off x="768096" y="5376672"/>
            <a:ext cx="51572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lang="ja-JP">
                <a:solidFill>
                  <a:srgbClr val="29704A"/>
                </a:solidFill>
                <a:latin typeface="Noto Sans JP"/>
                <a:ea typeface="Noto Sans JP"/>
              </a:rPr>
              <a:t>今すぐ試せる（v0.9.0）</a:t>
            </a:r>
          </a:p>
        </p:txBody>
      </p:sp>
      <p:sp>
        <p:nvSpPr>
          <p:cNvPr id="55" name="Text: 3画像（例: 参照・現況・候補）の記録と人の判断"/>
          <p:cNvSpPr txBox="1"/>
          <p:nvPr/>
        </p:nvSpPr>
        <p:spPr>
          <a:xfrm>
            <a:off x="768096" y="5596128"/>
            <a:ext cx="5157216" cy="6309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lang="ja-JP">
                <a:solidFill>
                  <a:srgbClr val="13202B"/>
                </a:solidFill>
                <a:latin typeface="Noto Sans JP"/>
                <a:ea typeface="Noto Sans JP"/>
              </a:rPr>
              <a:t>3画像（例: 参照・現況・候補）の記録と人の判断</a:t>
            </a:r>
            <a:br/>
            <a:r>
              <a:rPr sz="1200" b="0" lang="ja-JP">
                <a:solidFill>
                  <a:srgbClr val="13202B"/>
                </a:solidFill>
                <a:latin typeface="Noto Sans JP"/>
                <a:ea typeface="Noto Sans JP"/>
              </a:rPr>
              <a:t>（Plan画像は通常の画像として取り込むだけ）</a:t>
            </a:r>
          </a:p>
        </p:txBody>
      </p:sp>
      <p:sp>
        <p:nvSpPr>
          <p:cNvPr id="56" name="Text: 構想・未実装"/>
          <p:cNvSpPr txBox="1"/>
          <p:nvPr/>
        </p:nvSpPr>
        <p:spPr>
          <a:xfrm>
            <a:off x="6309360" y="5376672"/>
            <a:ext cx="51572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lang="ja-JP">
                <a:solidFill>
                  <a:srgbClr val="8C450E"/>
                </a:solidFill>
                <a:latin typeface="Noto Sans JP"/>
                <a:ea typeface="Noto Sans JP"/>
              </a:rPr>
              <a:t>構想・未実装</a:t>
            </a:r>
          </a:p>
        </p:txBody>
      </p:sp>
      <p:sp>
        <p:nvSpPr>
          <p:cNvPr id="57" name="Text: Plan／Previous／Currentの三者"/>
          <p:cNvSpPr txBox="1"/>
          <p:nvPr/>
        </p:nvSpPr>
        <p:spPr>
          <a:xfrm>
            <a:off x="6309360" y="5596128"/>
            <a:ext cx="5157216" cy="6309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lang="ja-JP">
                <a:solidFill>
                  <a:srgbClr val="13202B"/>
                </a:solidFill>
                <a:latin typeface="Noto Sans JP"/>
                <a:ea typeface="Noto Sans JP"/>
              </a:rPr>
              <a:t>Plan／Previous／Currentの三者比較・計画適合／時間変化の</a:t>
            </a:r>
            <a:br/>
            <a:r>
              <a:rPr sz="1200" b="0" lang="ja-JP">
                <a:solidFill>
                  <a:srgbClr val="13202B"/>
                </a:solidFill>
                <a:latin typeface="Noto Sans JP"/>
                <a:ea typeface="Noto Sans JP"/>
              </a:rPr>
              <a:t>自動判定・BIM/CAD連携（As-built自動認定はしない）</a:t>
            </a:r>
          </a:p>
        </p:txBody>
      </p:sp>
      <p:cxnSp>
        <p:nvCxnSpPr>
          <p:cNvPr id="58" name="Connector 5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85216" y="6446520"/>
            <a:ext cx="11009376" cy="0"/>
          </a:xfrm>
          <a:prstGeom prst="line">
            <a:avLst/>
          </a:prstGeom>
          <a:ln w="8890">
            <a:solidFill>
              <a:srgbClr val="7B8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: Concept · v0.9.0 · 確認日 2"/>
          <p:cNvSpPr txBox="1"/>
          <p:nvPr/>
        </p:nvSpPr>
        <p:spPr>
          <a:xfrm>
            <a:off x="585216" y="6492240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lang="ja-JP">
                <a:solidFill>
                  <a:srgbClr val="5E6873"/>
                </a:solidFill>
                <a:latin typeface="Noto Sans JP"/>
                <a:ea typeface="Noto Sans JP"/>
                <a:hlinkClick r:id="rId2"/>
              </a:rPr>
              <a:t>Concept · v0.9.0 · 確認日 2026-09-27</a:t>
            </a:r>
          </a:p>
        </p:txBody>
      </p:sp>
      <p:sp>
        <p:nvSpPr>
          <p:cNvPr id="60" name="Text: Core concept §§14.1, 14."/>
          <p:cNvSpPr txBox="1"/>
          <p:nvPr/>
        </p:nvSpPr>
        <p:spPr>
          <a:xfrm>
            <a:off x="3429000" y="6492240"/>
            <a:ext cx="7223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lang="ja-JP">
                <a:solidFill>
                  <a:srgbClr val="5E6873"/>
                </a:solidFill>
                <a:latin typeface="Noto Sans JP"/>
                <a:ea typeface="Noto Sans JP"/>
              </a:rPr>
              <a:t>Core concept §§14.1, 14.3, 20.2 · project_status.md</a:t>
            </a:r>
          </a:p>
        </p:txBody>
      </p:sp>
      <p:sp>
        <p:nvSpPr>
          <p:cNvPr id="61" name="Text: 06"/>
          <p:cNvSpPr txBox="1"/>
          <p:nvPr/>
        </p:nvSpPr>
        <p:spPr>
          <a:xfrm>
            <a:off x="11137392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lang="ja-JP">
                <a:solidFill>
                  <a:srgbClr val="5E6873"/>
                </a:solidFill>
                <a:latin typeface="Noto Sans JP"/>
                <a:ea typeface="Noto Sans JP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: 施工・修復 — Hold Pointを未来の担当へ渡す"/>
          <p:cNvSpPr>
            <a:spLocks noGrp="1"/>
          </p:cNvSpPr>
          <p:nvPr>
            <p:ph type="title"/>
          </p:nvPr>
        </p:nvSpPr>
        <p:spPr>
          <a:xfrm>
            <a:off x="585216" y="621792"/>
            <a:ext cx="10972800" cy="566928"/>
          </a:xfrm>
        </p:spPr>
        <p:txBody>
          <a:bodyPr wrap="square" lIns="18288" rIns="18288" tIns="18288" bIns="18288"/>
          <a:lstStyle/>
          <a:p>
            <a:pPr algn="l"/>
            <a:r>
              <a:rPr sz="2800" b="1" lang="ja-JP">
                <a:solidFill>
                  <a:srgbClr val="13202B"/>
                </a:solidFill>
                <a:latin typeface="Noto Sans JP"/>
                <a:ea typeface="Noto Sans JP"/>
              </a:rPr>
              <a:t>施工・修復 — Hold Pointを未来の担当へ渡す</a:t>
            </a:r>
          </a:p>
        </p:txBody>
      </p:sp>
      <p:sp>
        <p:nvSpPr>
          <p:cNvPr id="3" name="Text: SCENARIO 03"/>
          <p:cNvSpPr txBox="1"/>
          <p:nvPr/>
        </p:nvSpPr>
        <p:spPr>
          <a:xfrm>
            <a:off x="585216" y="320040"/>
            <a:ext cx="2651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lang="ja-JP">
                <a:solidFill>
                  <a:srgbClr val="0B6E69"/>
                </a:solidFill>
                <a:latin typeface="Noto Sans JP"/>
                <a:ea typeface="Noto Sans JP"/>
              </a:rPr>
              <a:t>SCENARIO 03</a:t>
            </a:r>
          </a:p>
        </p:txBody>
      </p:sp>
      <p:sp>
        <p:nvSpPr>
          <p:cNvPr id="4" name="Text: 処置前後だけでなく、材料・可逆性・観測できなかっ"/>
          <p:cNvSpPr txBox="1"/>
          <p:nvPr/>
        </p:nvSpPr>
        <p:spPr>
          <a:xfrm>
            <a:off x="603504" y="1170432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lang="ja-JP">
                <a:solidFill>
                  <a:srgbClr val="5E6873"/>
                </a:solidFill>
                <a:latin typeface="Noto Sans JP"/>
                <a:ea typeface="Noto Sans JP"/>
              </a:rPr>
              <a:t>処置前後だけでなく、材料・可逆性・観測できなかった範囲も残す</a:t>
            </a:r>
          </a:p>
        </p:txBody>
      </p:sp>
      <p:cxnSp>
        <p:nvCxnSpPr>
          <p:cNvPr id="5" name="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005840" y="3246120"/>
            <a:ext cx="9784080" cy="0"/>
          </a:xfrm>
          <a:prstGeom prst="line">
            <a:avLst/>
          </a:prstGeom>
          <a:ln w="50800">
            <a:solidFill>
              <a:srgbClr val="8C45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" y="3044952"/>
            <a:ext cx="402336" cy="402336"/>
          </a:xfrm>
          <a:prstGeom prst="ellipse">
            <a:avLst/>
          </a:prstGeom>
          <a:solidFill>
            <a:srgbClr val="4E51A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 手順"/>
          <p:cNvSpPr txBox="1"/>
          <p:nvPr/>
        </p:nvSpPr>
        <p:spPr>
          <a:xfrm>
            <a:off x="365760" y="3529584"/>
            <a:ext cx="12801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lang="ja-JP">
                <a:solidFill>
                  <a:srgbClr val="4E51A8"/>
                </a:solidFill>
                <a:latin typeface="Noto Sans JP"/>
                <a:ea typeface="Noto Sans JP"/>
              </a:rPr>
              <a:t>手順</a:t>
            </a:r>
          </a:p>
        </p:txBody>
      </p:sp>
      <p:sp>
        <p:nvSpPr>
          <p:cNvPr id="8" name="Text: Procedure"/>
          <p:cNvSpPr txBox="1"/>
          <p:nvPr/>
        </p:nvSpPr>
        <p:spPr>
          <a:xfrm>
            <a:off x="310896" y="3822191"/>
            <a:ext cx="13898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lang="ja-JP">
                <a:solidFill>
                  <a:srgbClr val="5E6873"/>
                </a:solidFill>
                <a:latin typeface="Noto Sans JP"/>
                <a:ea typeface="Noto Sans JP"/>
              </a:rPr>
              <a:t>Procedure</a:t>
            </a:r>
          </a:p>
        </p:txBody>
      </p:sp>
      <p:sp>
        <p:nvSpPr>
          <p:cNvPr id="9" name="Oval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9272" y="3044952"/>
            <a:ext cx="402336" cy="402336"/>
          </a:xfrm>
          <a:prstGeom prst="ellipse">
            <a:avLst/>
          </a:prstGeom>
          <a:solidFill>
            <a:srgbClr val="8C4A12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処置前"/>
          <p:cNvSpPr txBox="1"/>
          <p:nvPr/>
        </p:nvSpPr>
        <p:spPr>
          <a:xfrm>
            <a:off x="2880360" y="3529584"/>
            <a:ext cx="12801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lang="ja-JP">
                <a:solidFill>
                  <a:srgbClr val="8C4A12"/>
                </a:solidFill>
                <a:latin typeface="Noto Sans JP"/>
                <a:ea typeface="Noto Sans JP"/>
              </a:rPr>
              <a:t>処置前</a:t>
            </a:r>
          </a:p>
        </p:txBody>
      </p:sp>
      <p:sp>
        <p:nvSpPr>
          <p:cNvPr id="11" name="Text: Hold Point"/>
          <p:cNvSpPr txBox="1"/>
          <p:nvPr/>
        </p:nvSpPr>
        <p:spPr>
          <a:xfrm>
            <a:off x="2825496" y="3822191"/>
            <a:ext cx="13898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lang="ja-JP">
                <a:solidFill>
                  <a:srgbClr val="5E6873"/>
                </a:solidFill>
                <a:latin typeface="Noto Sans JP"/>
                <a:ea typeface="Noto Sans JP"/>
              </a:rPr>
              <a:t>Hold Point</a:t>
            </a:r>
          </a:p>
        </p:txBody>
      </p:sp>
      <p:sp>
        <p:nvSpPr>
          <p:cNvPr id="12" name="Oval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88152" y="3044952"/>
            <a:ext cx="402336" cy="402336"/>
          </a:xfrm>
          <a:prstGeom prst="ellipse">
            <a:avLst/>
          </a:prstGeom>
          <a:solidFill>
            <a:srgbClr val="8C450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作業"/>
          <p:cNvSpPr txBox="1"/>
          <p:nvPr/>
        </p:nvSpPr>
        <p:spPr>
          <a:xfrm>
            <a:off x="5349240" y="3529584"/>
            <a:ext cx="12801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lang="ja-JP">
                <a:solidFill>
                  <a:srgbClr val="8C450E"/>
                </a:solidFill>
                <a:latin typeface="Noto Sans JP"/>
                <a:ea typeface="Noto Sans JP"/>
              </a:rPr>
              <a:t>作業</a:t>
            </a:r>
          </a:p>
        </p:txBody>
      </p:sp>
      <p:sp>
        <p:nvSpPr>
          <p:cNvPr id="14" name="Text: Activity"/>
          <p:cNvSpPr txBox="1"/>
          <p:nvPr/>
        </p:nvSpPr>
        <p:spPr>
          <a:xfrm>
            <a:off x="5294376" y="3822191"/>
            <a:ext cx="13898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lang="ja-JP">
                <a:solidFill>
                  <a:srgbClr val="5E6873"/>
                </a:solidFill>
                <a:latin typeface="Noto Sans JP"/>
                <a:ea typeface="Noto Sans JP"/>
              </a:rPr>
              <a:t>Activity</a:t>
            </a:r>
          </a:p>
        </p:txBody>
      </p:sp>
      <p:sp>
        <p:nvSpPr>
          <p:cNvPr id="15" name="Oval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57031" y="3044952"/>
            <a:ext cx="402336" cy="402336"/>
          </a:xfrm>
          <a:prstGeom prst="ellipse">
            <a:avLst/>
          </a:prstGeom>
          <a:solidFill>
            <a:srgbClr val="0B6E69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処置後"/>
          <p:cNvSpPr txBox="1"/>
          <p:nvPr/>
        </p:nvSpPr>
        <p:spPr>
          <a:xfrm>
            <a:off x="7818120" y="3529584"/>
            <a:ext cx="12801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lang="ja-JP">
                <a:solidFill>
                  <a:srgbClr val="0B6E69"/>
                </a:solidFill>
                <a:latin typeface="Noto Sans JP"/>
                <a:ea typeface="Noto Sans JP"/>
              </a:rPr>
              <a:t>処置後</a:t>
            </a:r>
          </a:p>
        </p:txBody>
      </p:sp>
      <p:sp>
        <p:nvSpPr>
          <p:cNvPr id="17" name="Text: Capture / Review"/>
          <p:cNvSpPr txBox="1"/>
          <p:nvPr/>
        </p:nvSpPr>
        <p:spPr>
          <a:xfrm>
            <a:off x="7763256" y="3822191"/>
            <a:ext cx="13898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lang="ja-JP">
                <a:solidFill>
                  <a:srgbClr val="5E6873"/>
                </a:solidFill>
                <a:latin typeface="Noto Sans JP"/>
                <a:ea typeface="Noto Sans JP"/>
              </a:rPr>
              <a:t>Capture / Review</a:t>
            </a:r>
          </a:p>
        </p:txBody>
      </p:sp>
      <p:sp>
        <p:nvSpPr>
          <p:cNvPr id="18" name="Oval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88752" y="3044952"/>
            <a:ext cx="402336" cy="402336"/>
          </a:xfrm>
          <a:prstGeom prst="ellipse">
            <a:avLst/>
          </a:prstGeom>
          <a:solidFill>
            <a:srgbClr val="29704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引渡し"/>
          <p:cNvSpPr txBox="1"/>
          <p:nvPr/>
        </p:nvSpPr>
        <p:spPr>
          <a:xfrm>
            <a:off x="10149840" y="3529584"/>
            <a:ext cx="12801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lang="ja-JP">
                <a:solidFill>
                  <a:srgbClr val="29704A"/>
                </a:solidFill>
                <a:latin typeface="Noto Sans JP"/>
                <a:ea typeface="Noto Sans JP"/>
              </a:rPr>
              <a:t>引渡し</a:t>
            </a:r>
          </a:p>
        </p:txBody>
      </p:sp>
      <p:sp>
        <p:nvSpPr>
          <p:cNvPr id="20" name="Text: Pack"/>
          <p:cNvSpPr txBox="1"/>
          <p:nvPr/>
        </p:nvSpPr>
        <p:spPr>
          <a:xfrm>
            <a:off x="10094976" y="3822191"/>
            <a:ext cx="13898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lang="ja-JP">
                <a:solidFill>
                  <a:srgbClr val="5E6873"/>
                </a:solidFill>
                <a:latin typeface="Noto Sans JP"/>
                <a:ea typeface="Noto Sans JP"/>
              </a:rPr>
              <a:t>Pack</a:t>
            </a:r>
          </a:p>
        </p:txBody>
      </p:sp>
      <p:sp>
        <p:nvSpPr>
          <p:cNvPr id="21" name="Card: 予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481328"/>
            <a:ext cx="2249424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ccent: 予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1645920"/>
            <a:ext cx="128016" cy="886968"/>
          </a:xfrm>
          <a:prstGeom prst="roundRect">
            <a:avLst/>
          </a:prstGeom>
          <a:solidFill>
            <a:srgbClr val="4E5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予定"/>
          <p:cNvSpPr txBox="1"/>
          <p:nvPr/>
        </p:nvSpPr>
        <p:spPr>
          <a:xfrm>
            <a:off x="1060704" y="1609344"/>
            <a:ext cx="162763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lang="ja-JP">
                <a:solidFill>
                  <a:srgbClr val="4E51A8"/>
                </a:solidFill>
                <a:latin typeface="Noto Sans JP"/>
                <a:ea typeface="Noto Sans JP"/>
              </a:rPr>
              <a:t>予定</a:t>
            </a:r>
          </a:p>
        </p:txBody>
      </p:sp>
      <p:sp>
        <p:nvSpPr>
          <p:cNvPr id="24" name="Text: 工程・完了条件&#10;観測要件"/>
          <p:cNvSpPr txBox="1"/>
          <p:nvPr/>
        </p:nvSpPr>
        <p:spPr>
          <a:xfrm>
            <a:off x="1060704" y="2011680"/>
            <a:ext cx="1627631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工程・完了条件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観測要件</a:t>
            </a:r>
          </a:p>
        </p:txBody>
      </p:sp>
      <p:sp>
        <p:nvSpPr>
          <p:cNvPr id="25" name="Card: 処置前 Captu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07792" y="1481328"/>
            <a:ext cx="2249424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ccent: 処置前 Captu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72384" y="1645920"/>
            <a:ext cx="128016" cy="886968"/>
          </a:xfrm>
          <a:prstGeom prst="round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処置前 Capture"/>
          <p:cNvSpPr txBox="1"/>
          <p:nvPr/>
        </p:nvSpPr>
        <p:spPr>
          <a:xfrm>
            <a:off x="3346704" y="1609344"/>
            <a:ext cx="162763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lang="ja-JP">
                <a:solidFill>
                  <a:srgbClr val="0B6E69"/>
                </a:solidFill>
                <a:latin typeface="Noto Sans JP"/>
                <a:ea typeface="Noto Sans JP"/>
              </a:rPr>
              <a:t>処置前 Capture</a:t>
            </a:r>
          </a:p>
        </p:txBody>
      </p:sp>
      <p:sp>
        <p:nvSpPr>
          <p:cNvPr id="28" name="Text: 対象・位置・状態&#10;任意の音声"/>
          <p:cNvSpPr txBox="1"/>
          <p:nvPr/>
        </p:nvSpPr>
        <p:spPr>
          <a:xfrm>
            <a:off x="3346704" y="2011680"/>
            <a:ext cx="1627631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対象・位置・状態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任意の音声</a:t>
            </a:r>
          </a:p>
        </p:txBody>
      </p:sp>
      <p:sp>
        <p:nvSpPr>
          <p:cNvPr id="29" name="Card: 材料・処置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48656" y="4297680"/>
            <a:ext cx="2249424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ccent: 材料・処置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3248" y="4462272"/>
            <a:ext cx="128016" cy="886968"/>
          </a:xfrm>
          <a:prstGeom prst="roundRect">
            <a:avLst/>
          </a:prstGeom>
          <a:solidFill>
            <a:srgbClr val="8C4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材料・処置"/>
          <p:cNvSpPr txBox="1"/>
          <p:nvPr/>
        </p:nvSpPr>
        <p:spPr>
          <a:xfrm>
            <a:off x="5687568" y="4425696"/>
            <a:ext cx="162763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lang="ja-JP">
                <a:solidFill>
                  <a:srgbClr val="8C450E"/>
                </a:solidFill>
                <a:latin typeface="Noto Sans JP"/>
                <a:ea typeface="Noto Sans JP"/>
              </a:rPr>
              <a:t>材料・処置</a:t>
            </a:r>
          </a:p>
        </p:txBody>
      </p:sp>
      <p:sp>
        <p:nvSpPr>
          <p:cNvPr id="32" name="Text: 入力・出力&#10;可逆性・計画との差"/>
          <p:cNvSpPr txBox="1"/>
          <p:nvPr/>
        </p:nvSpPr>
        <p:spPr>
          <a:xfrm>
            <a:off x="5687568" y="4828032"/>
            <a:ext cx="1627631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入力・出力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可逆性・計画との差</a:t>
            </a:r>
          </a:p>
        </p:txBody>
      </p:sp>
      <p:sp>
        <p:nvSpPr>
          <p:cNvPr id="33" name="Card: Cover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0" y="1481328"/>
            <a:ext cx="2249424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ccent: Cover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54112" y="1645920"/>
            <a:ext cx="128016" cy="886968"/>
          </a:xfrm>
          <a:prstGeom prst="round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Coverage"/>
          <p:cNvSpPr txBox="1"/>
          <p:nvPr/>
        </p:nvSpPr>
        <p:spPr>
          <a:xfrm>
            <a:off x="8028432" y="1609344"/>
            <a:ext cx="162763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lang="ja-JP">
                <a:solidFill>
                  <a:srgbClr val="0B6E69"/>
                </a:solidFill>
                <a:latin typeface="Noto Sans JP"/>
                <a:ea typeface="Noto Sans JP"/>
              </a:rPr>
              <a:t>Coverage</a:t>
            </a:r>
          </a:p>
        </p:txBody>
      </p:sp>
      <p:sp>
        <p:nvSpPr>
          <p:cNvPr id="36" name="Text: 見えた範囲&#10;遮蔽・品質警告"/>
          <p:cNvSpPr txBox="1"/>
          <p:nvPr/>
        </p:nvSpPr>
        <p:spPr>
          <a:xfrm>
            <a:off x="8028432" y="2011680"/>
            <a:ext cx="1627631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見えた範囲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遮蔽・品質警告</a:t>
            </a:r>
          </a:p>
        </p:txBody>
      </p:sp>
      <p:sp>
        <p:nvSpPr>
          <p:cNvPr id="37" name="Card: 成果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54312" y="4297680"/>
            <a:ext cx="2249424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ccent: 成果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18904" y="4462272"/>
            <a:ext cx="128016" cy="886968"/>
          </a:xfrm>
          <a:prstGeom prst="roundRect">
            <a:avLst/>
          </a:prstGeom>
          <a:solidFill>
            <a:srgbClr val="29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成果"/>
          <p:cNvSpPr txBox="1"/>
          <p:nvPr/>
        </p:nvSpPr>
        <p:spPr>
          <a:xfrm>
            <a:off x="9793224" y="4425696"/>
            <a:ext cx="162763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lang="ja-JP">
                <a:solidFill>
                  <a:srgbClr val="29704A"/>
                </a:solidFill>
                <a:latin typeface="Noto Sans JP"/>
                <a:ea typeface="Noto Sans JP"/>
              </a:rPr>
              <a:t>成果</a:t>
            </a:r>
          </a:p>
        </p:txBody>
      </p:sp>
      <p:sp>
        <p:nvSpPr>
          <p:cNvPr id="40" name="Text: 進捗・処置報告&#10;As-recorded引渡し"/>
          <p:cNvSpPr txBox="1"/>
          <p:nvPr/>
        </p:nvSpPr>
        <p:spPr>
          <a:xfrm>
            <a:off x="9793224" y="4828032"/>
            <a:ext cx="1627631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進捗・処置報告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As-recorded引渡し</a:t>
            </a:r>
          </a:p>
        </p:txBody>
      </p:sp>
      <p:sp>
        <p:nvSpPr>
          <p:cNvPr id="41" name="Rounded Rectangle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4370832"/>
            <a:ext cx="3913632" cy="1078992"/>
          </a:xfrm>
          <a:prstGeom prst="roundRect">
            <a:avLst/>
          </a:prstGeom>
          <a:solidFill>
            <a:srgbClr val="F5DEDB"/>
          </a:solidFill>
          <a:ln w="12700">
            <a:solidFill>
              <a:srgbClr val="A1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EvidenceGap — 撮れなかったことも記"/>
          <p:cNvSpPr txBox="1"/>
          <p:nvPr/>
        </p:nvSpPr>
        <p:spPr>
          <a:xfrm>
            <a:off x="932688" y="4517136"/>
            <a:ext cx="3474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lang="ja-JP">
                <a:solidFill>
                  <a:srgbClr val="A13A31"/>
                </a:solidFill>
                <a:latin typeface="Noto Sans JP"/>
                <a:ea typeface="Noto Sans JP"/>
              </a:rPr>
              <a:t>EvidenceGap — 撮れなかったことも記録</a:t>
            </a:r>
          </a:p>
        </p:txBody>
      </p:sp>
      <p:sp>
        <p:nvSpPr>
          <p:cNvPr id="43" name="Text: 欠測・遮蔽・緊急対応を&#10;「変化なし」へ置き換えな"/>
          <p:cNvSpPr txBox="1"/>
          <p:nvPr/>
        </p:nvSpPr>
        <p:spPr>
          <a:xfrm>
            <a:off x="932688" y="4882896"/>
            <a:ext cx="347472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lang="ja-JP">
                <a:solidFill>
                  <a:srgbClr val="13202B"/>
                </a:solidFill>
                <a:latin typeface="Noto Sans JP"/>
                <a:ea typeface="Noto Sans JP"/>
              </a:rPr>
              <a:t>欠測・遮蔽・緊急対応を</a:t>
            </a:r>
            <a:br/>
            <a:r>
              <a:rPr sz="1300" b="0" lang="ja-JP">
                <a:solidFill>
                  <a:srgbClr val="13202B"/>
                </a:solidFill>
                <a:latin typeface="Noto Sans JP"/>
                <a:ea typeface="Noto Sans JP"/>
              </a:rPr>
              <a:t>「変化なし」へ置き換えない</a:t>
            </a:r>
          </a:p>
        </p:txBody>
      </p:sp>
      <p:sp>
        <p:nvSpPr>
          <p:cNvPr id="44" name="Status: n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577840"/>
            <a:ext cx="5431536" cy="786384"/>
          </a:xfrm>
          <a:prstGeom prst="roundRect">
            <a:avLst/>
          </a:prstGeom>
          <a:solidFill>
            <a:srgbClr val="DCEEE4"/>
          </a:solidFill>
          <a:ln w="12700">
            <a:solidFill>
              <a:srgbClr val="297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tatus: pla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3056" y="5577840"/>
            <a:ext cx="5431536" cy="786384"/>
          </a:xfrm>
          <a:prstGeom prst="roundRect">
            <a:avLst/>
          </a:prstGeom>
          <a:solidFill>
            <a:srgbClr val="F5E4D4"/>
          </a:solidFill>
          <a:ln w="12700">
            <a:solidFill>
              <a:srgbClr val="8C45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今すぐ試せる（v0.9.0）"/>
          <p:cNvSpPr txBox="1"/>
          <p:nvPr/>
        </p:nvSpPr>
        <p:spPr>
          <a:xfrm>
            <a:off x="768096" y="5632703"/>
            <a:ext cx="51572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lang="ja-JP">
                <a:solidFill>
                  <a:srgbClr val="29704A"/>
                </a:solidFill>
                <a:latin typeface="Noto Sans JP"/>
                <a:ea typeface="Noto Sans JP"/>
              </a:rPr>
              <a:t>今すぐ試せる（v0.9.0）</a:t>
            </a:r>
          </a:p>
        </p:txBody>
      </p:sp>
      <p:sp>
        <p:nvSpPr>
          <p:cNvPr id="47" name="Text: 処置前後の画像と候補の記録・人の判断、archi"/>
          <p:cNvSpPr txBox="1"/>
          <p:nvPr/>
        </p:nvSpPr>
        <p:spPr>
          <a:xfrm>
            <a:off x="768096" y="5852159"/>
            <a:ext cx="515721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lang="ja-JP">
                <a:solidFill>
                  <a:srgbClr val="13202B"/>
                </a:solidFill>
                <a:latin typeface="Noto Sans JP"/>
                <a:ea typeface="Noto Sans JP"/>
              </a:rPr>
              <a:t>処置前後の画像と候補の記録・人の判断、archive export／</a:t>
            </a:r>
            <a:br/>
            <a:r>
              <a:rPr sz="1200" b="0" lang="ja-JP">
                <a:solidFill>
                  <a:srgbClr val="13202B"/>
                </a:solidFill>
                <a:latin typeface="Noto Sans JP"/>
                <a:ea typeface="Noto Sans JP"/>
              </a:rPr>
              <a:t>restore、fsck</a:t>
            </a:r>
          </a:p>
        </p:txBody>
      </p:sp>
      <p:sp>
        <p:nvSpPr>
          <p:cNvPr id="48" name="Text: 構想・未実装"/>
          <p:cNvSpPr txBox="1"/>
          <p:nvPr/>
        </p:nvSpPr>
        <p:spPr>
          <a:xfrm>
            <a:off x="6309360" y="5632703"/>
            <a:ext cx="51572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lang="ja-JP">
                <a:solidFill>
                  <a:srgbClr val="8C450E"/>
                </a:solidFill>
                <a:latin typeface="Noto Sans JP"/>
                <a:ea typeface="Noto Sans JP"/>
              </a:rPr>
              <a:t>構想・未実装</a:t>
            </a:r>
          </a:p>
        </p:txBody>
      </p:sp>
      <p:sp>
        <p:nvSpPr>
          <p:cNvPr id="49" name="Text: Procedure／Hold Point／Cov"/>
          <p:cNvSpPr txBox="1"/>
          <p:nvPr/>
        </p:nvSpPr>
        <p:spPr>
          <a:xfrm>
            <a:off x="6309360" y="5852159"/>
            <a:ext cx="515721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lang="ja-JP">
                <a:solidFill>
                  <a:srgbClr val="13202B"/>
                </a:solidFill>
                <a:latin typeface="Noto Sans JP"/>
                <a:ea typeface="Noto Sans JP"/>
              </a:rPr>
              <a:t>Procedure／Hold Point／Coverage／EvidenceGapの構造化、</a:t>
            </a:r>
            <a:br/>
            <a:r>
              <a:rPr sz="1200" b="0" lang="ja-JP">
                <a:solidFill>
                  <a:srgbClr val="13202B"/>
                </a:solidFill>
                <a:latin typeface="Noto Sans JP"/>
                <a:ea typeface="Noto Sans JP"/>
              </a:rPr>
              <a:t>引渡しpackの自動生成</a:t>
            </a:r>
          </a:p>
        </p:txBody>
      </p:sp>
      <p:cxnSp>
        <p:nvCxnSpPr>
          <p:cNvPr id="50" name="Connector 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85216" y="6446520"/>
            <a:ext cx="11009376" cy="0"/>
          </a:xfrm>
          <a:prstGeom prst="line">
            <a:avLst/>
          </a:prstGeom>
          <a:ln w="8890">
            <a:solidFill>
              <a:srgbClr val="7B8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: Concept · v0.9.0 · 確認日 2"/>
          <p:cNvSpPr txBox="1"/>
          <p:nvPr/>
        </p:nvSpPr>
        <p:spPr>
          <a:xfrm>
            <a:off x="585216" y="6492240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lang="ja-JP">
                <a:solidFill>
                  <a:srgbClr val="5E6873"/>
                </a:solidFill>
                <a:latin typeface="Noto Sans JP"/>
                <a:ea typeface="Noto Sans JP"/>
                <a:hlinkClick r:id="rId2"/>
              </a:rPr>
              <a:t>Concept · v0.9.0 · 確認日 2026-09-27</a:t>
            </a:r>
          </a:p>
        </p:txBody>
      </p:sp>
      <p:sp>
        <p:nvSpPr>
          <p:cNvPr id="52" name="Text: Core concept §§6, 14.1, "/>
          <p:cNvSpPr txBox="1"/>
          <p:nvPr/>
        </p:nvSpPr>
        <p:spPr>
          <a:xfrm>
            <a:off x="3429000" y="6492240"/>
            <a:ext cx="7223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lang="ja-JP">
                <a:solidFill>
                  <a:srgbClr val="5E6873"/>
                </a:solidFill>
                <a:latin typeface="Noto Sans JP"/>
                <a:ea typeface="Noto Sans JP"/>
              </a:rPr>
              <a:t>Core concept §§6, 14.1, 14.4, 20.2 · project_status.md</a:t>
            </a:r>
          </a:p>
        </p:txBody>
      </p:sp>
      <p:sp>
        <p:nvSpPr>
          <p:cNvPr id="53" name="Text: 07"/>
          <p:cNvSpPr txBox="1"/>
          <p:nvPr/>
        </p:nvSpPr>
        <p:spPr>
          <a:xfrm>
            <a:off x="11137392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lang="ja-JP">
                <a:solidFill>
                  <a:srgbClr val="5E6873"/>
                </a:solidFill>
                <a:latin typeface="Noto Sans JP"/>
                <a:ea typeface="Noto Sans JP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: デザイナー＋AI — AIは枝を作る、人が採用版を決める"/>
          <p:cNvSpPr>
            <a:spLocks noGrp="1"/>
          </p:cNvSpPr>
          <p:nvPr>
            <p:ph type="title"/>
          </p:nvPr>
        </p:nvSpPr>
        <p:spPr>
          <a:xfrm>
            <a:off x="585216" y="621792"/>
            <a:ext cx="10972800" cy="566928"/>
          </a:xfrm>
        </p:spPr>
        <p:txBody>
          <a:bodyPr wrap="square" lIns="18288" rIns="18288" tIns="18288" bIns="18288"/>
          <a:lstStyle/>
          <a:p>
            <a:pPr algn="l"/>
            <a:r>
              <a:rPr sz="2800" b="1" lang="ja-JP">
                <a:solidFill>
                  <a:srgbClr val="FFFFFF"/>
                </a:solidFill>
                <a:latin typeface="Noto Sans JP"/>
                <a:ea typeface="Noto Sans JP"/>
              </a:rPr>
              <a:t>デザイナー＋AI — AIは枝を作る、人が採用版を決める</a:t>
            </a:r>
          </a:p>
        </p:txBody>
      </p:sp>
      <p:sp>
        <p:nvSpPr>
          <p:cNvPr id="3" name="Text: SCENARIO 04"/>
          <p:cNvSpPr txBox="1"/>
          <p:nvPr/>
        </p:nvSpPr>
        <p:spPr>
          <a:xfrm>
            <a:off x="585216" y="320040"/>
            <a:ext cx="2651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lang="ja-JP">
                <a:solidFill>
                  <a:srgbClr val="3A8EA8"/>
                </a:solidFill>
                <a:latin typeface="Noto Sans JP"/>
                <a:ea typeface="Noto Sans JP"/>
              </a:rPr>
              <a:t>SCENARIO 04</a:t>
            </a:r>
          </a:p>
        </p:txBody>
      </p:sp>
      <p:sp>
        <p:nvSpPr>
          <p:cNvPr id="4" name="Text: 文脈と制約は渡す。採用・公開・引き渡しの権限は渡"/>
          <p:cNvSpPr txBox="1"/>
          <p:nvPr/>
        </p:nvSpPr>
        <p:spPr>
          <a:xfrm>
            <a:off x="603504" y="1170432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lang="ja-JP">
                <a:solidFill>
                  <a:srgbClr val="BDC6D3"/>
                </a:solidFill>
                <a:latin typeface="Noto Sans JP"/>
                <a:ea typeface="Noto Sans JP"/>
              </a:rPr>
              <a:t>文脈と制約は渡す。採用・公開・引き渡しの権限は渡さない。</a:t>
            </a:r>
          </a:p>
        </p:txBody>
      </p:sp>
      <p:sp>
        <p:nvSpPr>
          <p:cNvPr id="5" name="Card: Context P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664208"/>
            <a:ext cx="2331720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cent: Context P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59" y="1828800"/>
            <a:ext cx="128016" cy="1664208"/>
          </a:xfrm>
          <a:prstGeom prst="roundRect">
            <a:avLst/>
          </a:prstGeom>
          <a:solidFill>
            <a:srgbClr val="744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 Context Pack"/>
          <p:cNvSpPr txBox="1"/>
          <p:nvPr/>
        </p:nvSpPr>
        <p:spPr>
          <a:xfrm>
            <a:off x="1097280" y="1792224"/>
            <a:ext cx="1709927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lang="ja-JP">
                <a:solidFill>
                  <a:srgbClr val="74428A"/>
                </a:solidFill>
                <a:latin typeface="Noto Sans JP"/>
                <a:ea typeface="Noto Sans JP"/>
              </a:rPr>
              <a:t>Context Pack</a:t>
            </a:r>
          </a:p>
        </p:txBody>
      </p:sp>
      <p:sp>
        <p:nvSpPr>
          <p:cNvPr id="8" name="Text: Brief／Evidence&#10;Policy／委任"/>
          <p:cNvSpPr txBox="1"/>
          <p:nvPr/>
        </p:nvSpPr>
        <p:spPr>
          <a:xfrm>
            <a:off x="1097280" y="2194560"/>
            <a:ext cx="1709927" cy="1353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Brief／Evidence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Policy／委任範囲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base commit</a:t>
            </a:r>
          </a:p>
        </p:txBody>
      </p:sp>
      <p:sp>
        <p:nvSpPr>
          <p:cNvPr id="9" name="Chevron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45536" y="2386584"/>
            <a:ext cx="384048" cy="475488"/>
          </a:xfrm>
          <a:prstGeom prst="chevron">
            <a:avLst/>
          </a:prstGeom>
          <a:solidFill>
            <a:srgbClr val="718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703320" y="1783080"/>
            <a:ext cx="1965960" cy="859536"/>
          </a:xfrm>
          <a:prstGeom prst="line">
            <a:avLst/>
          </a:prstGeom>
          <a:ln w="25400">
            <a:solidFill>
              <a:srgbClr val="7442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703320" y="2642616"/>
            <a:ext cx="1965960" cy="0"/>
          </a:xfrm>
          <a:prstGeom prst="line">
            <a:avLst/>
          </a:prstGeom>
          <a:ln w="25400">
            <a:solidFill>
              <a:srgbClr val="7442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703320" y="2642616"/>
            <a:ext cx="1965960" cy="859536"/>
          </a:xfrm>
          <a:prstGeom prst="line">
            <a:avLst/>
          </a:prstGeom>
          <a:ln w="25400">
            <a:solidFill>
              <a:srgbClr val="7442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I Proposal 1" title="AI Proposal 1" descr="AI Proposal 1"/>
          <p:cNvSpPr/>
          <p:nvPr/>
        </p:nvSpPr>
        <p:spPr>
          <a:xfrm>
            <a:off x="5303520" y="1444752"/>
            <a:ext cx="1874519" cy="548640"/>
          </a:xfrm>
          <a:prstGeom prst="roundRect">
            <a:avLst/>
          </a:prstGeom>
          <a:solidFill>
            <a:srgbClr val="E8E1F3"/>
          </a:solidFill>
          <a:ln w="8890">
            <a:solidFill>
              <a:srgbClr val="744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ja-JP">
                <a:solidFill>
                  <a:srgbClr val="74428A"/>
                </a:solidFill>
                <a:latin typeface="Noto Sans JP"/>
                <a:ea typeface="Noto Sans JP"/>
              </a:rPr>
              <a:t>AI Proposal 1</a:t>
            </a:r>
          </a:p>
        </p:txBody>
      </p:sp>
      <p:sp>
        <p:nvSpPr>
          <p:cNvPr id="14" name="AI Proposal 2" title="AI Proposal 2" descr="AI Proposal 2"/>
          <p:cNvSpPr/>
          <p:nvPr/>
        </p:nvSpPr>
        <p:spPr>
          <a:xfrm>
            <a:off x="5303520" y="2304288"/>
            <a:ext cx="1874519" cy="548640"/>
          </a:xfrm>
          <a:prstGeom prst="roundRect">
            <a:avLst/>
          </a:prstGeom>
          <a:solidFill>
            <a:srgbClr val="E8E1F3"/>
          </a:solidFill>
          <a:ln w="8890">
            <a:solidFill>
              <a:srgbClr val="744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ja-JP">
                <a:solidFill>
                  <a:srgbClr val="74428A"/>
                </a:solidFill>
                <a:latin typeface="Noto Sans JP"/>
                <a:ea typeface="Noto Sans JP"/>
              </a:rPr>
              <a:t>AI Proposal 2</a:t>
            </a:r>
          </a:p>
        </p:txBody>
      </p:sp>
      <p:sp>
        <p:nvSpPr>
          <p:cNvPr id="15" name="AI Proposal 3" title="AI Proposal 3" descr="AI Proposal 3"/>
          <p:cNvSpPr/>
          <p:nvPr/>
        </p:nvSpPr>
        <p:spPr>
          <a:xfrm>
            <a:off x="5303520" y="3163824"/>
            <a:ext cx="1874519" cy="548640"/>
          </a:xfrm>
          <a:prstGeom prst="roundRect">
            <a:avLst/>
          </a:prstGeom>
          <a:solidFill>
            <a:srgbClr val="E8E1F3"/>
          </a:solidFill>
          <a:ln w="8890">
            <a:solidFill>
              <a:srgbClr val="744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ja-JP">
                <a:solidFill>
                  <a:srgbClr val="74428A"/>
                </a:solidFill>
                <a:latin typeface="Noto Sans JP"/>
                <a:ea typeface="Noto Sans JP"/>
              </a:rPr>
              <a:t>AI Proposal 3</a:t>
            </a:r>
          </a:p>
        </p:txBody>
      </p:sp>
      <p:sp>
        <p:nvSpPr>
          <p:cNvPr id="16" name="Text: proposal/{agent}/{run} の"/>
          <p:cNvSpPr txBox="1"/>
          <p:nvPr/>
        </p:nvSpPr>
        <p:spPr>
          <a:xfrm>
            <a:off x="3840480" y="3931920"/>
            <a:ext cx="31546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lang="ja-JP">
                <a:solidFill>
                  <a:srgbClr val="E1D6EE"/>
                </a:solidFill>
                <a:latin typeface="Noto Sans JP"/>
                <a:ea typeface="Noto Sans JP"/>
              </a:rPr>
              <a:t>proposal/{agent}/{run} のみ</a:t>
            </a:r>
          </a:p>
        </p:txBody>
      </p:sp>
      <p:sp>
        <p:nvSpPr>
          <p:cNvPr id="17" name="Human Gate" title="Human Gate" descr="人がAI提案を採用・修正・却下する"/>
          <p:cNvSpPr/>
          <p:nvPr/>
        </p:nvSpPr>
        <p:spPr>
          <a:xfrm>
            <a:off x="7552944" y="1883664"/>
            <a:ext cx="1554480" cy="1554480"/>
          </a:xfrm>
          <a:prstGeom prst="hexagon">
            <a:avLst/>
          </a:prstGeom>
          <a:solidFill>
            <a:srgbClr val="F3E3C7"/>
          </a:solidFill>
          <a:ln w="38100">
            <a:solidFill>
              <a:srgbClr val="8C4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HUMAN&#10;GATE"/>
          <p:cNvSpPr txBox="1"/>
          <p:nvPr/>
        </p:nvSpPr>
        <p:spPr>
          <a:xfrm>
            <a:off x="7772400" y="2258568"/>
            <a:ext cx="1115568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lang="ja-JP">
                <a:solidFill>
                  <a:srgbClr val="8C4A12"/>
                </a:solidFill>
                <a:latin typeface="Noto Sans JP"/>
                <a:ea typeface="Noto Sans JP"/>
              </a:rPr>
              <a:t>HUMAN</a:t>
            </a:r>
            <a:br/>
            <a:r>
              <a:rPr sz="1500" b="1" lang="ja-JP">
                <a:solidFill>
                  <a:srgbClr val="8C4A12"/>
                </a:solidFill>
                <a:latin typeface="Noto Sans JP"/>
                <a:ea typeface="Noto Sans JP"/>
              </a:rPr>
              <a:t>GATE</a:t>
            </a:r>
          </a:p>
        </p:txBody>
      </p:sp>
      <p:sp>
        <p:nvSpPr>
          <p:cNvPr id="19" name="Chevron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05472" y="2395728"/>
            <a:ext cx="310896" cy="438912"/>
          </a:xfrm>
          <a:prstGeom prst="chevron">
            <a:avLst/>
          </a:prstGeom>
          <a:solidFill>
            <a:srgbClr val="718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17152" y="2395728"/>
            <a:ext cx="310896" cy="438912"/>
          </a:xfrm>
          <a:prstGeom prst="chevron">
            <a:avLst/>
          </a:prstGeom>
          <a:solidFill>
            <a:srgbClr val="718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: 公式判断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37776" y="1810512"/>
            <a:ext cx="1901952" cy="1700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ccent: 公式判断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02367" y="1975104"/>
            <a:ext cx="128016" cy="1371600"/>
          </a:xfrm>
          <a:prstGeom prst="roundRect">
            <a:avLst/>
          </a:prstGeom>
          <a:solidFill>
            <a:srgbClr val="29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公式判断"/>
          <p:cNvSpPr txBox="1"/>
          <p:nvPr/>
        </p:nvSpPr>
        <p:spPr>
          <a:xfrm>
            <a:off x="10076688" y="1938528"/>
            <a:ext cx="12801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lang="ja-JP">
                <a:solidFill>
                  <a:srgbClr val="29704A"/>
                </a:solidFill>
                <a:latin typeface="Noto Sans JP"/>
                <a:ea typeface="Noto Sans JP"/>
              </a:rPr>
              <a:t>公式判断</a:t>
            </a:r>
          </a:p>
        </p:txBody>
      </p:sp>
      <p:sp>
        <p:nvSpPr>
          <p:cNvPr id="24" name="Text: 採用／部分採用&#10;修正／却下&#10;Decision F"/>
          <p:cNvSpPr txBox="1"/>
          <p:nvPr/>
        </p:nvSpPr>
        <p:spPr>
          <a:xfrm>
            <a:off x="10076688" y="2340864"/>
            <a:ext cx="1280160" cy="106070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採用／部分採用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修正／却下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Decision Feedback</a:t>
            </a:r>
          </a:p>
        </p:txBody>
      </p:sp>
      <p:sp>
        <p:nvSpPr>
          <p:cNvPr id="25" name="Rounded 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498848"/>
            <a:ext cx="10881360" cy="1225296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718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Iは decision/*・release/* を進めない" title="AIは decision/*・release/* を進めない" descr="AIは decision/*・release/* を進めない"/>
          <p:cNvSpPr/>
          <p:nvPr/>
        </p:nvSpPr>
        <p:spPr>
          <a:xfrm>
            <a:off x="896112" y="4800600"/>
            <a:ext cx="3182112" cy="512064"/>
          </a:xfrm>
          <a:prstGeom prst="roundRect">
            <a:avLst/>
          </a:prstGeom>
          <a:solidFill>
            <a:srgbClr val="2A2340"/>
          </a:solidFill>
          <a:ln w="8890">
            <a:solidFill>
              <a:srgbClr val="E1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lang="ja-JP">
                <a:solidFill>
                  <a:srgbClr val="E1D6EE"/>
                </a:solidFill>
                <a:latin typeface="Noto Sans JP"/>
                <a:ea typeface="Noto Sans JP"/>
              </a:rPr>
              <a:t>AIは decision/*・release/* を進めない</a:t>
            </a:r>
          </a:p>
        </p:txBody>
      </p:sp>
      <p:sp>
        <p:nvSpPr>
          <p:cNvPr id="27" name="作者性・貢献率を自動判定しない" title="作者性・貢献率を自動判定しない" descr="作者性・貢献率を自動判定しない"/>
          <p:cNvSpPr/>
          <p:nvPr/>
        </p:nvSpPr>
        <p:spPr>
          <a:xfrm>
            <a:off x="4425696" y="4800600"/>
            <a:ext cx="3182112" cy="512064"/>
          </a:xfrm>
          <a:prstGeom prst="roundRect">
            <a:avLst/>
          </a:prstGeom>
          <a:solidFill>
            <a:srgbClr val="2A2340"/>
          </a:solidFill>
          <a:ln w="8890">
            <a:solidFill>
              <a:srgbClr val="E1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lang="ja-JP">
                <a:solidFill>
                  <a:srgbClr val="E1D6EE"/>
                </a:solidFill>
                <a:latin typeface="Noto Sans JP"/>
                <a:ea typeface="Noto Sans JP"/>
              </a:rPr>
              <a:t>作者性・貢献率を自動判定しない</a:t>
            </a:r>
          </a:p>
        </p:txBody>
      </p:sp>
      <p:sp>
        <p:nvSpPr>
          <p:cNvPr id="28" name="明示opt-inなしに外部学習へ出さない" title="明示opt-inなしに外部学習へ出さない" descr="明示opt-inなしに外部学習へ出さない"/>
          <p:cNvSpPr/>
          <p:nvPr/>
        </p:nvSpPr>
        <p:spPr>
          <a:xfrm>
            <a:off x="7955279" y="4800600"/>
            <a:ext cx="3182112" cy="512064"/>
          </a:xfrm>
          <a:prstGeom prst="roundRect">
            <a:avLst/>
          </a:prstGeom>
          <a:solidFill>
            <a:srgbClr val="2A2340"/>
          </a:solidFill>
          <a:ln w="8890">
            <a:solidFill>
              <a:srgbClr val="E1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lang="ja-JP">
                <a:solidFill>
                  <a:srgbClr val="E1D6EE"/>
                </a:solidFill>
                <a:latin typeface="Noto Sans JP"/>
                <a:ea typeface="Noto Sans JP"/>
              </a:rPr>
              <a:t>明示opt-inなしに外部学習へ出さない</a:t>
            </a:r>
          </a:p>
        </p:txBody>
      </p:sp>
      <p:sp>
        <p:nvSpPr>
          <p:cNvPr id="29" name="Status: n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440680"/>
            <a:ext cx="5431536" cy="896112"/>
          </a:xfrm>
          <a:prstGeom prst="roundRect">
            <a:avLst/>
          </a:prstGeom>
          <a:solidFill>
            <a:srgbClr val="DCEEE4"/>
          </a:solidFill>
          <a:ln w="12700">
            <a:solidFill>
              <a:srgbClr val="297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tus: pla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3056" y="5440680"/>
            <a:ext cx="5431536" cy="896112"/>
          </a:xfrm>
          <a:prstGeom prst="roundRect">
            <a:avLst/>
          </a:prstGeom>
          <a:solidFill>
            <a:srgbClr val="F5E4D4"/>
          </a:solidFill>
          <a:ln w="12700">
            <a:solidFill>
              <a:srgbClr val="8C45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今すぐ試せる（v0.9.0）"/>
          <p:cNvSpPr txBox="1"/>
          <p:nvPr/>
        </p:nvSpPr>
        <p:spPr>
          <a:xfrm>
            <a:off x="768096" y="5495544"/>
            <a:ext cx="51572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lang="ja-JP">
                <a:solidFill>
                  <a:srgbClr val="29704A"/>
                </a:solidFill>
                <a:latin typeface="Noto Sans JP"/>
                <a:ea typeface="Noto Sans JP"/>
              </a:rPr>
              <a:t>今すぐ試せる（v0.9.0）</a:t>
            </a:r>
          </a:p>
        </p:txBody>
      </p:sp>
      <p:sp>
        <p:nvSpPr>
          <p:cNvPr id="32" name="Text: 外部ツールのAI出力をcaller-suppli"/>
          <p:cNvSpPr txBox="1"/>
          <p:nvPr/>
        </p:nvSpPr>
        <p:spPr>
          <a:xfrm>
            <a:off x="768096" y="5715000"/>
            <a:ext cx="5157216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lang="ja-JP">
                <a:solidFill>
                  <a:srgbClr val="13202B"/>
                </a:solidFill>
                <a:latin typeface="Noto Sans JP"/>
                <a:ea typeface="Noto Sans JP"/>
              </a:rPr>
              <a:t>外部ツールのAI出力をcaller-suppliedのAI-attributed proposal</a:t>
            </a:r>
            <a:br/>
            <a:r>
              <a:rPr sz="1200" b="0" lang="ja-JP">
                <a:solidFill>
                  <a:srgbClr val="13202B"/>
                </a:solidFill>
                <a:latin typeface="Noto Sans JP"/>
                <a:ea typeface="Noto Sans JP"/>
              </a:rPr>
              <a:t>として記録し、人だけが判断する（派生・再レビューは別session）</a:t>
            </a:r>
          </a:p>
        </p:txBody>
      </p:sp>
      <p:sp>
        <p:nvSpPr>
          <p:cNvPr id="33" name="Text: 構想・未実装"/>
          <p:cNvSpPr txBox="1"/>
          <p:nvPr/>
        </p:nvSpPr>
        <p:spPr>
          <a:xfrm>
            <a:off x="6309360" y="5495544"/>
            <a:ext cx="51572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lang="ja-JP">
                <a:solidFill>
                  <a:srgbClr val="8C450E"/>
                </a:solidFill>
                <a:latin typeface="Noto Sans JP"/>
                <a:ea typeface="Noto Sans JP"/>
              </a:rPr>
              <a:t>構想・未実装</a:t>
            </a:r>
          </a:p>
        </p:txBody>
      </p:sp>
      <p:sp>
        <p:nvSpPr>
          <p:cNvPr id="34" name="Text: Context Packからの複数proposa"/>
          <p:cNvSpPr txBox="1"/>
          <p:nvPr/>
        </p:nvSpPr>
        <p:spPr>
          <a:xfrm>
            <a:off x="6309360" y="5715000"/>
            <a:ext cx="5157216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lang="ja-JP">
                <a:solidFill>
                  <a:srgbClr val="13202B"/>
                </a:solidFill>
                <a:latin typeface="Noto Sans JP"/>
                <a:ea typeface="Noto Sans JP"/>
              </a:rPr>
              <a:t>Context Packからの複数proposal系列の自動生成・AI model実行・</a:t>
            </a:r>
            <a:br/>
            <a:r>
              <a:rPr sz="1200" b="0" lang="ja-JP">
                <a:solidFill>
                  <a:srgbClr val="13202B"/>
                </a:solidFill>
                <a:latin typeface="Noto Sans JP"/>
                <a:ea typeface="Noto Sans JP"/>
              </a:rPr>
              <a:t>部分採用</a:t>
            </a:r>
          </a:p>
        </p:txBody>
      </p:sp>
      <p:cxnSp>
        <p:nvCxnSpPr>
          <p:cNvPr id="35" name="Connector 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85216" y="6446520"/>
            <a:ext cx="11009376" cy="0"/>
          </a:xfrm>
          <a:prstGeom prst="line">
            <a:avLst/>
          </a:prstGeom>
          <a:ln w="8890">
            <a:solidFill>
              <a:srgbClr val="3340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: Concept · v0.9.0 · 確認日 2"/>
          <p:cNvSpPr txBox="1"/>
          <p:nvPr/>
        </p:nvSpPr>
        <p:spPr>
          <a:xfrm>
            <a:off x="585216" y="6492240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lang="ja-JP">
                <a:solidFill>
                  <a:srgbClr val="AAB5C5"/>
                </a:solidFill>
                <a:latin typeface="Noto Sans JP"/>
                <a:ea typeface="Noto Sans JP"/>
                <a:hlinkClick r:id="rId2"/>
              </a:rPr>
              <a:t>Concept · v0.9.0 · 確認日 2026-09-27</a:t>
            </a:r>
          </a:p>
        </p:txBody>
      </p:sp>
      <p:sp>
        <p:nvSpPr>
          <p:cNvPr id="37" name="Text: Core concept §21 · Stage"/>
          <p:cNvSpPr txBox="1"/>
          <p:nvPr/>
        </p:nvSpPr>
        <p:spPr>
          <a:xfrm>
            <a:off x="3429000" y="6492240"/>
            <a:ext cx="7223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lang="ja-JP">
                <a:solidFill>
                  <a:srgbClr val="AAB5C5"/>
                </a:solidFill>
                <a:latin typeface="Noto Sans JP"/>
                <a:ea typeface="Noto Sans JP"/>
              </a:rPr>
              <a:t>Core concept §21 · Stage 0 Workstream D · project_status.md</a:t>
            </a:r>
          </a:p>
        </p:txBody>
      </p:sp>
      <p:sp>
        <p:nvSpPr>
          <p:cNvPr id="38" name="Text: 08"/>
          <p:cNvSpPr txBox="1"/>
          <p:nvPr/>
        </p:nvSpPr>
        <p:spPr>
          <a:xfrm>
            <a:off x="11137392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lang="ja-JP">
                <a:solidFill>
                  <a:srgbClr val="AAB5C5"/>
                </a:solidFill>
                <a:latin typeface="Noto Sans JP"/>
                <a:ea typeface="Noto Sans JP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: 制作チーム・後任 — 重要な変更へ2分で到達する"/>
          <p:cNvSpPr>
            <a:spLocks noGrp="1"/>
          </p:cNvSpPr>
          <p:nvPr>
            <p:ph type="title"/>
          </p:nvPr>
        </p:nvSpPr>
        <p:spPr>
          <a:xfrm>
            <a:off x="585216" y="621792"/>
            <a:ext cx="10972800" cy="566928"/>
          </a:xfrm>
        </p:spPr>
        <p:txBody>
          <a:bodyPr wrap="square" lIns="18288" rIns="18288" tIns="18288" bIns="18288"/>
          <a:lstStyle/>
          <a:p>
            <a:pPr algn="l"/>
            <a:r>
              <a:rPr sz="2800" b="1" lang="ja-JP">
                <a:solidFill>
                  <a:srgbClr val="13202B"/>
                </a:solidFill>
                <a:latin typeface="Noto Sans JP"/>
                <a:ea typeface="Noto Sans JP"/>
              </a:rPr>
              <a:t>制作チーム・後任 — 重要な変更へ2分で到達する</a:t>
            </a:r>
          </a:p>
        </p:txBody>
      </p:sp>
      <p:sp>
        <p:nvSpPr>
          <p:cNvPr id="3" name="Text: HANDOFF"/>
          <p:cNvSpPr txBox="1"/>
          <p:nvPr/>
        </p:nvSpPr>
        <p:spPr>
          <a:xfrm>
            <a:off x="585216" y="320040"/>
            <a:ext cx="2651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lang="ja-JP">
                <a:solidFill>
                  <a:srgbClr val="0B6E69"/>
                </a:solidFill>
                <a:latin typeface="Noto Sans JP"/>
                <a:ea typeface="Noto Sans JP"/>
              </a:rPr>
              <a:t>HANDOFF</a:t>
            </a:r>
          </a:p>
        </p:txBody>
      </p:sp>
      <p:sp>
        <p:nvSpPr>
          <p:cNvPr id="4" name="Text: 完成物、チャット、フォルダを巡回せず、判断から根"/>
          <p:cNvSpPr txBox="1"/>
          <p:nvPr/>
        </p:nvSpPr>
        <p:spPr>
          <a:xfrm>
            <a:off x="603504" y="1170432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lang="ja-JP">
                <a:solidFill>
                  <a:srgbClr val="5E6873"/>
                </a:solidFill>
                <a:latin typeface="Noto Sans JP"/>
                <a:ea typeface="Noto Sans JP"/>
              </a:rPr>
              <a:t>完成物、チャット、フォルダを巡回せず、判断から根拠へ遡る（Pilot目標）</a:t>
            </a:r>
          </a:p>
        </p:txBody>
      </p:sp>
      <p:sp>
        <p:nvSpPr>
          <p:cNvPr id="5" name="PILOT目標 · 2分" title="PILOT目標 · 2分" descr="PILOT目標 · 2分"/>
          <p:cNvSpPr/>
          <p:nvPr/>
        </p:nvSpPr>
        <p:spPr>
          <a:xfrm>
            <a:off x="9811512" y="493776"/>
            <a:ext cx="1755648" cy="420624"/>
          </a:xfrm>
          <a:prstGeom prst="roundRect">
            <a:avLst/>
          </a:prstGeom>
          <a:solidFill>
            <a:srgbClr val="F3E3C7"/>
          </a:solidFill>
          <a:ln w="8890">
            <a:solidFill>
              <a:srgbClr val="8C4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lang="ja-JP">
                <a:solidFill>
                  <a:srgbClr val="8C4A12"/>
                </a:solidFill>
                <a:latin typeface="Noto Sans JP"/>
                <a:ea typeface="Noto Sans JP"/>
              </a:rPr>
              <a:t>PILOT目標 · 2分</a:t>
            </a:r>
          </a:p>
        </p:txBody>
      </p:sp>
      <p:cxnSp>
        <p:nvCxnSpPr>
          <p:cNvPr id="6" name="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2048255" y="2075688"/>
            <a:ext cx="4041649" cy="1197864"/>
          </a:xfrm>
          <a:prstGeom prst="line">
            <a:avLst/>
          </a:prstGeom>
          <a:ln w="22860">
            <a:solidFill>
              <a:srgbClr val="7B8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2048255" y="3273552"/>
            <a:ext cx="4041649" cy="1417320"/>
          </a:xfrm>
          <a:prstGeom prst="line">
            <a:avLst/>
          </a:prstGeom>
          <a:ln w="22860">
            <a:solidFill>
              <a:srgbClr val="7B8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5669280" y="3273552"/>
            <a:ext cx="420624" cy="1664207"/>
          </a:xfrm>
          <a:prstGeom prst="line">
            <a:avLst/>
          </a:prstGeom>
          <a:ln w="22860">
            <a:solidFill>
              <a:srgbClr val="7B8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6089904" y="2075688"/>
            <a:ext cx="3968496" cy="1197864"/>
          </a:xfrm>
          <a:prstGeom prst="line">
            <a:avLst/>
          </a:prstGeom>
          <a:ln w="22860">
            <a:solidFill>
              <a:srgbClr val="7B8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89904" y="3273552"/>
            <a:ext cx="3968496" cy="1417320"/>
          </a:xfrm>
          <a:prstGeom prst="line">
            <a:avLst/>
          </a:prstGeom>
          <a:ln w="22860">
            <a:solidFill>
              <a:srgbClr val="7B8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判断の節目" title="判断の節目" descr="5つの問いから根拠と制約へ遡る中心点"/>
          <p:cNvSpPr/>
          <p:nvPr/>
        </p:nvSpPr>
        <p:spPr>
          <a:xfrm>
            <a:off x="4956048" y="2240280"/>
            <a:ext cx="2267712" cy="2066543"/>
          </a:xfrm>
          <a:prstGeom prst="ellipse">
            <a:avLst/>
          </a:prstGeom>
          <a:solidFill>
            <a:srgbClr val="F3E3C7"/>
          </a:solidFill>
          <a:ln w="35560">
            <a:solidFill>
              <a:srgbClr val="8C4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判断の節目&#10;Decision Commit"/>
          <p:cNvSpPr txBox="1"/>
          <p:nvPr/>
        </p:nvSpPr>
        <p:spPr>
          <a:xfrm>
            <a:off x="5285232" y="2688336"/>
            <a:ext cx="1609344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lang="ja-JP">
                <a:solidFill>
                  <a:srgbClr val="8C4A12"/>
                </a:solidFill>
                <a:latin typeface="Noto Sans JP"/>
                <a:ea typeface="Noto Sans JP"/>
              </a:rPr>
              <a:t>判断の節目</a:t>
            </a:r>
            <a:br/>
            <a:r>
              <a:rPr sz="1700" b="1" lang="ja-JP">
                <a:solidFill>
                  <a:srgbClr val="8C4A12"/>
                </a:solidFill>
                <a:latin typeface="Noto Sans JP"/>
                <a:ea typeface="Noto Sans JP"/>
              </a:rPr>
              <a:t>Decision Commit</a:t>
            </a:r>
          </a:p>
        </p:txBody>
      </p:sp>
      <p:sp>
        <p:nvSpPr>
          <p:cNvPr id="13" name="Card: 何が変わった？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1572768"/>
            <a:ext cx="2596896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ccent: 何が変わった？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1737360"/>
            <a:ext cx="128016" cy="676656"/>
          </a:xfrm>
          <a:prstGeom prst="round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何が変わった？"/>
          <p:cNvSpPr txBox="1"/>
          <p:nvPr/>
        </p:nvSpPr>
        <p:spPr>
          <a:xfrm>
            <a:off x="1188719" y="1700784"/>
            <a:ext cx="1975103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lang="ja-JP">
                <a:solidFill>
                  <a:srgbClr val="0B6E69"/>
                </a:solidFill>
                <a:latin typeface="Noto Sans JP"/>
                <a:ea typeface="Noto Sans JP"/>
              </a:rPr>
              <a:t>何が変わった？</a:t>
            </a:r>
          </a:p>
        </p:txBody>
      </p:sp>
      <p:sp>
        <p:nvSpPr>
          <p:cNvPr id="16" name="Text: 方向付きDiff"/>
          <p:cNvSpPr txBox="1"/>
          <p:nvPr/>
        </p:nvSpPr>
        <p:spPr>
          <a:xfrm>
            <a:off x="1188719" y="2103120"/>
            <a:ext cx="1975103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方向付きDiff</a:t>
            </a:r>
          </a:p>
        </p:txBody>
      </p:sp>
      <p:sp>
        <p:nvSpPr>
          <p:cNvPr id="17" name="Card: なぜ変えた？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4187952"/>
            <a:ext cx="2596896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ccent: なぜ変えた？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352544"/>
            <a:ext cx="128016" cy="676656"/>
          </a:xfrm>
          <a:prstGeom prst="roundRect">
            <a:avLst/>
          </a:prstGeom>
          <a:solidFill>
            <a:srgbClr val="8C4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なぜ変えた？"/>
          <p:cNvSpPr txBox="1"/>
          <p:nvPr/>
        </p:nvSpPr>
        <p:spPr>
          <a:xfrm>
            <a:off x="1188719" y="4315968"/>
            <a:ext cx="1975103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lang="ja-JP">
                <a:solidFill>
                  <a:srgbClr val="8C4A12"/>
                </a:solidFill>
                <a:latin typeface="Noto Sans JP"/>
                <a:ea typeface="Noto Sans JP"/>
              </a:rPr>
              <a:t>なぜ変えた？</a:t>
            </a:r>
          </a:p>
        </p:txBody>
      </p:sp>
      <p:sp>
        <p:nvSpPr>
          <p:cNvPr id="20" name="Text: 採用理由・Claim"/>
          <p:cNvSpPr txBox="1"/>
          <p:nvPr/>
        </p:nvSpPr>
        <p:spPr>
          <a:xfrm>
            <a:off x="1188719" y="4718304"/>
            <a:ext cx="1975103" cy="3657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採用理由・Claim</a:t>
            </a:r>
          </a:p>
        </p:txBody>
      </p:sp>
      <p:sp>
        <p:nvSpPr>
          <p:cNvPr id="21" name="Card: 何を採らなかった？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0832" y="4434840"/>
            <a:ext cx="2596896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ccent: 何を採らなかった？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35424" y="4599431"/>
            <a:ext cx="128016" cy="676656"/>
          </a:xfrm>
          <a:prstGeom prst="roundRect">
            <a:avLst/>
          </a:prstGeom>
          <a:solidFill>
            <a:srgbClr val="744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何を採らなかった？"/>
          <p:cNvSpPr txBox="1"/>
          <p:nvPr/>
        </p:nvSpPr>
        <p:spPr>
          <a:xfrm>
            <a:off x="4809744" y="4562855"/>
            <a:ext cx="1975103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lang="ja-JP">
                <a:solidFill>
                  <a:srgbClr val="74428A"/>
                </a:solidFill>
                <a:latin typeface="Noto Sans JP"/>
                <a:ea typeface="Noto Sans JP"/>
              </a:rPr>
              <a:t>何を採らなかった？</a:t>
            </a:r>
          </a:p>
        </p:txBody>
      </p:sp>
      <p:sp>
        <p:nvSpPr>
          <p:cNvPr id="24" name="Text: Proposal／却下理由"/>
          <p:cNvSpPr txBox="1"/>
          <p:nvPr/>
        </p:nvSpPr>
        <p:spPr>
          <a:xfrm>
            <a:off x="4809744" y="4965192"/>
            <a:ext cx="1975103" cy="3657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Proposal／却下理由</a:t>
            </a:r>
          </a:p>
        </p:txBody>
      </p:sp>
      <p:sp>
        <p:nvSpPr>
          <p:cNvPr id="25" name="Card: 根拠は？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59952" y="1572768"/>
            <a:ext cx="2596896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ccent: 根拠は？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24544" y="1737360"/>
            <a:ext cx="128016" cy="676656"/>
          </a:xfrm>
          <a:prstGeom prst="round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根拠は？"/>
          <p:cNvSpPr txBox="1"/>
          <p:nvPr/>
        </p:nvSpPr>
        <p:spPr>
          <a:xfrm>
            <a:off x="9198864" y="1700784"/>
            <a:ext cx="1975103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lang="ja-JP">
                <a:solidFill>
                  <a:srgbClr val="0B6E69"/>
                </a:solidFill>
                <a:latin typeface="Noto Sans JP"/>
                <a:ea typeface="Noto Sans JP"/>
              </a:rPr>
              <a:t>根拠は？</a:t>
            </a:r>
          </a:p>
        </p:txBody>
      </p:sp>
      <p:sp>
        <p:nvSpPr>
          <p:cNvPr id="28" name="Text: Evidence記録"/>
          <p:cNvSpPr txBox="1"/>
          <p:nvPr/>
        </p:nvSpPr>
        <p:spPr>
          <a:xfrm>
            <a:off x="9198864" y="2103120"/>
            <a:ext cx="1975103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Evidence記録</a:t>
            </a:r>
          </a:p>
        </p:txBody>
      </p:sp>
      <p:sp>
        <p:nvSpPr>
          <p:cNvPr id="29" name="Card: 次に守ることは？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59952" y="4187952"/>
            <a:ext cx="2596896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ccent: 次に守ることは？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24544" y="4352544"/>
            <a:ext cx="128016" cy="676656"/>
          </a:xfrm>
          <a:prstGeom prst="roundRect">
            <a:avLst/>
          </a:prstGeom>
          <a:solidFill>
            <a:srgbClr val="4E5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次に守ることは？"/>
          <p:cNvSpPr txBox="1"/>
          <p:nvPr/>
        </p:nvSpPr>
        <p:spPr>
          <a:xfrm>
            <a:off x="9198864" y="4315968"/>
            <a:ext cx="1975103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lang="ja-JP">
                <a:solidFill>
                  <a:srgbClr val="4E51A8"/>
                </a:solidFill>
                <a:latin typeface="Noto Sans JP"/>
                <a:ea typeface="Noto Sans JP"/>
              </a:rPr>
              <a:t>次に守ることは？</a:t>
            </a:r>
          </a:p>
        </p:txBody>
      </p:sp>
      <p:sp>
        <p:nvSpPr>
          <p:cNvPr id="32" name="Text: 制約・未解決事項"/>
          <p:cNvSpPr txBox="1"/>
          <p:nvPr/>
        </p:nvSpPr>
        <p:spPr>
          <a:xfrm>
            <a:off x="9198864" y="4718304"/>
            <a:ext cx="1975103" cy="3657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制約・未解決事項</a:t>
            </a:r>
          </a:p>
        </p:txBody>
      </p:sp>
      <p:sp>
        <p:nvSpPr>
          <p:cNvPr id="33" name="Rounded Rectangle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16352" y="1463040"/>
            <a:ext cx="2286000" cy="548640"/>
          </a:xfrm>
          <a:prstGeom prst="roundRect">
            <a:avLst/>
          </a:prstGeom>
          <a:solidFill>
            <a:srgbClr val="DCEEE4"/>
          </a:solidFill>
          <a:ln w="10160">
            <a:solidFill>
              <a:srgbClr val="297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報告・引き継ぎpack"/>
          <p:cNvSpPr txBox="1"/>
          <p:nvPr/>
        </p:nvSpPr>
        <p:spPr>
          <a:xfrm>
            <a:off x="2999232" y="1545336"/>
            <a:ext cx="1920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lang="ja-JP">
                <a:solidFill>
                  <a:srgbClr val="29704A"/>
                </a:solidFill>
                <a:latin typeface="Noto Sans JP"/>
                <a:ea typeface="Noto Sans JP"/>
              </a:rPr>
              <a:t>報告・引き継ぎpack</a:t>
            </a:r>
          </a:p>
        </p:txBody>
      </p:sp>
      <p:sp>
        <p:nvSpPr>
          <p:cNvPr id="35" name="Rounded Rectangle 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14032" y="5056632"/>
            <a:ext cx="1481328" cy="530352"/>
          </a:xfrm>
          <a:prstGeom prst="roundRect">
            <a:avLst/>
          </a:prstGeom>
          <a:solidFill>
            <a:srgbClr val="E2E4F7"/>
          </a:solidFill>
          <a:ln w="10160">
            <a:solidFill>
              <a:srgbClr val="4E5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open archive"/>
          <p:cNvSpPr txBox="1"/>
          <p:nvPr/>
        </p:nvSpPr>
        <p:spPr>
          <a:xfrm>
            <a:off x="7242048" y="5129784"/>
            <a:ext cx="122529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lang="ja-JP">
                <a:solidFill>
                  <a:srgbClr val="4E51A8"/>
                </a:solidFill>
                <a:latin typeface="Noto Sans JP"/>
                <a:ea typeface="Noto Sans JP"/>
              </a:rPr>
              <a:t>open archive</a:t>
            </a:r>
          </a:p>
        </p:txBody>
      </p:sp>
      <p:sp>
        <p:nvSpPr>
          <p:cNvPr id="37" name="Status: n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632704"/>
            <a:ext cx="5431536" cy="749808"/>
          </a:xfrm>
          <a:prstGeom prst="roundRect">
            <a:avLst/>
          </a:prstGeom>
          <a:solidFill>
            <a:srgbClr val="DCEEE4"/>
          </a:solidFill>
          <a:ln w="12700">
            <a:solidFill>
              <a:srgbClr val="297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tatus: pla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3056" y="5632704"/>
            <a:ext cx="5431536" cy="749808"/>
          </a:xfrm>
          <a:prstGeom prst="roundRect">
            <a:avLst/>
          </a:prstGeom>
          <a:solidFill>
            <a:srgbClr val="F5E4D4"/>
          </a:solidFill>
          <a:ln w="12700">
            <a:solidFill>
              <a:srgbClr val="8C45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今すぐ試せる（v0.9.0）"/>
          <p:cNvSpPr txBox="1"/>
          <p:nvPr/>
        </p:nvSpPr>
        <p:spPr>
          <a:xfrm>
            <a:off x="768096" y="5687568"/>
            <a:ext cx="51572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lang="ja-JP">
                <a:solidFill>
                  <a:srgbClr val="29704A"/>
                </a:solidFill>
                <a:latin typeface="Noto Sans JP"/>
                <a:ea typeface="Noto Sans JP"/>
              </a:rPr>
              <a:t>今すぐ試せる（v0.9.0）</a:t>
            </a:r>
          </a:p>
        </p:txBody>
      </p:sp>
      <p:sp>
        <p:nvSpPr>
          <p:cNvPr id="40" name="Text: creator-report、localhost"/>
          <p:cNvSpPr txBox="1"/>
          <p:nvPr/>
        </p:nvSpPr>
        <p:spPr>
          <a:xfrm>
            <a:off x="768096" y="5907024"/>
            <a:ext cx="5157216" cy="42062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lang="ja-JP">
                <a:solidFill>
                  <a:srgbClr val="13202B"/>
                </a:solidFill>
                <a:latin typeface="Noto Sans JP"/>
                <a:ea typeface="Noto Sans JP"/>
              </a:rPr>
              <a:t>creator-report、localhost UIでの理由・timeline閲覧、archive／</a:t>
            </a:r>
            <a:br/>
            <a:r>
              <a:rPr sz="1200" b="0" lang="ja-JP">
                <a:solidFill>
                  <a:srgbClr val="13202B"/>
                </a:solidFill>
                <a:latin typeface="Noto Sans JP"/>
                <a:ea typeface="Noto Sans JP"/>
              </a:rPr>
              <a:t>restore、synapse-presentのlocal publication view</a:t>
            </a:r>
          </a:p>
        </p:txBody>
      </p:sp>
      <p:sp>
        <p:nvSpPr>
          <p:cNvPr id="41" name="Text: 構想・未実装"/>
          <p:cNvSpPr txBox="1"/>
          <p:nvPr/>
        </p:nvSpPr>
        <p:spPr>
          <a:xfrm>
            <a:off x="6309360" y="5687568"/>
            <a:ext cx="51572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lang="ja-JP">
                <a:solidFill>
                  <a:srgbClr val="8C450E"/>
                </a:solidFill>
                <a:latin typeface="Noto Sans JP"/>
                <a:ea typeface="Noto Sans JP"/>
              </a:rPr>
              <a:t>構想・未実装</a:t>
            </a:r>
          </a:p>
        </p:txBody>
      </p:sp>
      <p:sp>
        <p:nvSpPr>
          <p:cNvPr id="42" name="Text: 方向付きDiff（何が変わったかの自動可視化）。"/>
          <p:cNvSpPr txBox="1"/>
          <p:nvPr/>
        </p:nvSpPr>
        <p:spPr>
          <a:xfrm>
            <a:off x="6309360" y="5907024"/>
            <a:ext cx="5157216" cy="42062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lang="ja-JP">
                <a:solidFill>
                  <a:srgbClr val="13202B"/>
                </a:solidFill>
                <a:latin typeface="Noto Sans JP"/>
                <a:ea typeface="Noto Sans JP"/>
              </a:rPr>
              <a:t>方向付きDiff（何が変わったかの自動可視化）。2分到達は</a:t>
            </a:r>
            <a:br/>
            <a:r>
              <a:rPr sz="1200" b="0" lang="ja-JP">
                <a:solidFill>
                  <a:srgbClr val="13202B"/>
                </a:solidFill>
                <a:latin typeface="Noto Sans JP"/>
                <a:ea typeface="Noto Sans JP"/>
              </a:rPr>
              <a:t>Pilot目標であり実績値ではない</a:t>
            </a:r>
          </a:p>
        </p:txBody>
      </p:sp>
      <p:cxnSp>
        <p:nvCxnSpPr>
          <p:cNvPr id="43" name="Connector 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85216" y="6446520"/>
            <a:ext cx="11009376" cy="0"/>
          </a:xfrm>
          <a:prstGeom prst="line">
            <a:avLst/>
          </a:prstGeom>
          <a:ln w="8890">
            <a:solidFill>
              <a:srgbClr val="7B8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: Concept · v0.9.0 · 確認日 2"/>
          <p:cNvSpPr txBox="1"/>
          <p:nvPr/>
        </p:nvSpPr>
        <p:spPr>
          <a:xfrm>
            <a:off x="585216" y="6492240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lang="ja-JP">
                <a:solidFill>
                  <a:srgbClr val="5E6873"/>
                </a:solidFill>
                <a:latin typeface="Noto Sans JP"/>
                <a:ea typeface="Noto Sans JP"/>
                <a:hlinkClick r:id="rId2"/>
              </a:rPr>
              <a:t>Concept · v0.9.0 · 確認日 2026-09-27</a:t>
            </a:r>
          </a:p>
        </p:txBody>
      </p:sp>
      <p:sp>
        <p:nvSpPr>
          <p:cNvPr id="45" name="Text: Core concept §§20.2, 20."/>
          <p:cNvSpPr txBox="1"/>
          <p:nvPr/>
        </p:nvSpPr>
        <p:spPr>
          <a:xfrm>
            <a:off x="3429000" y="6492240"/>
            <a:ext cx="7223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lang="ja-JP">
                <a:solidFill>
                  <a:srgbClr val="5E6873"/>
                </a:solidFill>
                <a:latin typeface="Noto Sans JP"/>
                <a:ea typeface="Noto Sans JP"/>
              </a:rPr>
              <a:t>Core concept §§20.2, 20.6 · Pilot target · project_status.md</a:t>
            </a:r>
          </a:p>
        </p:txBody>
      </p:sp>
      <p:sp>
        <p:nvSpPr>
          <p:cNvPr id="46" name="Text: 09"/>
          <p:cNvSpPr txBox="1"/>
          <p:nvPr/>
        </p:nvSpPr>
        <p:spPr>
          <a:xfrm>
            <a:off x="11137392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lang="ja-JP">
                <a:solidFill>
                  <a:srgbClr val="5E6873"/>
                </a:solidFill>
                <a:latin typeface="Noto Sans JP"/>
                <a:ea typeface="Noto Sans JP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: まずは「1対象 × 1節目 × 1比較」から"/>
          <p:cNvSpPr>
            <a:spLocks noGrp="1"/>
          </p:cNvSpPr>
          <p:nvPr>
            <p:ph type="title"/>
          </p:nvPr>
        </p:nvSpPr>
        <p:spPr>
          <a:xfrm>
            <a:off x="585216" y="621792"/>
            <a:ext cx="10972800" cy="566928"/>
          </a:xfrm>
        </p:spPr>
        <p:txBody>
          <a:bodyPr wrap="square" lIns="18288" rIns="18288" tIns="18288" bIns="18288"/>
          <a:lstStyle/>
          <a:p>
            <a:pPr algn="l"/>
            <a:r>
              <a:rPr sz="2800" b="1" lang="ja-JP">
                <a:solidFill>
                  <a:srgbClr val="13202B"/>
                </a:solidFill>
                <a:latin typeface="Noto Sans JP"/>
                <a:ea typeface="Noto Sans JP"/>
              </a:rPr>
              <a:t>まずは「1対象 × 1節目 × 1比較」から</a:t>
            </a:r>
          </a:p>
        </p:txBody>
      </p:sp>
      <p:sp>
        <p:nvSpPr>
          <p:cNvPr id="3" name="Text: START SMALL"/>
          <p:cNvSpPr txBox="1"/>
          <p:nvPr/>
        </p:nvSpPr>
        <p:spPr>
          <a:xfrm>
            <a:off x="585216" y="320040"/>
            <a:ext cx="2651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lang="ja-JP">
                <a:solidFill>
                  <a:srgbClr val="0B6E69"/>
                </a:solidFill>
                <a:latin typeface="Noto Sans JP"/>
                <a:ea typeface="Noto Sans JP"/>
              </a:rPr>
              <a:t>START SMALL</a:t>
            </a:r>
          </a:p>
        </p:txBody>
      </p:sp>
      <p:sp>
        <p:nvSpPr>
          <p:cNvPr id="4" name="Text: 絵画・壁画をprimary pilot、小規模内"/>
          <p:cNvSpPr txBox="1"/>
          <p:nvPr/>
        </p:nvSpPr>
        <p:spPr>
          <a:xfrm>
            <a:off x="603504" y="1170432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lang="ja-JP">
                <a:solidFill>
                  <a:srgbClr val="5E6873"/>
                </a:solidFill>
                <a:latin typeface="Noto Sans JP"/>
                <a:ea typeface="Noto Sans JP"/>
              </a:rPr>
              <a:t>絵画・壁画をprimary pilot、小規模内装・壁面を次の検証対象にする</a:t>
            </a:r>
          </a:p>
        </p:txBody>
      </p:sp>
      <p:sp>
        <p:nvSpPr>
          <p:cNvPr id="5" name="Pilot formu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8992" y="1417320"/>
            <a:ext cx="10021824" cy="841248"/>
          </a:xfrm>
          <a:prstGeom prst="roundRect">
            <a:avLst/>
          </a:prstGeom>
          <a:solidFill>
            <a:srgbClr val="0B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600200"/>
            <a:ext cx="9345168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2000" b="1" lang="ja-JP">
                <a:solidFill>
                  <a:srgbClr val="FFFFFF"/>
                </a:solidFill>
                <a:latin typeface="Noto Sans JP"/>
                <a:ea typeface="Noto Sans JP"/>
              </a:rPr>
              <a:t>1対象</a:t>
            </a:r>
            <a:r>
              <a:rPr sz="2000" b="0" lang="ja-JP">
                <a:solidFill>
                  <a:srgbClr val="8FBBC8"/>
                </a:solidFill>
                <a:latin typeface="Noto Sans JP"/>
                <a:ea typeface="Noto Sans JP"/>
              </a:rPr>
              <a:t>　×　</a:t>
            </a:r>
            <a:r>
              <a:rPr sz="2000" b="1" lang="ja-JP">
                <a:solidFill>
                  <a:srgbClr val="FFFFFF"/>
                </a:solidFill>
                <a:latin typeface="Noto Sans JP"/>
                <a:ea typeface="Noto Sans JP"/>
              </a:rPr>
              <a:t>1節目</a:t>
            </a:r>
            <a:r>
              <a:rPr sz="2000" b="0" lang="ja-JP">
                <a:solidFill>
                  <a:srgbClr val="8FBBC8"/>
                </a:solidFill>
                <a:latin typeface="Noto Sans JP"/>
                <a:ea typeface="Noto Sans JP"/>
              </a:rPr>
              <a:t>　×　</a:t>
            </a:r>
            <a:r>
              <a:rPr sz="2000" b="1" lang="ja-JP">
                <a:solidFill>
                  <a:srgbClr val="FFFFFF"/>
                </a:solidFill>
                <a:latin typeface="Noto Sans JP"/>
                <a:ea typeface="Noto Sans JP"/>
              </a:rPr>
              <a:t>1比較</a:t>
            </a:r>
            <a:r>
              <a:rPr sz="2000" b="0" lang="ja-JP">
                <a:solidFill>
                  <a:srgbClr val="8FBBC8"/>
                </a:solidFill>
                <a:latin typeface="Noto Sans JP"/>
                <a:ea typeface="Noto Sans JP"/>
              </a:rPr>
              <a:t>　→　</a:t>
            </a:r>
            <a:r>
              <a:rPr sz="2000" b="1" lang="ja-JP">
                <a:solidFill>
                  <a:srgbClr val="BFE2D0"/>
                </a:solidFill>
                <a:latin typeface="Noto Sans JP"/>
                <a:ea typeface="Noto Sans JP"/>
              </a:rPr>
              <a:t>次の判断へ戻れる状態</a:t>
            </a:r>
          </a:p>
        </p:txBody>
      </p:sp>
      <p:sp>
        <p:nvSpPr>
          <p:cNvPr id="7" name="Card: 01  対象を選ぶ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60320"/>
            <a:ext cx="3456432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ccent: 01  対象を選ぶ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59" y="2724912"/>
            <a:ext cx="128016" cy="694944"/>
          </a:xfrm>
          <a:prstGeom prst="roundRect">
            <a:avLst/>
          </a:prstGeom>
          <a:solidFill>
            <a:srgbClr val="4E5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 01  対象を選ぶ"/>
          <p:cNvSpPr txBox="1"/>
          <p:nvPr/>
        </p:nvSpPr>
        <p:spPr>
          <a:xfrm>
            <a:off x="1097280" y="2688336"/>
            <a:ext cx="2834639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lang="ja-JP">
                <a:solidFill>
                  <a:srgbClr val="4E51A8"/>
                </a:solidFill>
                <a:latin typeface="Noto Sans JP"/>
                <a:ea typeface="Noto Sans JP"/>
              </a:rPr>
              <a:t>01  対象を選ぶ</a:t>
            </a:r>
          </a:p>
        </p:txBody>
      </p:sp>
      <p:sp>
        <p:nvSpPr>
          <p:cNvPr id="10" name="Text: キャンバス／壁面／一区画"/>
          <p:cNvSpPr txBox="1"/>
          <p:nvPr/>
        </p:nvSpPr>
        <p:spPr>
          <a:xfrm>
            <a:off x="1097280" y="3090672"/>
            <a:ext cx="283463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キャンバス／壁面／一区画</a:t>
            </a:r>
          </a:p>
        </p:txBody>
      </p:sp>
      <p:sp>
        <p:nvSpPr>
          <p:cNvPr id="11" name="今すぐ試せる·v0.9.0" title="今すぐ試せる·v0.9.0" descr="今すぐ試せる·v0.9.0"/>
          <p:cNvSpPr/>
          <p:nvPr/>
        </p:nvSpPr>
        <p:spPr>
          <a:xfrm>
            <a:off x="2578608" y="2441448"/>
            <a:ext cx="1481328" cy="237744"/>
          </a:xfrm>
          <a:prstGeom prst="roundRect">
            <a:avLst/>
          </a:prstGeom>
          <a:solidFill>
            <a:srgbClr val="DCEEE4"/>
          </a:solidFill>
          <a:ln w="8890">
            <a:solidFill>
              <a:srgbClr val="297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lang="ja-JP">
                <a:solidFill>
                  <a:srgbClr val="29704A"/>
                </a:solidFill>
                <a:latin typeface="Noto Sans JP"/>
                <a:ea typeface="Noto Sans JP"/>
              </a:rPr>
              <a:t>今すぐ試せる·v0.9.0</a:t>
            </a:r>
          </a:p>
        </p:txBody>
      </p:sp>
      <p:sp>
        <p:nvSpPr>
          <p:cNvPr id="12" name="Card: 02  条件を決める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07407" y="2560320"/>
            <a:ext cx="3456432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ccent: 02  条件を決める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1999" y="2724912"/>
            <a:ext cx="128016" cy="694944"/>
          </a:xfrm>
          <a:prstGeom prst="round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02  条件を決める"/>
          <p:cNvSpPr txBox="1"/>
          <p:nvPr/>
        </p:nvSpPr>
        <p:spPr>
          <a:xfrm>
            <a:off x="4846319" y="2688336"/>
            <a:ext cx="2834639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lang="ja-JP">
                <a:solidFill>
                  <a:srgbClr val="0B6E69"/>
                </a:solidFill>
                <a:latin typeface="Noto Sans JP"/>
                <a:ea typeface="Noto Sans JP"/>
              </a:rPr>
              <a:t>02  条件を決める</a:t>
            </a:r>
          </a:p>
        </p:txBody>
      </p:sp>
      <p:sp>
        <p:nvSpPr>
          <p:cNvPr id="15" name="Text: Imported／Repeatable／Cali"/>
          <p:cNvSpPr txBox="1"/>
          <p:nvPr/>
        </p:nvSpPr>
        <p:spPr>
          <a:xfrm>
            <a:off x="4846319" y="3090672"/>
            <a:ext cx="283463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Imported／Repeatable／Calibrated</a:t>
            </a:r>
          </a:p>
        </p:txBody>
      </p:sp>
      <p:sp>
        <p:nvSpPr>
          <p:cNvPr id="16" name="構想・未実装" title="構想・未実装" descr="構想・未実装"/>
          <p:cNvSpPr/>
          <p:nvPr/>
        </p:nvSpPr>
        <p:spPr>
          <a:xfrm>
            <a:off x="6327648" y="2441448"/>
            <a:ext cx="1481328" cy="237744"/>
          </a:xfrm>
          <a:prstGeom prst="roundRect">
            <a:avLst/>
          </a:prstGeom>
          <a:solidFill>
            <a:srgbClr val="F5E4D4"/>
          </a:solidFill>
          <a:ln w="8890">
            <a:solidFill>
              <a:srgbClr val="8C45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lang="ja-JP">
                <a:solidFill>
                  <a:srgbClr val="8C450E"/>
                </a:solidFill>
                <a:latin typeface="Noto Sans JP"/>
                <a:ea typeface="Noto Sans JP"/>
              </a:rPr>
              <a:t>構想・未実装</a:t>
            </a:r>
          </a:p>
        </p:txBody>
      </p:sp>
      <p:sp>
        <p:nvSpPr>
          <p:cNvPr id="17" name="Card: 03  節目で撮る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56448" y="2560320"/>
            <a:ext cx="3456432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ccent: 03  節目で撮る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21040" y="2724912"/>
            <a:ext cx="128016" cy="694944"/>
          </a:xfrm>
          <a:prstGeom prst="roundRect">
            <a:avLst/>
          </a:prstGeom>
          <a:solidFill>
            <a:srgbClr val="8C4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03  節目で撮る"/>
          <p:cNvSpPr txBox="1"/>
          <p:nvPr/>
        </p:nvSpPr>
        <p:spPr>
          <a:xfrm>
            <a:off x="8595360" y="2688336"/>
            <a:ext cx="2834639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lang="ja-JP">
                <a:solidFill>
                  <a:srgbClr val="8C450E"/>
                </a:solidFill>
                <a:latin typeface="Noto Sans JP"/>
                <a:ea typeface="Noto Sans JP"/>
              </a:rPr>
              <a:t>03  節目で撮る</a:t>
            </a:r>
          </a:p>
        </p:txBody>
      </p:sp>
      <p:sp>
        <p:nvSpPr>
          <p:cNvPr id="20" name="Text: 作業終了／承認／Hold Point"/>
          <p:cNvSpPr txBox="1"/>
          <p:nvPr/>
        </p:nvSpPr>
        <p:spPr>
          <a:xfrm>
            <a:off x="8595360" y="3090672"/>
            <a:ext cx="283463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作業終了／承認／Hold Point</a:t>
            </a:r>
          </a:p>
        </p:txBody>
      </p:sp>
      <p:sp>
        <p:nvSpPr>
          <p:cNvPr id="21" name="構想・未実装" title="構想・未実装" descr="構想・未実装"/>
          <p:cNvSpPr/>
          <p:nvPr/>
        </p:nvSpPr>
        <p:spPr>
          <a:xfrm>
            <a:off x="10076688" y="2441448"/>
            <a:ext cx="1481328" cy="237744"/>
          </a:xfrm>
          <a:prstGeom prst="roundRect">
            <a:avLst/>
          </a:prstGeom>
          <a:solidFill>
            <a:srgbClr val="F5E4D4"/>
          </a:solidFill>
          <a:ln w="8890">
            <a:solidFill>
              <a:srgbClr val="8C45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lang="ja-JP">
                <a:solidFill>
                  <a:srgbClr val="8C450E"/>
                </a:solidFill>
                <a:latin typeface="Noto Sans JP"/>
                <a:ea typeface="Noto Sans JP"/>
              </a:rPr>
              <a:t>構想・未実装</a:t>
            </a:r>
          </a:p>
        </p:txBody>
      </p:sp>
      <p:sp>
        <p:nvSpPr>
          <p:cNvPr id="22" name="Card: 04  三者比較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840479"/>
            <a:ext cx="3456432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ccent: 04  三者比較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59" y="4005071"/>
            <a:ext cx="128016" cy="694944"/>
          </a:xfrm>
          <a:prstGeom prst="roundRect">
            <a:avLst/>
          </a:prstGeom>
          <a:solidFill>
            <a:srgbClr val="5E6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04  三者比較"/>
          <p:cNvSpPr txBox="1"/>
          <p:nvPr/>
        </p:nvSpPr>
        <p:spPr>
          <a:xfrm>
            <a:off x="1097280" y="3968495"/>
            <a:ext cx="2834639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lang="ja-JP">
                <a:solidFill>
                  <a:srgbClr val="5E6873"/>
                </a:solidFill>
                <a:latin typeface="Noto Sans JP"/>
                <a:ea typeface="Noto Sans JP"/>
              </a:rPr>
              <a:t>04  三者比較</a:t>
            </a:r>
          </a:p>
        </p:txBody>
      </p:sp>
      <p:sp>
        <p:nvSpPr>
          <p:cNvPr id="25" name="Text: Plan／Previous／Current"/>
          <p:cNvSpPr txBox="1"/>
          <p:nvPr/>
        </p:nvSpPr>
        <p:spPr>
          <a:xfrm>
            <a:off x="1097280" y="4370831"/>
            <a:ext cx="283463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Plan／Previous／Current</a:t>
            </a:r>
          </a:p>
        </p:txBody>
      </p:sp>
      <p:sp>
        <p:nvSpPr>
          <p:cNvPr id="26" name="構想・未実装" title="構想・未実装" descr="構想・未実装"/>
          <p:cNvSpPr/>
          <p:nvPr/>
        </p:nvSpPr>
        <p:spPr>
          <a:xfrm>
            <a:off x="2578608" y="3721607"/>
            <a:ext cx="1481328" cy="237744"/>
          </a:xfrm>
          <a:prstGeom prst="roundRect">
            <a:avLst/>
          </a:prstGeom>
          <a:solidFill>
            <a:srgbClr val="F5E4D4"/>
          </a:solidFill>
          <a:ln w="8890">
            <a:solidFill>
              <a:srgbClr val="8C45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lang="ja-JP">
                <a:solidFill>
                  <a:srgbClr val="8C450E"/>
                </a:solidFill>
                <a:latin typeface="Noto Sans JP"/>
                <a:ea typeface="Noto Sans JP"/>
              </a:rPr>
              <a:t>構想・未実装</a:t>
            </a:r>
          </a:p>
        </p:txBody>
      </p:sp>
      <p:sp>
        <p:nvSpPr>
          <p:cNvPr id="27" name="Card: 05  人が判断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07407" y="3840479"/>
            <a:ext cx="3456432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ccent: 05  人が判断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1999" y="4005071"/>
            <a:ext cx="128016" cy="694944"/>
          </a:xfrm>
          <a:prstGeom prst="roundRect">
            <a:avLst/>
          </a:prstGeom>
          <a:solidFill>
            <a:srgbClr val="8C4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05  人が判断"/>
          <p:cNvSpPr txBox="1"/>
          <p:nvPr/>
        </p:nvSpPr>
        <p:spPr>
          <a:xfrm>
            <a:off x="4846319" y="3968495"/>
            <a:ext cx="2834639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lang="ja-JP">
                <a:solidFill>
                  <a:srgbClr val="8C4A12"/>
                </a:solidFill>
                <a:latin typeface="Noto Sans JP"/>
                <a:ea typeface="Noto Sans JP"/>
              </a:rPr>
              <a:t>05  人が判断</a:t>
            </a:r>
          </a:p>
        </p:txBody>
      </p:sp>
      <p:sp>
        <p:nvSpPr>
          <p:cNvPr id="30" name="Text: 採用／是正／保留／不明"/>
          <p:cNvSpPr txBox="1"/>
          <p:nvPr/>
        </p:nvSpPr>
        <p:spPr>
          <a:xfrm>
            <a:off x="4846319" y="4370831"/>
            <a:ext cx="283463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採用／是正／保留／不明</a:t>
            </a:r>
          </a:p>
        </p:txBody>
      </p:sp>
      <p:sp>
        <p:nvSpPr>
          <p:cNvPr id="31" name="今すぐ試せる·v0.9.0" title="今すぐ試せる·v0.9.0" descr="今すぐ試せる·v0.9.0"/>
          <p:cNvSpPr/>
          <p:nvPr/>
        </p:nvSpPr>
        <p:spPr>
          <a:xfrm>
            <a:off x="6327648" y="3721607"/>
            <a:ext cx="1481328" cy="237744"/>
          </a:xfrm>
          <a:prstGeom prst="roundRect">
            <a:avLst/>
          </a:prstGeom>
          <a:solidFill>
            <a:srgbClr val="DCEEE4"/>
          </a:solidFill>
          <a:ln w="8890">
            <a:solidFill>
              <a:srgbClr val="297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lang="ja-JP">
                <a:solidFill>
                  <a:srgbClr val="29704A"/>
                </a:solidFill>
                <a:latin typeface="Noto Sans JP"/>
                <a:ea typeface="Noto Sans JP"/>
              </a:rPr>
              <a:t>今すぐ試せる·v0.9.0</a:t>
            </a:r>
          </a:p>
        </p:txBody>
      </p:sp>
      <p:sp>
        <p:nvSpPr>
          <p:cNvPr id="32" name="Card: 06  渡せる形へ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56448" y="3840479"/>
            <a:ext cx="3456432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ccent: 06  渡せる形へ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21040" y="4005071"/>
            <a:ext cx="128016" cy="694944"/>
          </a:xfrm>
          <a:prstGeom prst="roundRect">
            <a:avLst/>
          </a:prstGeom>
          <a:solidFill>
            <a:srgbClr val="29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06  渡せる形へ"/>
          <p:cNvSpPr txBox="1"/>
          <p:nvPr/>
        </p:nvSpPr>
        <p:spPr>
          <a:xfrm>
            <a:off x="8595360" y="3968495"/>
            <a:ext cx="2834639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lang="ja-JP">
                <a:solidFill>
                  <a:srgbClr val="29704A"/>
                </a:solidFill>
                <a:latin typeface="Noto Sans JP"/>
                <a:ea typeface="Noto Sans JP"/>
              </a:rPr>
              <a:t>06  渡せる形へ</a:t>
            </a:r>
          </a:p>
        </p:txBody>
      </p:sp>
      <p:sp>
        <p:nvSpPr>
          <p:cNvPr id="35" name="Text: report／handoff／archive"/>
          <p:cNvSpPr txBox="1"/>
          <p:nvPr/>
        </p:nvSpPr>
        <p:spPr>
          <a:xfrm>
            <a:off x="8595360" y="4370831"/>
            <a:ext cx="283463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report／handoff／archive</a:t>
            </a:r>
          </a:p>
        </p:txBody>
      </p:sp>
      <p:sp>
        <p:nvSpPr>
          <p:cNvPr id="36" name="今すぐ試せる·v0.9.0" title="今すぐ試せる·v0.9.0" descr="今すぐ試せる·v0.9.0"/>
          <p:cNvSpPr/>
          <p:nvPr/>
        </p:nvSpPr>
        <p:spPr>
          <a:xfrm>
            <a:off x="10076688" y="3721607"/>
            <a:ext cx="1481328" cy="237744"/>
          </a:xfrm>
          <a:prstGeom prst="roundRect">
            <a:avLst/>
          </a:prstGeom>
          <a:solidFill>
            <a:srgbClr val="DCEEE4"/>
          </a:solidFill>
          <a:ln w="8890">
            <a:solidFill>
              <a:srgbClr val="297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lang="ja-JP">
                <a:solidFill>
                  <a:srgbClr val="29704A"/>
                </a:solidFill>
                <a:latin typeface="Noto Sans JP"/>
                <a:ea typeface="Noto Sans JP"/>
              </a:rPr>
              <a:t>今すぐ試せる·v0.9.0</a:t>
            </a:r>
          </a:p>
        </p:txBody>
      </p:sp>
      <p:sp>
        <p:nvSpPr>
          <p:cNvPr id="37" name="Rounded Rectangle 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85232"/>
            <a:ext cx="1097280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20秒以内"/>
          <p:cNvSpPr txBox="1"/>
          <p:nvPr/>
        </p:nvSpPr>
        <p:spPr>
          <a:xfrm>
            <a:off x="841248" y="5404104"/>
            <a:ext cx="9692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lang="ja-JP">
                <a:solidFill>
                  <a:srgbClr val="8C4A12"/>
                </a:solidFill>
                <a:latin typeface="Noto Sans JP"/>
                <a:ea typeface="Noto Sans JP"/>
              </a:rPr>
              <a:t>20秒以内</a:t>
            </a:r>
          </a:p>
        </p:txBody>
      </p:sp>
      <p:sp>
        <p:nvSpPr>
          <p:cNvPr id="39" name="Text: Capture能動入力中央値"/>
          <p:cNvSpPr txBox="1"/>
          <p:nvPr/>
        </p:nvSpPr>
        <p:spPr>
          <a:xfrm>
            <a:off x="1801368" y="5358384"/>
            <a:ext cx="1609344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lang="ja-JP">
                <a:solidFill>
                  <a:srgbClr val="5E6873"/>
                </a:solidFill>
                <a:latin typeface="Noto Sans JP"/>
                <a:ea typeface="Noto Sans JP"/>
              </a:rPr>
              <a:t>Capture能動入力中央値</a:t>
            </a:r>
          </a:p>
        </p:txBody>
      </p:sp>
      <p:sp>
        <p:nvSpPr>
          <p:cNvPr id="40" name="Text: 30秒以内"/>
          <p:cNvSpPr txBox="1"/>
          <p:nvPr/>
        </p:nvSpPr>
        <p:spPr>
          <a:xfrm>
            <a:off x="3547872" y="5404104"/>
            <a:ext cx="9692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lang="ja-JP">
                <a:solidFill>
                  <a:srgbClr val="8C4A12"/>
                </a:solidFill>
                <a:latin typeface="Noto Sans JP"/>
                <a:ea typeface="Noto Sans JP"/>
              </a:rPr>
              <a:t>30秒以内</a:t>
            </a:r>
          </a:p>
        </p:txBody>
      </p:sp>
      <p:sp>
        <p:nvSpPr>
          <p:cNvPr id="41" name="Text: meaningful Commit"/>
          <p:cNvSpPr txBox="1"/>
          <p:nvPr/>
        </p:nvSpPr>
        <p:spPr>
          <a:xfrm>
            <a:off x="4507992" y="5358384"/>
            <a:ext cx="1609344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lang="ja-JP">
                <a:solidFill>
                  <a:srgbClr val="5E6873"/>
                </a:solidFill>
                <a:latin typeface="Noto Sans JP"/>
                <a:ea typeface="Noto Sans JP"/>
              </a:rPr>
              <a:t>meaningful Commit</a:t>
            </a:r>
          </a:p>
        </p:txBody>
      </p:sp>
      <p:sp>
        <p:nvSpPr>
          <p:cNvPr id="42" name="Text: 2分以内"/>
          <p:cNvSpPr txBox="1"/>
          <p:nvPr/>
        </p:nvSpPr>
        <p:spPr>
          <a:xfrm>
            <a:off x="6254496" y="5404104"/>
            <a:ext cx="9692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lang="ja-JP">
                <a:solidFill>
                  <a:srgbClr val="8C4A12"/>
                </a:solidFill>
                <a:latin typeface="Noto Sans JP"/>
                <a:ea typeface="Noto Sans JP"/>
              </a:rPr>
              <a:t>2分以内</a:t>
            </a:r>
          </a:p>
        </p:txBody>
      </p:sp>
      <p:sp>
        <p:nvSpPr>
          <p:cNvPr id="43" name="Text: 重要変更の説明・引継ぎ"/>
          <p:cNvSpPr txBox="1"/>
          <p:nvPr/>
        </p:nvSpPr>
        <p:spPr>
          <a:xfrm>
            <a:off x="7214616" y="5358384"/>
            <a:ext cx="1609344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lang="ja-JP">
                <a:solidFill>
                  <a:srgbClr val="5E6873"/>
                </a:solidFill>
                <a:latin typeface="Noto Sans JP"/>
                <a:ea typeface="Noto Sans JP"/>
              </a:rPr>
              <a:t>重要変更の説明・引継ぎ</a:t>
            </a:r>
          </a:p>
        </p:txBody>
      </p:sp>
      <p:sp>
        <p:nvSpPr>
          <p:cNvPr id="44" name="Text: 100%"/>
          <p:cNvSpPr txBox="1"/>
          <p:nvPr/>
        </p:nvSpPr>
        <p:spPr>
          <a:xfrm>
            <a:off x="8961119" y="5404104"/>
            <a:ext cx="9692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lang="ja-JP">
                <a:solidFill>
                  <a:srgbClr val="29704A"/>
                </a:solidFill>
                <a:latin typeface="Noto Sans JP"/>
                <a:ea typeface="Noto Sans JP"/>
              </a:rPr>
              <a:t>100%</a:t>
            </a:r>
          </a:p>
        </p:txBody>
      </p:sp>
      <p:sp>
        <p:nvSpPr>
          <p:cNvPr id="45" name="Text: 空store restore成功"/>
          <p:cNvSpPr txBox="1"/>
          <p:nvPr/>
        </p:nvSpPr>
        <p:spPr>
          <a:xfrm>
            <a:off x="9921240" y="5358384"/>
            <a:ext cx="1609344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lang="ja-JP">
                <a:solidFill>
                  <a:srgbClr val="5E6873"/>
                </a:solidFill>
                <a:latin typeface="Noto Sans JP"/>
                <a:ea typeface="Noto Sans JP"/>
              </a:rPr>
              <a:t>空store restore成功</a:t>
            </a:r>
          </a:p>
        </p:txBody>
      </p:sp>
      <p:sp>
        <p:nvSpPr>
          <p:cNvPr id="46" name="Text: すべてPilot UX／受入目標。実績値ではあり"/>
          <p:cNvSpPr txBox="1"/>
          <p:nvPr/>
        </p:nvSpPr>
        <p:spPr>
          <a:xfrm>
            <a:off x="3986784" y="6016752"/>
            <a:ext cx="426110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lang="ja-JP">
                <a:solidFill>
                  <a:srgbClr val="A13A31"/>
                </a:solidFill>
                <a:latin typeface="Noto Sans JP"/>
                <a:ea typeface="Noto Sans JP"/>
              </a:rPr>
              <a:t>すべてPilot UX／受入目標。実績値ではありません。</a:t>
            </a:r>
          </a:p>
        </p:txBody>
      </p:sp>
      <p:cxnSp>
        <p:nvCxnSpPr>
          <p:cNvPr id="47" name="Connector 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85216" y="6446520"/>
            <a:ext cx="11009376" cy="0"/>
          </a:xfrm>
          <a:prstGeom prst="line">
            <a:avLst/>
          </a:prstGeom>
          <a:ln w="8890">
            <a:solidFill>
              <a:srgbClr val="7B8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: Concept · v0.9.0 · 確認日 2"/>
          <p:cNvSpPr txBox="1"/>
          <p:nvPr/>
        </p:nvSpPr>
        <p:spPr>
          <a:xfrm>
            <a:off x="585216" y="6492240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lang="ja-JP">
                <a:solidFill>
                  <a:srgbClr val="5E6873"/>
                </a:solidFill>
                <a:latin typeface="Noto Sans JP"/>
                <a:ea typeface="Noto Sans JP"/>
                <a:hlinkClick r:id="rId2"/>
              </a:rPr>
              <a:t>Concept · v0.9.0 · 確認日 2026-09-27</a:t>
            </a:r>
          </a:p>
        </p:txBody>
      </p:sp>
      <p:sp>
        <p:nvSpPr>
          <p:cNvPr id="49" name="Text: Core concept §15 · Stage"/>
          <p:cNvSpPr txBox="1"/>
          <p:nvPr/>
        </p:nvSpPr>
        <p:spPr>
          <a:xfrm>
            <a:off x="3429000" y="6492240"/>
            <a:ext cx="7223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lang="ja-JP">
                <a:solidFill>
                  <a:srgbClr val="5E6873"/>
                </a:solidFill>
                <a:latin typeface="Noto Sans JP"/>
                <a:ea typeface="Noto Sans JP"/>
              </a:rPr>
              <a:t>Core concept §15 · Stage 0 benefit hypotheses</a:t>
            </a:r>
          </a:p>
        </p:txBody>
      </p:sp>
      <p:sp>
        <p:nvSpPr>
          <p:cNvPr id="50" name="Text: 10"/>
          <p:cNvSpPr txBox="1"/>
          <p:nvPr/>
        </p:nvSpPr>
        <p:spPr>
          <a:xfrm>
            <a:off x="11137392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lang="ja-JP">
                <a:solidFill>
                  <a:srgbClr val="5E6873"/>
                </a:solidFill>
                <a:latin typeface="Noto Sans JP"/>
                <a:ea typeface="Noto Sans JP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: 現在地・信頼できる境界・次の実装"/>
          <p:cNvSpPr>
            <a:spLocks noGrp="1"/>
          </p:cNvSpPr>
          <p:nvPr>
            <p:ph type="title"/>
          </p:nvPr>
        </p:nvSpPr>
        <p:spPr>
          <a:xfrm>
            <a:off x="585216" y="621792"/>
            <a:ext cx="10972800" cy="566928"/>
          </a:xfrm>
        </p:spPr>
        <p:txBody>
          <a:bodyPr wrap="square" lIns="18288" rIns="18288" tIns="18288" bIns="18288"/>
          <a:lstStyle/>
          <a:p>
            <a:pPr algn="l"/>
            <a:r>
              <a:rPr sz="2800" b="1" lang="ja-JP">
                <a:solidFill>
                  <a:srgbClr val="13202B"/>
                </a:solidFill>
                <a:latin typeface="Noto Sans JP"/>
                <a:ea typeface="Noto Sans JP"/>
              </a:rPr>
              <a:t>現在地・信頼できる境界・次の実装</a:t>
            </a:r>
          </a:p>
        </p:txBody>
      </p:sp>
      <p:sp>
        <p:nvSpPr>
          <p:cNvPr id="3" name="Text: CURRENT STATE"/>
          <p:cNvSpPr txBox="1"/>
          <p:nvPr/>
        </p:nvSpPr>
        <p:spPr>
          <a:xfrm>
            <a:off x="585216" y="320040"/>
            <a:ext cx="2651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lang="ja-JP">
                <a:solidFill>
                  <a:srgbClr val="0B6E69"/>
                </a:solidFill>
                <a:latin typeface="Noto Sans JP"/>
                <a:ea typeface="Noto Sans JP"/>
              </a:rPr>
              <a:t>CURRENT STATE</a:t>
            </a:r>
          </a:p>
        </p:txBody>
      </p:sp>
      <p:sp>
        <p:nvSpPr>
          <p:cNvPr id="4" name="Text: 前10枚は利用構想を含みます。製品UIの完成状態"/>
          <p:cNvSpPr txBox="1"/>
          <p:nvPr/>
        </p:nvSpPr>
        <p:spPr>
          <a:xfrm>
            <a:off x="603504" y="1170432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lang="ja-JP">
                <a:solidFill>
                  <a:srgbClr val="5E6873"/>
                </a:solidFill>
                <a:latin typeface="Noto Sans JP"/>
                <a:ea typeface="Noto Sans JP"/>
              </a:rPr>
              <a:t>前10枚は利用構想を含みます。製品UIの完成状態を示すものではありません。</a:t>
            </a:r>
          </a:p>
        </p:txBody>
      </p:sp>
      <p:sp>
        <p:nvSpPr>
          <p:cNvPr id="5" name="v0.9.0 · 確認日 2026-09-27" title="v0.9.0 · 確認日 2026-09-27" descr="v0.9.0 · 確認日 2026-09-27"/>
          <p:cNvSpPr/>
          <p:nvPr/>
        </p:nvSpPr>
        <p:spPr>
          <a:xfrm>
            <a:off x="9418320" y="475488"/>
            <a:ext cx="2212848" cy="384048"/>
          </a:xfrm>
          <a:prstGeom prst="roundRect">
            <a:avLst/>
          </a:prstGeom>
          <a:solidFill>
            <a:srgbClr val="F3E3C7"/>
          </a:solidFill>
          <a:ln w="8890">
            <a:solidFill>
              <a:srgbClr val="8C4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lang="ja-JP">
                <a:solidFill>
                  <a:srgbClr val="8C4A12"/>
                </a:solidFill>
                <a:latin typeface="Noto Sans JP"/>
                <a:ea typeface="Noto Sans JP"/>
              </a:rPr>
              <a:t>v0.9.0 · 確認日 2026-09-27</a:t>
            </a:r>
          </a:p>
        </p:txBody>
      </p:sp>
      <p:sp>
        <p:nvSpPr>
          <p:cNvPr id="6" name="Card: 実装済み · Co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81328"/>
            <a:ext cx="3456432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ccent: 実装済み · Co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59" y="1645920"/>
            <a:ext cx="128016" cy="1024128"/>
          </a:xfrm>
          <a:prstGeom prst="roundRect">
            <a:avLst/>
          </a:prstGeom>
          <a:solidFill>
            <a:srgbClr val="29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実装済み · Core"/>
          <p:cNvSpPr txBox="1"/>
          <p:nvPr/>
        </p:nvSpPr>
        <p:spPr>
          <a:xfrm>
            <a:off x="1097280" y="1609344"/>
            <a:ext cx="2834639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lang="ja-JP">
                <a:solidFill>
                  <a:srgbClr val="29704A"/>
                </a:solidFill>
                <a:latin typeface="Noto Sans JP"/>
                <a:ea typeface="Noto Sans JP"/>
              </a:rPr>
              <a:t>実装済み · Core</a:t>
            </a:r>
          </a:p>
        </p:txBody>
      </p:sp>
      <p:sp>
        <p:nvSpPr>
          <p:cNvPr id="9" name="Text: strict JSON／schema&#10;canon"/>
          <p:cNvSpPr txBox="1"/>
          <p:nvPr/>
        </p:nvSpPr>
        <p:spPr>
          <a:xfrm>
            <a:off x="1097280" y="2011680"/>
            <a:ext cx="2834639" cy="7132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strict JSON／schema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canonical OID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validated ingest</a:t>
            </a:r>
          </a:p>
        </p:txBody>
      </p:sp>
      <p:sp>
        <p:nvSpPr>
          <p:cNvPr id="10" name="Card: 実装済み · Loc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07407" y="1481328"/>
            <a:ext cx="3456432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ccent: 実装済み · Loc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1999" y="1645920"/>
            <a:ext cx="128016" cy="1024128"/>
          </a:xfrm>
          <a:prstGeom prst="round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実装済み · Local"/>
          <p:cNvSpPr txBox="1"/>
          <p:nvPr/>
        </p:nvSpPr>
        <p:spPr>
          <a:xfrm>
            <a:off x="4846319" y="1609344"/>
            <a:ext cx="2834639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lang="ja-JP">
                <a:solidFill>
                  <a:srgbClr val="0B6E69"/>
                </a:solidFill>
                <a:latin typeface="Noto Sans JP"/>
                <a:ea typeface="Noto Sans JP"/>
              </a:rPr>
              <a:t>実装済み · Local</a:t>
            </a:r>
          </a:p>
        </p:txBody>
      </p:sp>
      <p:sp>
        <p:nvSpPr>
          <p:cNvPr id="13" name="Text: filesystem／Ref CAS&#10;archi"/>
          <p:cNvSpPr txBox="1"/>
          <p:nvPr/>
        </p:nvSpPr>
        <p:spPr>
          <a:xfrm>
            <a:off x="4846319" y="2011680"/>
            <a:ext cx="2834639" cy="7132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filesystem／Ref CAS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archive round trip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SQLite projection／lineage</a:t>
            </a:r>
          </a:p>
        </p:txBody>
      </p:sp>
      <p:sp>
        <p:nvSpPr>
          <p:cNvPr id="14" name="Card: 実装済み · App route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56448" y="1481328"/>
            <a:ext cx="3456432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ccent: 実装済み · App route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21040" y="1645920"/>
            <a:ext cx="128016" cy="1024128"/>
          </a:xfrm>
          <a:prstGeom prst="roundRect">
            <a:avLst/>
          </a:prstGeom>
          <a:solidFill>
            <a:srgbClr val="744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実装済み · App routes"/>
          <p:cNvSpPr txBox="1"/>
          <p:nvPr/>
        </p:nvSpPr>
        <p:spPr>
          <a:xfrm>
            <a:off x="8595360" y="1609344"/>
            <a:ext cx="2834639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lang="ja-JP">
                <a:solidFill>
                  <a:srgbClr val="74428A"/>
                </a:solidFill>
                <a:latin typeface="Noto Sans JP"/>
                <a:ea typeface="Noto Sans JP"/>
              </a:rPr>
              <a:t>実装済み · App routes</a:t>
            </a:r>
          </a:p>
        </p:txBody>
      </p:sp>
      <p:sp>
        <p:nvSpPr>
          <p:cNvPr id="17" name="Text: AI: preflight／Executor&#10;H"/>
          <p:cNvSpPr txBox="1"/>
          <p:nvPr/>
        </p:nvSpPr>
        <p:spPr>
          <a:xfrm>
            <a:off x="8595360" y="2011680"/>
            <a:ext cx="2834639" cy="7132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AI: preflight／Executor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Human: admitted handle／permit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ACL/profile FIFO fence</a:t>
            </a:r>
          </a:p>
        </p:txBody>
      </p:sp>
      <p:sp>
        <p:nvSpPr>
          <p:cNvPr id="18" name="Card: 今すぐ試せる · localhos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108960"/>
            <a:ext cx="3456432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ccent: 今すぐ試せる · localhos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59" y="3273552"/>
            <a:ext cx="128016" cy="1545336"/>
          </a:xfrm>
          <a:prstGeom prst="roundRect">
            <a:avLst/>
          </a:prstGeom>
          <a:solidFill>
            <a:srgbClr val="297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今すぐ試せる · localhost"/>
          <p:cNvSpPr txBox="1"/>
          <p:nvPr/>
        </p:nvSpPr>
        <p:spPr>
          <a:xfrm>
            <a:off x="1097280" y="3236976"/>
            <a:ext cx="2834639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lang="ja-JP">
                <a:solidFill>
                  <a:srgbClr val="29704A"/>
                </a:solidFill>
                <a:latin typeface="Noto Sans JP"/>
                <a:ea typeface="Noto Sans JP"/>
              </a:rPr>
              <a:t>今すぐ試せる · localhost</a:t>
            </a:r>
          </a:p>
        </p:txBody>
      </p:sp>
      <p:sp>
        <p:nvSpPr>
          <p:cNvPr id="21" name="Text: 3画像import／review UI&#10;byte"/>
          <p:cNvSpPr txBox="1"/>
          <p:nvPr/>
        </p:nvSpPr>
        <p:spPr>
          <a:xfrm>
            <a:off x="1097280" y="3639312"/>
            <a:ext cx="2834639" cy="12344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3画像import／review UI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byte identityのみのAnalysis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fsck／archiveブラウザ操作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(loopback限定・要ローカル起動)</a:t>
            </a:r>
          </a:p>
        </p:txBody>
      </p:sp>
      <p:sp>
        <p:nvSpPr>
          <p:cNvPr id="22" name="Card: 境界の注意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07407" y="3108960"/>
            <a:ext cx="3456432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ccent: 境界の注意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1999" y="3273552"/>
            <a:ext cx="128016" cy="1545336"/>
          </a:xfrm>
          <a:prstGeom prst="round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境界の注意"/>
          <p:cNvSpPr txBox="1"/>
          <p:nvPr/>
        </p:nvSpPr>
        <p:spPr>
          <a:xfrm>
            <a:off x="4846319" y="3236976"/>
            <a:ext cx="2834639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lang="ja-JP">
                <a:solidFill>
                  <a:srgbClr val="0B6E69"/>
                </a:solidFill>
                <a:latin typeface="Noto Sans JP"/>
                <a:ea typeface="Noto Sans JP"/>
              </a:rPr>
              <a:t>境界の注意</a:t>
            </a:r>
          </a:p>
        </p:txBody>
      </p:sp>
      <p:sp>
        <p:nvSpPr>
          <p:cNvPr id="25" name="Text: hashはbyte identityのみ照合&#10;p"/>
          <p:cNvSpPr txBox="1"/>
          <p:nvPr/>
        </p:nvSpPr>
        <p:spPr>
          <a:xfrm>
            <a:off x="4846319" y="3639312"/>
            <a:ext cx="2834639" cy="12344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hashはbyte identityのみ照合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pixel／EXIF／外観は見ない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Human認証はpublish冒頭1回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TTLが外部revocation差を限定</a:t>
            </a:r>
          </a:p>
        </p:txBody>
      </p:sp>
      <p:sp>
        <p:nvSpPr>
          <p:cNvPr id="26" name="Card: 未実装・構想のみ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56448" y="3108960"/>
            <a:ext cx="3456432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8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ccent: 未実装・構想のみ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21040" y="3273552"/>
            <a:ext cx="128016" cy="1545336"/>
          </a:xfrm>
          <a:prstGeom prst="roundRect">
            <a:avLst/>
          </a:prstGeom>
          <a:solidFill>
            <a:srgbClr val="8C4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未実装・構想のみ"/>
          <p:cNvSpPr txBox="1"/>
          <p:nvPr/>
        </p:nvSpPr>
        <p:spPr>
          <a:xfrm>
            <a:off x="8595360" y="3236976"/>
            <a:ext cx="2834639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lang="ja-JP">
                <a:solidFill>
                  <a:srgbClr val="8C450E"/>
                </a:solidFill>
                <a:latin typeface="Noto Sans JP"/>
                <a:ea typeface="Noto Sans JP"/>
              </a:rPr>
              <a:t>未実装・構想のみ</a:t>
            </a:r>
          </a:p>
        </p:txBody>
      </p:sp>
      <p:sp>
        <p:nvSpPr>
          <p:cNvPr id="29" name="Text: capture client・繰り返し撮影&#10;pi"/>
          <p:cNvSpPr txBox="1"/>
          <p:nvPr/>
        </p:nvSpPr>
        <p:spPr>
          <a:xfrm>
            <a:off x="8595360" y="3639312"/>
            <a:ext cx="2834639" cy="12344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capture client・繰り返し撮影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pixel registration／視覚差分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本番HTTP／JWT・durable ACL</a:t>
            </a:r>
            <a:br/>
            <a:r>
              <a:rPr sz="1400" b="0" lang="ja-JP">
                <a:solidFill>
                  <a:srgbClr val="13202B"/>
                </a:solidFill>
                <a:latin typeface="Noto Sans JP"/>
                <a:ea typeface="Noto Sans JP"/>
              </a:rPr>
              <a:t>general-purpose creator app</a:t>
            </a:r>
          </a:p>
        </p:txBody>
      </p:sp>
      <p:sp>
        <p:nvSpPr>
          <p:cNvPr id="30" name="Text: しない約束：作者性・現実・契約適合の自動証明／常"/>
          <p:cNvSpPr txBox="1"/>
          <p:nvPr/>
        </p:nvSpPr>
        <p:spPr>
          <a:xfrm>
            <a:off x="768096" y="5138928"/>
            <a:ext cx="1064361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lang="ja-JP">
                <a:solidFill>
                  <a:srgbClr val="A13A31"/>
                </a:solidFill>
                <a:latin typeface="Noto Sans JP"/>
                <a:ea typeface="Noto Sans JP"/>
              </a:rPr>
              <a:t>しない約束：作者性・現実・契約適合の自動証明／常時監視／個人生産性score／無断AI学習／「永久保存」の過大表示</a:t>
            </a:r>
          </a:p>
        </p:txBody>
      </p:sp>
      <p:sp>
        <p:nvSpPr>
          <p:cNvPr id="31" name="Text: v0.9.0 tag resources"/>
          <p:cNvSpPr txBox="1"/>
          <p:nvPr/>
        </p:nvSpPr>
        <p:spPr>
          <a:xfrm>
            <a:off x="676656" y="5449824"/>
            <a:ext cx="2377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lang="ja-JP">
                <a:solidFill>
                  <a:srgbClr val="5E6873"/>
                </a:solidFill>
                <a:latin typeface="Noto Sans JP"/>
                <a:ea typeface="Noto Sans JP"/>
              </a:rPr>
              <a:t>v0.9.0 tag resources</a:t>
            </a:r>
          </a:p>
        </p:txBody>
      </p:sp>
      <p:sp>
        <p:nvSpPr>
          <p:cNvPr id="32" name="Usage guide" title="Usage guide" descr="branch main link: https://github.com/howlrs/synapsegit/blob/v0.9.0/docs/usage_guide.md">
            <a:hlinkClick r:id="rId2"/>
          </p:cNvPr>
          <p:cNvSpPr/>
          <p:nvPr/>
        </p:nvSpPr>
        <p:spPr>
          <a:xfrm>
            <a:off x="658368" y="5742432"/>
            <a:ext cx="2084831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 lang="ja-JP">
                <a:solidFill>
                  <a:srgbClr val="0B6E69"/>
                </a:solidFill>
                <a:latin typeface="Noto Sans JP"/>
                <a:ea typeface="Noto Sans JP"/>
                <a:hlinkClick r:id="rId2"/>
              </a:rPr>
              <a:t>Usage guide</a:t>
            </a:r>
          </a:p>
        </p:txBody>
      </p:sp>
      <p:sp>
        <p:nvSpPr>
          <p:cNvPr id="33" name="Core concept" title="Core concept" descr="branch main link: https://github.com/howlrs/synapsegit/blob/v0.9.0/docs/core_concept.md">
            <a:hlinkClick r:id="rId3"/>
          </p:cNvPr>
          <p:cNvSpPr/>
          <p:nvPr/>
        </p:nvSpPr>
        <p:spPr>
          <a:xfrm>
            <a:off x="2852928" y="5742432"/>
            <a:ext cx="2084831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5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 lang="ja-JP">
                <a:solidFill>
                  <a:srgbClr val="4E51A8"/>
                </a:solidFill>
                <a:latin typeface="Noto Sans JP"/>
                <a:ea typeface="Noto Sans JP"/>
                <a:hlinkClick r:id="rId3"/>
              </a:rPr>
              <a:t>Core concept</a:t>
            </a:r>
          </a:p>
        </p:txBody>
      </p:sp>
      <p:sp>
        <p:nvSpPr>
          <p:cNvPr id="34" name="Project status" title="Project status" descr="branch main link: https://github.com/howlrs/synapsegit/blob/v0.9.0/docs/project_status.md">
            <a:hlinkClick r:id="rId4"/>
          </p:cNvPr>
          <p:cNvSpPr/>
          <p:nvPr/>
        </p:nvSpPr>
        <p:spPr>
          <a:xfrm>
            <a:off x="5047488" y="5742432"/>
            <a:ext cx="2084831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C45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 lang="ja-JP">
                <a:solidFill>
                  <a:srgbClr val="8C450E"/>
                </a:solidFill>
                <a:latin typeface="Noto Sans JP"/>
                <a:ea typeface="Noto Sans JP"/>
                <a:hlinkClick r:id="rId4"/>
              </a:rPr>
              <a:t>Project status</a:t>
            </a:r>
          </a:p>
        </p:txBody>
      </p:sp>
      <p:sp>
        <p:nvSpPr>
          <p:cNvPr id="35" name="Protocol v0.1" title="Protocol v0.1" descr="branch main link: https://github.com/howlrs/synapsegit/blob/v0.9.0/spec/core/v0.1/README.md">
            <a:hlinkClick r:id="rId5"/>
          </p:cNvPr>
          <p:cNvSpPr/>
          <p:nvPr/>
        </p:nvSpPr>
        <p:spPr>
          <a:xfrm>
            <a:off x="7242047" y="5742432"/>
            <a:ext cx="2084831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4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 lang="ja-JP">
                <a:solidFill>
                  <a:srgbClr val="74428A"/>
                </a:solidFill>
                <a:latin typeface="Noto Sans JP"/>
                <a:ea typeface="Noto Sans JP"/>
                <a:hlinkClick r:id="rId5"/>
              </a:rPr>
              <a:t>Protocol v0.1</a:t>
            </a:r>
          </a:p>
        </p:txBody>
      </p:sp>
      <p:sp>
        <p:nvSpPr>
          <p:cNvPr id="36" name="Mural tutorial" title="Mural tutorial" descr="branch main link: https://github.com/howlrs/synapsegit/blob/v0.9.0/docs/tutorial/README.ja.md">
            <a:hlinkClick r:id="rId6"/>
          </p:cNvPr>
          <p:cNvSpPr/>
          <p:nvPr/>
        </p:nvSpPr>
        <p:spPr>
          <a:xfrm>
            <a:off x="9436608" y="5742432"/>
            <a:ext cx="2084831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97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 lang="ja-JP">
                <a:solidFill>
                  <a:srgbClr val="29704A"/>
                </a:solidFill>
                <a:latin typeface="Noto Sans JP"/>
                <a:ea typeface="Noto Sans JP"/>
                <a:hlinkClick r:id="rId6"/>
              </a:rPr>
              <a:t>Mural tutorial</a:t>
            </a:r>
          </a:p>
        </p:txBody>
      </p:sp>
      <p:sp>
        <p:nvSpPr>
          <p:cNvPr id="37" name="Text: リンク先はGitHub v0.9.0 tagの固"/>
          <p:cNvSpPr txBox="1"/>
          <p:nvPr/>
        </p:nvSpPr>
        <p:spPr>
          <a:xfrm>
            <a:off x="694944" y="6217920"/>
            <a:ext cx="108996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lang="ja-JP">
                <a:solidFill>
                  <a:srgbClr val="5E6873"/>
                </a:solidFill>
                <a:latin typeface="Noto Sans JP"/>
                <a:ea typeface="Noto Sans JP"/>
              </a:rPr>
              <a:t>リンク先はGitHub v0.9.0 tagの固定内容。</a:t>
            </a:r>
          </a:p>
        </p:txBody>
      </p:sp>
      <p:cxnSp>
        <p:nvCxnSpPr>
          <p:cNvPr id="38" name="Connector 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85216" y="6446520"/>
            <a:ext cx="11009376" cy="0"/>
          </a:xfrm>
          <a:prstGeom prst="line">
            <a:avLst/>
          </a:prstGeom>
          <a:ln w="8890">
            <a:solidFill>
              <a:srgbClr val="7B8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: Concept · v0.9.0 · 確認日 2"/>
          <p:cNvSpPr txBox="1"/>
          <p:nvPr/>
        </p:nvSpPr>
        <p:spPr>
          <a:xfrm>
            <a:off x="585216" y="6492240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lang="ja-JP">
                <a:solidFill>
                  <a:srgbClr val="5E6873"/>
                </a:solidFill>
                <a:latin typeface="Noto Sans JP"/>
                <a:ea typeface="Noto Sans JP"/>
                <a:hlinkClick r:id="rId2"/>
              </a:rPr>
              <a:t>Concept · v0.9.0 · 確認日 2026-09-27</a:t>
            </a:r>
          </a:p>
        </p:txBody>
      </p:sp>
      <p:sp>
        <p:nvSpPr>
          <p:cNvPr id="40" name="Text: project_status.md · READ"/>
          <p:cNvSpPr txBox="1"/>
          <p:nvPr/>
        </p:nvSpPr>
        <p:spPr>
          <a:xfrm>
            <a:off x="3429000" y="6492240"/>
            <a:ext cx="7223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lang="ja-JP">
                <a:solidFill>
                  <a:srgbClr val="5E6873"/>
                </a:solidFill>
                <a:latin typeface="Noto Sans JP"/>
                <a:ea typeface="Noto Sans JP"/>
              </a:rPr>
              <a:t>project_status.md · README · Stage 0 execution plan</a:t>
            </a:r>
          </a:p>
        </p:txBody>
      </p:sp>
      <p:sp>
        <p:nvSpPr>
          <p:cNvPr id="41" name="Text: 11"/>
          <p:cNvSpPr txBox="1"/>
          <p:nvPr/>
        </p:nvSpPr>
        <p:spPr>
          <a:xfrm>
            <a:off x="11137392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lang="ja-JP">
                <a:solidFill>
                  <a:srgbClr val="5E6873"/>
                </a:solidFill>
                <a:latin typeface="Noto Sans JP"/>
                <a:ea typeface="Noto Sans JP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SynapseGit 利用イメージ — 想定利用者別シナリオ</dc:title>
  <dc:subject>Core v0.1 / Stage 0 intended-user visualization</dc:subject>
  <dc:creator>SynapseGit project</dc:creator>
  <cp:keywords>SynapseGit, creator, observation, decision, Creative AI</cp:keywords>
  <dc:description>Generated from docs/presentations/generate_user_scenarios_pptx.py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