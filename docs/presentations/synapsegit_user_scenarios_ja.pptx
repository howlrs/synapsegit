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Relationship Id="rId3" Type="http://schemas.openxmlformats.org/officeDocument/2006/relationships/hyperlink" Target="https://github.com/howlrs/synapsegit/blob/main/docs/core_concept.md" TargetMode="External"/><Relationship Id="rId4" Type="http://schemas.openxmlformats.org/officeDocument/2006/relationships/hyperlink" Target="https://github.com/howlrs/synapsegit/blob/main/docs/stage0_execution_plan.md" TargetMode="External"/><Relationship Id="rId5" Type="http://schemas.openxmlformats.org/officeDocument/2006/relationships/hyperlink" Target="https://github.com/howlrs/synapsegit/blob/main/spec/core/v0.1/README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SynapseGit&#10;利用イメージ"/>
          <p:cNvSpPr>
            <a:spLocks noGrp="1"/>
          </p:cNvSpPr>
          <p:nvPr>
            <p:ph type="title"/>
          </p:nvPr>
        </p:nvSpPr>
        <p:spPr>
          <a:xfrm>
            <a:off x="658368" y="1188720"/>
            <a:ext cx="5852160" cy="1051560"/>
          </a:xfrm>
        </p:spPr>
        <p:txBody>
          <a:bodyPr wrap="square" lIns="18288" rIns="18288" tIns="18288" bIns="18288"/>
          <a:lstStyle/>
          <a:p>
            <a:pPr algn="l"/>
            <a:r>
              <a:rPr sz="3700" b="1" lang="ja-JP">
                <a:solidFill>
                  <a:srgbClr val="FFFFFF"/>
                </a:solidFill>
                <a:latin typeface="Noto Sans JP"/>
                <a:ea typeface="Noto Sans JP"/>
              </a:rPr>
              <a:t>SynapseGit</a:t>
            </a:r>
            <a:br/>
            <a:r>
              <a:rPr sz="3700" b="1" lang="ja-JP">
                <a:solidFill>
                  <a:srgbClr val="FFFFFF"/>
                </a:solidFill>
                <a:latin typeface="Noto Sans JP"/>
                <a:ea typeface="Noto Sans JP"/>
              </a:rPr>
              <a:t>利用イメージ</a:t>
            </a:r>
          </a:p>
        </p:txBody>
      </p:sp>
      <p:sp>
        <p:nvSpPr>
          <p:cNvPr id="3" name="Rectang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RE v0.1 · STAGE 0" title="CORE v0.1 · STAGE 0" descr="CORE v0.1 · STAGE 0"/>
          <p:cNvSpPr/>
          <p:nvPr/>
        </p:nvSpPr>
        <p:spPr>
          <a:xfrm>
            <a:off x="658368" y="475488"/>
            <a:ext cx="2084831" cy="347472"/>
          </a:xfrm>
          <a:prstGeom prst="roundRect">
            <a:avLst/>
          </a:prstGeom>
          <a:solidFill>
            <a:srgbClr val="142D45"/>
          </a:solidFill>
          <a:ln w="8890">
            <a:solidFill>
              <a:srgbClr val="3A8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3A8EA8"/>
                </a:solidFill>
                <a:latin typeface="Noto Sans JP"/>
                <a:ea typeface="Noto Sans JP"/>
              </a:rPr>
              <a:t>CORE v0.1 · STAGE 0</a:t>
            </a:r>
          </a:p>
        </p:txBody>
      </p:sp>
      <p:sp>
        <p:nvSpPr>
          <p:cNvPr id="5" name="Text: 完成物だけでなく、&#10;何を変え、なぜ採用したかを次"/>
          <p:cNvSpPr txBox="1"/>
          <p:nvPr/>
        </p:nvSpPr>
        <p:spPr>
          <a:xfrm>
            <a:off x="685800" y="2487168"/>
            <a:ext cx="5349240" cy="10241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lang="ja-JP">
                <a:solidFill>
                  <a:srgbClr val="DCE6F2"/>
                </a:solidFill>
                <a:latin typeface="Noto Sans JP"/>
                <a:ea typeface="Noto Sans JP"/>
              </a:rPr>
              <a:t>完成物だけでなく、</a:t>
            </a:r>
            <a:br/>
            <a:r>
              <a:rPr sz="2200" b="1" lang="ja-JP">
                <a:solidFill>
                  <a:srgbClr val="DCE6F2"/>
                </a:solidFill>
                <a:latin typeface="Noto Sans JP"/>
                <a:ea typeface="Noto Sans JP"/>
              </a:rPr>
              <a:t>何を変え、なぜ採用したかを次へ渡す。</a:t>
            </a:r>
          </a:p>
        </p:txBody>
      </p:sp>
      <p:sp>
        <p:nvSpPr>
          <p:cNvPr id="6" name="Text: 画家・壁画家／建築家／施工・修復／&#10;デザイナー＋"/>
          <p:cNvSpPr txBox="1"/>
          <p:nvPr/>
        </p:nvSpPr>
        <p:spPr>
          <a:xfrm>
            <a:off x="685800" y="3794760"/>
            <a:ext cx="5212080" cy="777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 lang="ja-JP">
                <a:solidFill>
                  <a:srgbClr val="AAB8C8"/>
                </a:solidFill>
                <a:latin typeface="Noto Sans JP"/>
                <a:ea typeface="Noto Sans JP"/>
              </a:rPr>
              <a:t>画家・壁画家／建築家／施工・修復／</a:t>
            </a:r>
            <a:br/>
            <a:r>
              <a:rPr sz="1550" b="0" lang="ja-JP">
                <a:solidFill>
                  <a:srgbClr val="AAB8C8"/>
                </a:solidFill>
                <a:latin typeface="Noto Sans JP"/>
                <a:ea typeface="Noto Sans JP"/>
              </a:rPr>
              <a:t>デザイナー＋Creative AI</a:t>
            </a:r>
          </a:p>
        </p:txBody>
      </p:sp>
      <p:sp>
        <p:nvSpPr>
          <p:cNvPr id="7" name="利用構想 · UIスクリーンショットではありません" title="利用構想 · UIスクリーンショットではありません" descr="利用構想 · UIスクリーンショットではありません"/>
          <p:cNvSpPr/>
          <p:nvPr/>
        </p:nvSpPr>
        <p:spPr>
          <a:xfrm>
            <a:off x="685800" y="5047488"/>
            <a:ext cx="3218688" cy="402336"/>
          </a:xfrm>
          <a:prstGeom prst="roundRect">
            <a:avLst/>
          </a:prstGeom>
          <a:solidFill>
            <a:srgbClr val="23304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FFFFFF"/>
                </a:solidFill>
                <a:latin typeface="Noto Sans JP"/>
                <a:ea typeface="Noto Sans JP"/>
              </a:rPr>
              <a:t>利用構想 · UIスクリーンショットではありません</a:t>
            </a:r>
          </a:p>
        </p:txBody>
      </p:sp>
      <p:cxnSp>
        <p:nvCxnSpPr>
          <p:cNvPr id="8" name="Connector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903720" y="1234440"/>
            <a:ext cx="0" cy="4206240"/>
          </a:xfrm>
          <a:prstGeom prst="line">
            <a:avLst/>
          </a:prstGeom>
          <a:ln w="38100">
            <a:solidFill>
              <a:srgbClr val="7183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6903720" y="1645920"/>
            <a:ext cx="1463040" cy="658368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903720" y="3182112"/>
            <a:ext cx="1691640" cy="0"/>
          </a:xfrm>
          <a:prstGeom prst="line">
            <a:avLst/>
          </a:prstGeom>
          <a:ln w="25400">
            <a:solidFill>
              <a:srgbClr val="0B6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903720" y="4069080"/>
            <a:ext cx="1463040" cy="667512"/>
          </a:xfrm>
          <a:prstGeom prst="line">
            <a:avLst/>
          </a:prstGeom>
          <a:ln w="25400">
            <a:solidFill>
              <a:srgbClr val="8C45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Node: 意図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786384"/>
            <a:ext cx="1554480" cy="841248"/>
          </a:xfrm>
          <a:prstGeom prst="roundRect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意図"/>
          <p:cNvSpPr txBox="1"/>
          <p:nvPr/>
        </p:nvSpPr>
        <p:spPr>
          <a:xfrm>
            <a:off x="6236208" y="914400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4E51A8"/>
                </a:solidFill>
                <a:latin typeface="Noto Sans JP"/>
                <a:ea typeface="Noto Sans JP"/>
              </a:rPr>
              <a:t>意図</a:t>
            </a:r>
          </a:p>
        </p:txBody>
      </p:sp>
      <p:sp>
        <p:nvSpPr>
          <p:cNvPr id="14" name="Text: Plan"/>
          <p:cNvSpPr txBox="1"/>
          <p:nvPr/>
        </p:nvSpPr>
        <p:spPr>
          <a:xfrm>
            <a:off x="6217920" y="1289304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Plan</a:t>
            </a:r>
          </a:p>
        </p:txBody>
      </p:sp>
      <p:sp>
        <p:nvSpPr>
          <p:cNvPr id="15" name="Node: 実行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1938528"/>
            <a:ext cx="1554480" cy="841248"/>
          </a:xfrm>
          <a:prstGeom prst="roundRect">
            <a:avLst/>
          </a:prstGeom>
          <a:solidFill>
            <a:srgbClr val="F5E4D4"/>
          </a:solidFill>
          <a:ln w="1524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実行"/>
          <p:cNvSpPr txBox="1"/>
          <p:nvPr/>
        </p:nvSpPr>
        <p:spPr>
          <a:xfrm>
            <a:off x="6236208" y="2066544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50E"/>
                </a:solidFill>
                <a:latin typeface="Noto Sans JP"/>
                <a:ea typeface="Noto Sans JP"/>
              </a:rPr>
              <a:t>実行</a:t>
            </a:r>
          </a:p>
        </p:txBody>
      </p:sp>
      <p:sp>
        <p:nvSpPr>
          <p:cNvPr id="17" name="Text: Activity"/>
          <p:cNvSpPr txBox="1"/>
          <p:nvPr/>
        </p:nvSpPr>
        <p:spPr>
          <a:xfrm>
            <a:off x="6217920" y="2441448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Activity</a:t>
            </a:r>
          </a:p>
        </p:txBody>
      </p:sp>
      <p:sp>
        <p:nvSpPr>
          <p:cNvPr id="18" name="Node: 観測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834640"/>
            <a:ext cx="1554480" cy="841248"/>
          </a:xfrm>
          <a:prstGeom prst="roundRect">
            <a:avLst/>
          </a:prstGeom>
          <a:solidFill>
            <a:srgbClr val="D9EEEB"/>
          </a:solidFill>
          <a:ln w="1524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観測"/>
          <p:cNvSpPr txBox="1"/>
          <p:nvPr/>
        </p:nvSpPr>
        <p:spPr>
          <a:xfrm>
            <a:off x="6236208" y="2962656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0B6E69"/>
                </a:solidFill>
                <a:latin typeface="Noto Sans JP"/>
                <a:ea typeface="Noto Sans JP"/>
              </a:rPr>
              <a:t>観測</a:t>
            </a:r>
          </a:p>
        </p:txBody>
      </p:sp>
      <p:sp>
        <p:nvSpPr>
          <p:cNvPr id="20" name="Text: Observation"/>
          <p:cNvSpPr txBox="1"/>
          <p:nvPr/>
        </p:nvSpPr>
        <p:spPr>
          <a:xfrm>
            <a:off x="6217920" y="3337560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Observation</a:t>
            </a:r>
          </a:p>
        </p:txBody>
      </p:sp>
      <p:sp>
        <p:nvSpPr>
          <p:cNvPr id="21" name="Node: 意味付け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3730752"/>
            <a:ext cx="1554480" cy="841248"/>
          </a:xfrm>
          <a:prstGeom prst="roundRect">
            <a:avLst/>
          </a:prstGeom>
          <a:solidFill>
            <a:srgbClr val="E8E1F3"/>
          </a:solidFill>
          <a:ln w="1524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意味付け"/>
          <p:cNvSpPr txBox="1"/>
          <p:nvPr/>
        </p:nvSpPr>
        <p:spPr>
          <a:xfrm>
            <a:off x="6236208" y="3858768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74428A"/>
                </a:solidFill>
                <a:latin typeface="Noto Sans JP"/>
                <a:ea typeface="Noto Sans JP"/>
              </a:rPr>
              <a:t>意味付け</a:t>
            </a:r>
          </a:p>
        </p:txBody>
      </p:sp>
      <p:sp>
        <p:nvSpPr>
          <p:cNvPr id="23" name="Text: Claim"/>
          <p:cNvSpPr txBox="1"/>
          <p:nvPr/>
        </p:nvSpPr>
        <p:spPr>
          <a:xfrm>
            <a:off x="6217920" y="4233672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Claim</a:t>
            </a:r>
          </a:p>
        </p:txBody>
      </p:sp>
      <p:sp>
        <p:nvSpPr>
          <p:cNvPr id="24" name="Node: 人が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89320" y="4846320"/>
            <a:ext cx="1828800" cy="914400"/>
          </a:xfrm>
          <a:prstGeom prst="roundRect">
            <a:avLst/>
          </a:prstGeom>
          <a:solidFill>
            <a:srgbClr val="F3E3C7"/>
          </a:solidFill>
          <a:ln w="1524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人が判断"/>
          <p:cNvSpPr txBox="1"/>
          <p:nvPr/>
        </p:nvSpPr>
        <p:spPr>
          <a:xfrm>
            <a:off x="6099048" y="4974336"/>
            <a:ext cx="160934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人が判断</a:t>
            </a:r>
          </a:p>
        </p:txBody>
      </p:sp>
      <p:sp>
        <p:nvSpPr>
          <p:cNvPr id="26" name="Text: Decision Commit"/>
          <p:cNvSpPr txBox="1"/>
          <p:nvPr/>
        </p:nvSpPr>
        <p:spPr>
          <a:xfrm>
            <a:off x="6080759" y="5349240"/>
            <a:ext cx="16459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Decision Commit</a:t>
            </a:r>
          </a:p>
        </p:txBody>
      </p:sp>
      <p:sp>
        <p:nvSpPr>
          <p:cNvPr id="27" name="Card: 今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0" y="1143000"/>
            <a:ext cx="28346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ccent: 今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77072" y="1307592"/>
            <a:ext cx="128016" cy="90525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今日"/>
          <p:cNvSpPr txBox="1"/>
          <p:nvPr/>
        </p:nvSpPr>
        <p:spPr>
          <a:xfrm>
            <a:off x="8851392" y="1271016"/>
            <a:ext cx="22128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0B6E69"/>
                </a:solidFill>
                <a:latin typeface="Noto Sans JP"/>
                <a:ea typeface="Noto Sans JP"/>
              </a:rPr>
              <a:t>今日</a:t>
            </a:r>
          </a:p>
        </p:txBody>
      </p:sp>
      <p:sp>
        <p:nvSpPr>
          <p:cNvPr id="30" name="Text: 比較して、次の一手を決める"/>
          <p:cNvSpPr txBox="1"/>
          <p:nvPr/>
        </p:nvSpPr>
        <p:spPr>
          <a:xfrm>
            <a:off x="8851392" y="1673352"/>
            <a:ext cx="2212848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比較して、次の一手を決める</a:t>
            </a:r>
          </a:p>
        </p:txBody>
      </p:sp>
      <p:sp>
        <p:nvSpPr>
          <p:cNvPr id="31" name="Card: 次の案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641080" y="2633472"/>
            <a:ext cx="28346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cent: 次の案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805672" y="2798064"/>
            <a:ext cx="128016" cy="905256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: 次の案件"/>
          <p:cNvSpPr txBox="1"/>
          <p:nvPr/>
        </p:nvSpPr>
        <p:spPr>
          <a:xfrm>
            <a:off x="9079992" y="2761488"/>
            <a:ext cx="22128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4E51A8"/>
                </a:solidFill>
                <a:latin typeface="Noto Sans JP"/>
                <a:ea typeface="Noto Sans JP"/>
              </a:rPr>
              <a:t>次の案件</a:t>
            </a:r>
          </a:p>
        </p:txBody>
      </p:sp>
      <p:sp>
        <p:nvSpPr>
          <p:cNvPr id="34" name="Text: 手順・却下案・判断基準を再利用"/>
          <p:cNvSpPr txBox="1"/>
          <p:nvPr/>
        </p:nvSpPr>
        <p:spPr>
          <a:xfrm>
            <a:off x="9079992" y="3163824"/>
            <a:ext cx="2212848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手順・却下案・判断基準を再利用</a:t>
            </a:r>
          </a:p>
        </p:txBody>
      </p:sp>
      <p:sp>
        <p:nvSpPr>
          <p:cNvPr id="35" name="Card: 将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0" y="4151376"/>
            <a:ext cx="28346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ccent: 将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77072" y="4315968"/>
            <a:ext cx="128016" cy="905256"/>
          </a:xfrm>
          <a:prstGeom prst="roundRect">
            <a:avLst/>
          </a:prstGeom>
          <a:solidFill>
            <a:srgbClr val="8C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: 将来"/>
          <p:cNvSpPr txBox="1"/>
          <p:nvPr/>
        </p:nvSpPr>
        <p:spPr>
          <a:xfrm>
            <a:off x="8851392" y="4279392"/>
            <a:ext cx="22128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8C4A12"/>
                </a:solidFill>
                <a:latin typeface="Noto Sans JP"/>
                <a:ea typeface="Noto Sans JP"/>
              </a:rPr>
              <a:t>将来</a:t>
            </a:r>
          </a:p>
        </p:txBody>
      </p:sp>
      <p:sp>
        <p:nvSpPr>
          <p:cNvPr id="38" name="Text: 改修・修復・再展示時に根拠へ戻る"/>
          <p:cNvSpPr txBox="1"/>
          <p:nvPr/>
        </p:nvSpPr>
        <p:spPr>
          <a:xfrm>
            <a:off x="8851392" y="4681728"/>
            <a:ext cx="2212848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改修・修復・再展示時に根拠へ戻る</a:t>
            </a:r>
          </a:p>
        </p:txBody>
      </p:sp>
      <p:sp>
        <p:nvSpPr>
          <p:cNvPr id="39" name="Text: 作者証明・完全な現実記録・&#10;自動利益分配ではあり"/>
          <p:cNvSpPr txBox="1"/>
          <p:nvPr/>
        </p:nvSpPr>
        <p:spPr>
          <a:xfrm>
            <a:off x="7818120" y="5769864"/>
            <a:ext cx="361188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作者証明・完全な現実記録・</a:t>
            </a:r>
            <a:br/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自動利益分配ではありません</a:t>
            </a:r>
          </a:p>
        </p:txBody>
      </p:sp>
      <p:sp>
        <p:nvSpPr>
          <p:cNvPr id="40" name="Text: Scope: SynapseGit Coreのみ"/>
          <p:cNvSpPr txBox="1"/>
          <p:nvPr/>
        </p:nvSpPr>
        <p:spPr>
          <a:xfrm>
            <a:off x="685800" y="5769864"/>
            <a:ext cx="544068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Scope: SynapseGit Coreのみ</a:t>
            </a:r>
            <a:br/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Chrono-Engine／歴史的人物再現は対象外</a:t>
            </a:r>
          </a:p>
        </p:txBody>
      </p:sp>
      <p:cxnSp>
        <p:nvCxnSpPr>
          <p:cNvPr id="41" name="Connector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3340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43" name="Text: Core concept §§1, 20 · S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</a:rPr>
              <a:t>Core concept §§1, 20 · Stage 0 draft</a:t>
            </a:r>
          </a:p>
        </p:txBody>
      </p:sp>
      <p:sp>
        <p:nvSpPr>
          <p:cNvPr id="44" name="Text: 01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AAB5C5"/>
                </a:solidFill>
                <a:latin typeface="Noto Sans JP"/>
                <a:ea typeface="Noto Sans JP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誰の、どんな断絶を解くの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誰の、どんな断絶を解くのか</a:t>
            </a:r>
          </a:p>
        </p:txBody>
      </p:sp>
      <p:sp>
        <p:nvSpPr>
          <p:cNvPr id="3" name="Text: WHO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WHO</a:t>
            </a:r>
          </a:p>
        </p:txBody>
      </p:sp>
      <p:sp>
        <p:nvSpPr>
          <p:cNvPr id="4" name="Text: 異なる現場から、同じ「判断の系譜」へ接続す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異なる現場から、同じ「判断の系譜」へ接続する</a:t>
            </a:r>
          </a:p>
        </p:txBody>
      </p:sp>
      <p:sp>
        <p:nvSpPr>
          <p:cNvPr id="5" name="Shared proble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1444752"/>
            <a:ext cx="10972800" cy="475488"/>
          </a:xfrm>
          <a:prstGeom prst="round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写真・図面・チャット・AI案が散在　→　判断理由"/>
          <p:cNvSpPr txBox="1"/>
          <p:nvPr/>
        </p:nvSpPr>
        <p:spPr>
          <a:xfrm>
            <a:off x="804672" y="1536192"/>
            <a:ext cx="105704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 lang="ja-JP">
                <a:solidFill>
                  <a:srgbClr val="FFFFFF"/>
                </a:solidFill>
                <a:latin typeface="Noto Sans JP"/>
                <a:ea typeface="Noto Sans JP"/>
              </a:rPr>
              <a:t>写真・図面・チャット・AI案が散在　→　判断理由が消える　→　次の担当が最初から探し直す</a:t>
            </a:r>
          </a:p>
        </p:txBody>
      </p:sp>
      <p:sp>
        <p:nvSpPr>
          <p:cNvPr id="7" name="Card: 画家・壁画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cent: 画家・壁画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8096" y="2313432"/>
            <a:ext cx="128016" cy="264261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画家・壁画家"/>
          <p:cNvSpPr txBox="1"/>
          <p:nvPr/>
        </p:nvSpPr>
        <p:spPr>
          <a:xfrm>
            <a:off x="1042416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0B6E69"/>
                </a:solidFill>
                <a:latin typeface="Noto Sans JP"/>
                <a:ea typeface="Noto Sans JP"/>
              </a:rPr>
              <a:t>画家・壁画家</a:t>
            </a:r>
          </a:p>
        </p:txBody>
      </p:sp>
      <p:sp>
        <p:nvSpPr>
          <p:cNvPr id="10" name="Text: 困りごと&#10;色・構図・偶然・保留が&#10;完成画像へ埋も"/>
          <p:cNvSpPr txBox="1"/>
          <p:nvPr/>
        </p:nvSpPr>
        <p:spPr>
          <a:xfrm>
            <a:off x="1042416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色・構図・偶然・保留が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完成画像へ埋もれる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同条件比較／制作process pack</a:t>
            </a:r>
          </a:p>
        </p:txBody>
      </p:sp>
      <p:sp>
        <p:nvSpPr>
          <p:cNvPr id="11" name="Card: 建築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4136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ccent: 建築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38728" y="2313432"/>
            <a:ext cx="128016" cy="2642616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建築家"/>
          <p:cNvSpPr txBox="1"/>
          <p:nvPr/>
        </p:nvSpPr>
        <p:spPr>
          <a:xfrm>
            <a:off x="3813048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4E51A8"/>
                </a:solidFill>
                <a:latin typeface="Noto Sans JP"/>
                <a:ea typeface="Noto Sans JP"/>
              </a:rPr>
              <a:t>建築家</a:t>
            </a:r>
          </a:p>
        </p:txBody>
      </p:sp>
      <p:sp>
        <p:nvSpPr>
          <p:cNvPr id="14" name="Text: 困りごと&#10;Brief・案・現場判断が&#10;別資料へ散"/>
          <p:cNvSpPr txBox="1"/>
          <p:nvPr/>
        </p:nvSpPr>
        <p:spPr>
          <a:xfrm>
            <a:off x="3813048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Brief・案・現場判断が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別資料へ散る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三者比較／設計変更理由</a:t>
            </a:r>
          </a:p>
        </p:txBody>
      </p:sp>
      <p:sp>
        <p:nvSpPr>
          <p:cNvPr id="15" name="Card: 施工・修復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44768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cent: 施工・修復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59" y="2313432"/>
            <a:ext cx="128016" cy="2642616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施工・修復"/>
          <p:cNvSpPr txBox="1"/>
          <p:nvPr/>
        </p:nvSpPr>
        <p:spPr>
          <a:xfrm>
            <a:off x="6583679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8C450E"/>
                </a:solidFill>
                <a:latin typeface="Noto Sans JP"/>
                <a:ea typeface="Noto Sans JP"/>
              </a:rPr>
              <a:t>施工・修復</a:t>
            </a:r>
          </a:p>
        </p:txBody>
      </p:sp>
      <p:sp>
        <p:nvSpPr>
          <p:cNvPr id="18" name="Text: 困りごと&#10;計画外作業・欠測・処置が&#10;後任へ伝わら"/>
          <p:cNvSpPr txBox="1"/>
          <p:nvPr/>
        </p:nvSpPr>
        <p:spPr>
          <a:xfrm>
            <a:off x="6583679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計画外作業・欠測・処置が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後任へ伝わらない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Hold Point／引渡し記録</a:t>
            </a:r>
          </a:p>
        </p:txBody>
      </p:sp>
      <p:sp>
        <p:nvSpPr>
          <p:cNvPr id="19" name="Card: デザイナー＋A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15400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ccent: デザイナー＋A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79992" y="2313432"/>
            <a:ext cx="128016" cy="2642616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デザイナー＋AI"/>
          <p:cNvSpPr txBox="1"/>
          <p:nvPr/>
        </p:nvSpPr>
        <p:spPr>
          <a:xfrm>
            <a:off x="9354312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74428A"/>
                </a:solidFill>
                <a:latin typeface="Noto Sans JP"/>
                <a:ea typeface="Noto Sans JP"/>
              </a:rPr>
              <a:t>デザイナー＋AI</a:t>
            </a:r>
          </a:p>
        </p:txBody>
      </p:sp>
      <p:sp>
        <p:nvSpPr>
          <p:cNvPr id="22" name="Text: 困りごと&#10;ツールやAIを跨ぐと&#10;採否の文脈が消え"/>
          <p:cNvSpPr txBox="1"/>
          <p:nvPr/>
        </p:nvSpPr>
        <p:spPr>
          <a:xfrm>
            <a:off x="9354312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ツールやAIを跨ぐと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採否の文脈が消える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提案系列／可搬な文脈</a:t>
            </a:r>
          </a:p>
        </p:txBody>
      </p:sp>
      <p:sp>
        <p:nvSpPr>
          <p:cNvPr id="23" name="Rounded 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5394960"/>
            <a:ext cx="1097280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504688"/>
            <a:ext cx="10497312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350" b="1" lang="ja-JP">
                <a:solidFill>
                  <a:srgbClr val="5E6873"/>
                </a:solidFill>
                <a:latin typeface="Noto Sans JP"/>
                <a:ea typeface="Noto Sans JP"/>
              </a:rPr>
              <a:t>二次利用者　</a:t>
            </a:r>
            <a:r>
              <a:rPr sz="1350" b="0" lang="ja-JP">
                <a:solidFill>
                  <a:srgbClr val="13202B"/>
                </a:solidFill>
                <a:latin typeface="Noto Sans JP"/>
                <a:ea typeface="Noto Sans JP"/>
              </a:rPr>
              <a:t>制作チーム・後任・施主・所有者・コレクター・美術館　</a:t>
            </a:r>
            <a:r>
              <a:rPr sz="1350" b="1" lang="ja-JP">
                <a:solidFill>
                  <a:srgbClr val="29704A"/>
                </a:solidFill>
                <a:latin typeface="Noto Sans JP"/>
                <a:ea typeface="Noto Sans JP"/>
              </a:rPr>
              <a:t>← 報告・引き継ぎ・保存資料として受け取る</a:t>
            </a:r>
          </a:p>
        </p:txBody>
      </p:sp>
      <p:sp>
        <p:nvSpPr>
          <p:cNvPr id="25" name="Text: 制作ソフト、BIM/CAD、ペイントツールを置き"/>
          <p:cNvSpPr txBox="1"/>
          <p:nvPr/>
        </p:nvSpPr>
        <p:spPr>
          <a:xfrm>
            <a:off x="1188720" y="6053328"/>
            <a:ext cx="97840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lang="ja-JP">
                <a:solidFill>
                  <a:srgbClr val="5E6873"/>
                </a:solidFill>
                <a:latin typeface="Noto Sans JP"/>
                <a:ea typeface="Noto Sans JP"/>
              </a:rPr>
              <a:t>制作ソフト、BIM/CAD、ペイントツールを置き換えるのではなく、判断を横断してつなぐ。</a:t>
            </a:r>
          </a:p>
        </p:txBody>
      </p:sp>
      <p:cxnSp>
        <p:nvCxnSpPr>
          <p:cNvPr id="26" name="Connecto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28" name="Text: Core concept §§14, 20.2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§§14, 20.2</a:t>
            </a:r>
          </a:p>
        </p:txBody>
      </p:sp>
      <p:sp>
        <p:nvSpPr>
          <p:cNvPr id="29" name="Text: 02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節目で残し、すぐ返す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節目で残し、すぐ返す</a:t>
            </a:r>
          </a:p>
        </p:txBody>
      </p:sp>
      <p:sp>
        <p:nvSpPr>
          <p:cNvPr id="3" name="Text: HOW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HOW</a:t>
            </a:r>
          </a:p>
        </p:txBody>
      </p:sp>
      <p:sp>
        <p:nvSpPr>
          <p:cNvPr id="4" name="Text: セッション終了・承認・引き渡し・Hold Poi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セッション終了・承認・引き渡し・Hold Pointだけを意味ある履歴にする</a:t>
            </a:r>
          </a:p>
        </p:txBody>
      </p:sp>
      <p:sp>
        <p:nvSpPr>
          <p:cNvPr id="5" name="Chevron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21408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77639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evron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33872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evron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90104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evron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46336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ode: 意図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2011680"/>
            <a:ext cx="1508760" cy="1024128"/>
          </a:xfrm>
          <a:prstGeom prst="roundRect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意図"/>
          <p:cNvSpPr txBox="1"/>
          <p:nvPr/>
        </p:nvSpPr>
        <p:spPr>
          <a:xfrm>
            <a:off x="713232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4E51A8"/>
                </a:solidFill>
                <a:latin typeface="Noto Sans JP"/>
                <a:ea typeface="Noto Sans JP"/>
              </a:rPr>
              <a:t>意図</a:t>
            </a:r>
          </a:p>
        </p:txBody>
      </p:sp>
      <p:sp>
        <p:nvSpPr>
          <p:cNvPr id="12" name="Text: Plan"/>
          <p:cNvSpPr txBox="1"/>
          <p:nvPr/>
        </p:nvSpPr>
        <p:spPr>
          <a:xfrm>
            <a:off x="694944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Plan</a:t>
            </a:r>
          </a:p>
        </p:txBody>
      </p:sp>
      <p:sp>
        <p:nvSpPr>
          <p:cNvPr id="13" name="Node: 実行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459736" y="2011680"/>
            <a:ext cx="1508760" cy="1024128"/>
          </a:xfrm>
          <a:prstGeom prst="roundRect">
            <a:avLst/>
          </a:prstGeom>
          <a:solidFill>
            <a:srgbClr val="F5E4D4"/>
          </a:solidFill>
          <a:ln w="1524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実行"/>
          <p:cNvSpPr txBox="1"/>
          <p:nvPr/>
        </p:nvSpPr>
        <p:spPr>
          <a:xfrm>
            <a:off x="2569464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50E"/>
                </a:solidFill>
                <a:latin typeface="Noto Sans JP"/>
                <a:ea typeface="Noto Sans JP"/>
              </a:rPr>
              <a:t>実行</a:t>
            </a:r>
          </a:p>
        </p:txBody>
      </p:sp>
      <p:sp>
        <p:nvSpPr>
          <p:cNvPr id="15" name="Text: Activity"/>
          <p:cNvSpPr txBox="1"/>
          <p:nvPr/>
        </p:nvSpPr>
        <p:spPr>
          <a:xfrm>
            <a:off x="2551176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Activity</a:t>
            </a:r>
          </a:p>
        </p:txBody>
      </p:sp>
      <p:sp>
        <p:nvSpPr>
          <p:cNvPr id="16" name="Node: 観測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5968" y="2011680"/>
            <a:ext cx="1508760" cy="1024128"/>
          </a:xfrm>
          <a:prstGeom prst="roundRect">
            <a:avLst/>
          </a:prstGeom>
          <a:solidFill>
            <a:srgbClr val="D9EEEB"/>
          </a:solidFill>
          <a:ln w="1524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観測"/>
          <p:cNvSpPr txBox="1"/>
          <p:nvPr/>
        </p:nvSpPr>
        <p:spPr>
          <a:xfrm>
            <a:off x="4425696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0B6E69"/>
                </a:solidFill>
                <a:latin typeface="Noto Sans JP"/>
                <a:ea typeface="Noto Sans JP"/>
              </a:rPr>
              <a:t>観測</a:t>
            </a:r>
          </a:p>
        </p:txBody>
      </p:sp>
      <p:sp>
        <p:nvSpPr>
          <p:cNvPr id="18" name="Text: Observation"/>
          <p:cNvSpPr txBox="1"/>
          <p:nvPr/>
        </p:nvSpPr>
        <p:spPr>
          <a:xfrm>
            <a:off x="4407407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Observation</a:t>
            </a:r>
          </a:p>
        </p:txBody>
      </p:sp>
      <p:sp>
        <p:nvSpPr>
          <p:cNvPr id="19" name="Node: 比較候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2011680"/>
            <a:ext cx="1508760" cy="1024128"/>
          </a:xfrm>
          <a:prstGeom prst="roundRect">
            <a:avLst/>
          </a:prstGeom>
          <a:solidFill>
            <a:srgbClr val="E7EAED"/>
          </a:solidFill>
          <a:ln w="15240">
            <a:solidFill>
              <a:srgbClr val="5E687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比較候補"/>
          <p:cNvSpPr txBox="1"/>
          <p:nvPr/>
        </p:nvSpPr>
        <p:spPr>
          <a:xfrm>
            <a:off x="6281928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5E6873"/>
                </a:solidFill>
                <a:latin typeface="Noto Sans JP"/>
                <a:ea typeface="Noto Sans JP"/>
              </a:rPr>
              <a:t>比較候補</a:t>
            </a:r>
          </a:p>
        </p:txBody>
      </p:sp>
      <p:sp>
        <p:nvSpPr>
          <p:cNvPr id="21" name="Text: Analysis"/>
          <p:cNvSpPr txBox="1"/>
          <p:nvPr/>
        </p:nvSpPr>
        <p:spPr>
          <a:xfrm>
            <a:off x="6263640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Analysis</a:t>
            </a:r>
          </a:p>
        </p:txBody>
      </p:sp>
      <p:sp>
        <p:nvSpPr>
          <p:cNvPr id="22" name="Node: 意味付け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28431" y="2011680"/>
            <a:ext cx="1508760" cy="1024128"/>
          </a:xfrm>
          <a:prstGeom prst="roundRect">
            <a:avLst/>
          </a:prstGeom>
          <a:solidFill>
            <a:srgbClr val="E8E1F3"/>
          </a:solidFill>
          <a:ln w="1524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意味付け"/>
          <p:cNvSpPr txBox="1"/>
          <p:nvPr/>
        </p:nvSpPr>
        <p:spPr>
          <a:xfrm>
            <a:off x="8138159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74428A"/>
                </a:solidFill>
                <a:latin typeface="Noto Sans JP"/>
                <a:ea typeface="Noto Sans JP"/>
              </a:rPr>
              <a:t>意味付け</a:t>
            </a:r>
          </a:p>
        </p:txBody>
      </p:sp>
      <p:sp>
        <p:nvSpPr>
          <p:cNvPr id="24" name="Text: Claim"/>
          <p:cNvSpPr txBox="1"/>
          <p:nvPr/>
        </p:nvSpPr>
        <p:spPr>
          <a:xfrm>
            <a:off x="8119871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Claim</a:t>
            </a:r>
          </a:p>
        </p:txBody>
      </p:sp>
      <p:sp>
        <p:nvSpPr>
          <p:cNvPr id="25" name="Node: 人の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84663" y="2011680"/>
            <a:ext cx="1508760" cy="1024128"/>
          </a:xfrm>
          <a:prstGeom prst="roundRect">
            <a:avLst/>
          </a:prstGeom>
          <a:solidFill>
            <a:srgbClr val="F3E3C7"/>
          </a:solidFill>
          <a:ln w="1524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人の判断"/>
          <p:cNvSpPr txBox="1"/>
          <p:nvPr/>
        </p:nvSpPr>
        <p:spPr>
          <a:xfrm>
            <a:off x="9994391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人の判断</a:t>
            </a:r>
          </a:p>
        </p:txBody>
      </p:sp>
      <p:sp>
        <p:nvSpPr>
          <p:cNvPr id="27" name="Text: Decision"/>
          <p:cNvSpPr txBox="1"/>
          <p:nvPr/>
        </p:nvSpPr>
        <p:spPr>
          <a:xfrm>
            <a:off x="9976103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Decision</a:t>
            </a:r>
          </a:p>
        </p:txBody>
      </p:sp>
      <p:sp>
        <p:nvSpPr>
          <p:cNvPr id="28" name="Text: 人が採否を判断"/>
          <p:cNvSpPr txBox="1"/>
          <p:nvPr/>
        </p:nvSpPr>
        <p:spPr>
          <a:xfrm>
            <a:off x="5321808" y="3136392"/>
            <a:ext cx="16002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lang="ja-JP">
                <a:solidFill>
                  <a:srgbClr val="8C4A12"/>
                </a:solidFill>
                <a:latin typeface="Noto Sans JP"/>
                <a:ea typeface="Noto Sans JP"/>
              </a:rPr>
              <a:t>人が採否を判断</a:t>
            </a:r>
          </a:p>
        </p:txBody>
      </p:sp>
      <p:sp>
        <p:nvSpPr>
          <p:cNvPr id="29" name="Card: 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: 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552" y="3950207"/>
            <a:ext cx="128016" cy="969264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比較"/>
          <p:cNvSpPr txBox="1"/>
          <p:nvPr/>
        </p:nvSpPr>
        <p:spPr>
          <a:xfrm>
            <a:off x="1261872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0B6E69"/>
                </a:solidFill>
                <a:latin typeface="Noto Sans JP"/>
                <a:ea typeface="Noto Sans JP"/>
              </a:rPr>
              <a:t>比較</a:t>
            </a:r>
          </a:p>
        </p:txBody>
      </p:sp>
      <p:sp>
        <p:nvSpPr>
          <p:cNvPr id="32" name="Text: 前後・計画との違い"/>
          <p:cNvSpPr txBox="1"/>
          <p:nvPr/>
        </p:nvSpPr>
        <p:spPr>
          <a:xfrm>
            <a:off x="1261872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前後・計画との違い</a:t>
            </a:r>
          </a:p>
        </p:txBody>
      </p:sp>
      <p:sp>
        <p:nvSpPr>
          <p:cNvPr id="33" name="Card: 記録復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30168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cent: 記録復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94759" y="3950207"/>
            <a:ext cx="128016" cy="969264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記録復元"/>
          <p:cNvSpPr txBox="1"/>
          <p:nvPr/>
        </p:nvSpPr>
        <p:spPr>
          <a:xfrm>
            <a:off x="4069079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4E51A8"/>
                </a:solidFill>
                <a:latin typeface="Noto Sans JP"/>
                <a:ea typeface="Noto Sans JP"/>
              </a:rPr>
              <a:t>記録復元</a:t>
            </a:r>
          </a:p>
        </p:txBody>
      </p:sp>
      <p:sp>
        <p:nvSpPr>
          <p:cNvPr id="36" name="Text: その節目の記録を取り出す"/>
          <p:cNvSpPr txBox="1"/>
          <p:nvPr/>
        </p:nvSpPr>
        <p:spPr>
          <a:xfrm>
            <a:off x="4069079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その節目の記録を取り出す</a:t>
            </a:r>
          </a:p>
        </p:txBody>
      </p:sp>
      <p:sp>
        <p:nvSpPr>
          <p:cNvPr id="37" name="Card: 報告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7376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ccent: 報告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01968" y="3950207"/>
            <a:ext cx="128016" cy="969264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報告"/>
          <p:cNvSpPr txBox="1"/>
          <p:nvPr/>
        </p:nvSpPr>
        <p:spPr>
          <a:xfrm>
            <a:off x="6876288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8C450E"/>
                </a:solidFill>
                <a:latin typeface="Noto Sans JP"/>
                <a:ea typeface="Noto Sans JP"/>
              </a:rPr>
              <a:t>報告</a:t>
            </a:r>
          </a:p>
        </p:txBody>
      </p:sp>
      <p:sp>
        <p:nvSpPr>
          <p:cNvPr id="40" name="Text: 進捗・処置の下書き"/>
          <p:cNvSpPr txBox="1"/>
          <p:nvPr/>
        </p:nvSpPr>
        <p:spPr>
          <a:xfrm>
            <a:off x="6876288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進捗・処置の下書き</a:t>
            </a:r>
          </a:p>
        </p:txBody>
      </p:sp>
      <p:sp>
        <p:nvSpPr>
          <p:cNvPr id="41" name="Card: 引き継ぎ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44584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Accent: 引き継ぎ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09176" y="3950207"/>
            <a:ext cx="128016" cy="969264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: 引き継ぎ"/>
          <p:cNvSpPr txBox="1"/>
          <p:nvPr/>
        </p:nvSpPr>
        <p:spPr>
          <a:xfrm>
            <a:off x="9683496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29704A"/>
                </a:solidFill>
                <a:latin typeface="Noto Sans JP"/>
                <a:ea typeface="Noto Sans JP"/>
              </a:rPr>
              <a:t>引き継ぎ</a:t>
            </a:r>
          </a:p>
        </p:txBody>
      </p:sp>
      <p:sp>
        <p:nvSpPr>
          <p:cNvPr id="44" name="Text: 理由・制約・未解決"/>
          <p:cNvSpPr txBox="1"/>
          <p:nvPr/>
        </p:nvSpPr>
        <p:spPr>
          <a:xfrm>
            <a:off x="9683496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理由・制約・未解決</a:t>
            </a:r>
          </a:p>
        </p:txBody>
      </p:sp>
      <p:sp>
        <p:nvSpPr>
          <p:cNvPr id="45" name="Rounded Rectangle 4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5367528"/>
            <a:ext cx="105704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4128" y="5477256"/>
            <a:ext cx="10168128" cy="512064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400" b="1" lang="ja-JP">
                <a:solidFill>
                  <a:srgbClr val="13202B"/>
                </a:solidFill>
                <a:latin typeface="Noto Sans JP"/>
                <a:ea typeface="Noto Sans JP"/>
              </a:rPr>
              <a:t>見方の原則　</a:t>
            </a: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写真＝観測　</a:t>
            </a:r>
            <a:r>
              <a:rPr sz="1400" b="1" lang="ja-JP">
                <a:solidFill>
                  <a:srgbClr val="5E6873"/>
                </a:solidFill>
                <a:latin typeface="Noto Sans JP"/>
                <a:ea typeface="Noto Sans JP"/>
              </a:rPr>
              <a:t>差分＝再計算可能な解析　</a:t>
            </a:r>
            <a:r>
              <a:rPr sz="1400" b="1" lang="ja-JP">
                <a:solidFill>
                  <a:srgbClr val="A13A31"/>
                </a:solidFill>
                <a:latin typeface="Noto Sans JP"/>
                <a:ea typeface="Noto Sans JP"/>
              </a:rPr>
              <a:t>確定事実ではない　</a:t>
            </a: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常時監視・隠れた録画は行わない</a:t>
            </a:r>
          </a:p>
        </p:txBody>
      </p:sp>
      <p:cxnSp>
        <p:nvCxnSpPr>
          <p:cNvPr id="47" name="Connector 4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49" name="Text: Core concept §§3, 14.4, 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§§3, 14.4, 20.4</a:t>
            </a:r>
          </a:p>
        </p:txBody>
      </p:sp>
      <p:sp>
        <p:nvSpPr>
          <p:cNvPr id="50" name="Text: 03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画家・壁画家 — 塗り重ねの「なぜ」を残す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画家・壁画家 — 塗り重ねの「なぜ」を残す</a:t>
            </a:r>
          </a:p>
        </p:txBody>
      </p:sp>
      <p:sp>
        <p:nvSpPr>
          <p:cNvPr id="3" name="Text: SCENARIO 01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SCENARIO 01</a:t>
            </a:r>
          </a:p>
        </p:txBody>
      </p:sp>
      <p:sp>
        <p:nvSpPr>
          <p:cNvPr id="4" name="Text: 同じ視点の前後を比べ、差分候補へ人が意味を付け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同じ視点の前後を比べ、差分候補へ人が意味を付ける</a:t>
            </a:r>
          </a:p>
        </p:txBody>
      </p:sp>
      <p:sp>
        <p:nvSpPr>
          <p:cNvPr id="5" name="Text: 制作前 Capture"/>
          <p:cNvSpPr txBox="1"/>
          <p:nvPr/>
        </p:nvSpPr>
        <p:spPr>
          <a:xfrm>
            <a:off x="658368" y="1417320"/>
            <a:ext cx="2468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制作前 Capture</a:t>
            </a:r>
          </a:p>
        </p:txBody>
      </p:sp>
      <p:sp>
        <p:nvSpPr>
          <p:cNvPr id="6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3232" y="1773936"/>
            <a:ext cx="2359152" cy="1993392"/>
          </a:xfrm>
          <a:prstGeom prst="rect">
            <a:avLst/>
          </a:prstGeom>
          <a:solidFill>
            <a:srgbClr val="EFE9DE"/>
          </a:solidFill>
          <a:ln w="15240">
            <a:solidFill>
              <a:srgbClr val="B6AA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552" y="2157984"/>
            <a:ext cx="1389888" cy="1097280"/>
          </a:xfrm>
          <a:prstGeom prst="arc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39112" y="2139696"/>
            <a:ext cx="676656" cy="676656"/>
          </a:xfrm>
          <a:prstGeom prst="ellipse">
            <a:avLst/>
          </a:prstGeom>
          <a:solidFill>
            <a:srgbClr val="F3E3C7"/>
          </a:solidFill>
          <a:ln w="1270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av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8992" y="2916936"/>
            <a:ext cx="1609344" cy="512064"/>
          </a:xfrm>
          <a:prstGeom prst="wave">
            <a:avLst/>
          </a:prstGeom>
          <a:solidFill>
            <a:srgbClr val="D9EEEB"/>
          </a:solidFill>
          <a:ln w="1270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制作 Session"/>
          <p:cNvSpPr txBox="1"/>
          <p:nvPr/>
        </p:nvSpPr>
        <p:spPr>
          <a:xfrm>
            <a:off x="3703320" y="1417320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50E"/>
                </a:solidFill>
                <a:latin typeface="Noto Sans JP"/>
                <a:ea typeface="Noto Sans JP"/>
              </a:rPr>
              <a:t>制作 Session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67328" y="1773936"/>
            <a:ext cx="2084831" cy="1993392"/>
          </a:xfrm>
          <a:prstGeom prst="roundRect">
            <a:avLst/>
          </a:prstGeom>
          <a:solidFill>
            <a:srgbClr val="F5E4D4"/>
          </a:solidFill>
          <a:ln w="1524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描く&#10;塗り重ねる"/>
          <p:cNvSpPr txBox="1"/>
          <p:nvPr/>
        </p:nvSpPr>
        <p:spPr>
          <a:xfrm>
            <a:off x="4050791" y="2029968"/>
            <a:ext cx="150876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 lang="ja-JP">
                <a:solidFill>
                  <a:srgbClr val="8C450E"/>
                </a:solidFill>
                <a:latin typeface="Noto Sans JP"/>
                <a:ea typeface="Noto Sans JP"/>
              </a:rPr>
              <a:t>描く</a:t>
            </a:r>
            <a:br/>
            <a:r>
              <a:rPr sz="1900" b="1" lang="ja-JP">
                <a:solidFill>
                  <a:srgbClr val="8C450E"/>
                </a:solidFill>
                <a:latin typeface="Noto Sans JP"/>
                <a:ea typeface="Noto Sans JP"/>
              </a:rPr>
              <a:t>塗り重ねる</a:t>
            </a:r>
          </a:p>
        </p:txBody>
      </p:sp>
      <p:sp>
        <p:nvSpPr>
          <p:cNvPr id="13" name="任意の一言・音声" title="任意の一言・音声" descr="任意の一言・音声"/>
          <p:cNvSpPr/>
          <p:nvPr/>
        </p:nvSpPr>
        <p:spPr>
          <a:xfrm>
            <a:off x="3968496" y="2907792"/>
            <a:ext cx="1682496" cy="3840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ja-JP">
                <a:solidFill>
                  <a:srgbClr val="8C450E"/>
                </a:solidFill>
                <a:latin typeface="Noto Sans JP"/>
                <a:ea typeface="Noto Sans JP"/>
              </a:rPr>
              <a:t>任意の一言・音声</a:t>
            </a:r>
          </a:p>
        </p:txBody>
      </p:sp>
      <p:sp>
        <p:nvSpPr>
          <p:cNvPr id="14" name="Chevron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63824" y="2523744"/>
            <a:ext cx="384048" cy="47548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16752" y="2523744"/>
            <a:ext cx="384048" cy="47548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制作後 Capture"/>
          <p:cNvSpPr txBox="1"/>
          <p:nvPr/>
        </p:nvSpPr>
        <p:spPr>
          <a:xfrm>
            <a:off x="6446520" y="1417320"/>
            <a:ext cx="2468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制作後 Capture</a:t>
            </a:r>
          </a:p>
        </p:txBody>
      </p:sp>
      <p:sp>
        <p:nvSpPr>
          <p:cNvPr id="17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92240" y="1773936"/>
            <a:ext cx="2359152" cy="1993392"/>
          </a:xfrm>
          <a:prstGeom prst="rect">
            <a:avLst/>
          </a:prstGeom>
          <a:solidFill>
            <a:srgbClr val="EFE9DE"/>
          </a:solidFill>
          <a:ln w="15240">
            <a:solidFill>
              <a:srgbClr val="B6AA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59" y="2157984"/>
            <a:ext cx="1389888" cy="1097280"/>
          </a:xfrm>
          <a:prstGeom prst="arc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18119" y="2139696"/>
            <a:ext cx="676656" cy="676656"/>
          </a:xfrm>
          <a:prstGeom prst="ellipse">
            <a:avLst/>
          </a:prstGeom>
          <a:solidFill>
            <a:srgbClr val="F3E3C7"/>
          </a:solidFill>
          <a:ln w="1270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Wav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0" y="2916936"/>
            <a:ext cx="1609344" cy="512064"/>
          </a:xfrm>
          <a:prstGeom prst="wave">
            <a:avLst/>
          </a:prstGeom>
          <a:solidFill>
            <a:srgbClr val="D9EEEB"/>
          </a:solidFill>
          <a:ln w="1270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loud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98079" y="2615184"/>
            <a:ext cx="786384" cy="676656"/>
          </a:xfrm>
          <a:prstGeom prst="cloud">
            <a:avLst/>
          </a:prstGeom>
          <a:solidFill>
            <a:srgbClr val="F5DEDB"/>
          </a:solidFill>
          <a:ln w="2540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差分候補" title="差分候補" descr="差分候補"/>
          <p:cNvSpPr/>
          <p:nvPr/>
        </p:nvSpPr>
        <p:spPr>
          <a:xfrm>
            <a:off x="7534656" y="3145536"/>
            <a:ext cx="1170432" cy="310896"/>
          </a:xfrm>
          <a:prstGeom prst="roundRect">
            <a:avLst/>
          </a:prstGeom>
          <a:solidFill>
            <a:srgbClr val="F5DEDB"/>
          </a:solidFill>
          <a:ln w="889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lang="ja-JP">
                <a:solidFill>
                  <a:srgbClr val="A13A31"/>
                </a:solidFill>
                <a:latin typeface="Noto Sans JP"/>
                <a:ea typeface="Noto Sans JP"/>
              </a:rPr>
              <a:t>差分候補</a:t>
            </a:r>
          </a:p>
        </p:txBody>
      </p:sp>
      <p:sp>
        <p:nvSpPr>
          <p:cNvPr id="23" name="Card: すぐ返るも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89720" y="1572768"/>
            <a:ext cx="2359152" cy="2377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cent: すぐ返るも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54312" y="1737360"/>
            <a:ext cx="128016" cy="2048256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すぐ返るもの"/>
          <p:cNvSpPr txBox="1"/>
          <p:nvPr/>
        </p:nvSpPr>
        <p:spPr>
          <a:xfrm>
            <a:off x="9628632" y="1700784"/>
            <a:ext cx="1737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29704A"/>
                </a:solidFill>
                <a:latin typeface="Noto Sans JP"/>
                <a:ea typeface="Noto Sans JP"/>
              </a:rPr>
              <a:t>すぐ返るもの</a:t>
            </a:r>
          </a:p>
        </p:txBody>
      </p:sp>
      <p:sp>
        <p:nvSpPr>
          <p:cNvPr id="26" name="Text: 前後比較&#10;差分候補&#10;制作process pack"/>
          <p:cNvSpPr txBox="1"/>
          <p:nvPr/>
        </p:nvSpPr>
        <p:spPr>
          <a:xfrm>
            <a:off x="9628632" y="2103120"/>
            <a:ext cx="1737360" cy="1737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前後比較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差分候補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制作process pack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未採用案の再利用</a:t>
            </a:r>
          </a:p>
        </p:txBody>
      </p:sp>
      <p:sp>
        <p:nvSpPr>
          <p:cNvPr id="27" name="Text: 色・構図案を分ける"/>
          <p:cNvSpPr txBox="1"/>
          <p:nvPr/>
        </p:nvSpPr>
        <p:spPr>
          <a:xfrm>
            <a:off x="749808" y="4078224"/>
            <a:ext cx="2011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lang="ja-JP">
                <a:solidFill>
                  <a:srgbClr val="74428A"/>
                </a:solidFill>
                <a:latin typeface="Noto Sans JP"/>
                <a:ea typeface="Noto Sans JP"/>
              </a:rPr>
              <a:t>色・構図案を分ける</a:t>
            </a:r>
          </a:p>
        </p:txBody>
      </p:sp>
      <p:cxnSp>
        <p:nvCxnSpPr>
          <p:cNvPr id="28" name="Connector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005840" y="4791456"/>
            <a:ext cx="2240280" cy="0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1874519" y="4416552"/>
            <a:ext cx="777241" cy="374904"/>
          </a:xfrm>
          <a:prstGeom prst="line">
            <a:avLst/>
          </a:prstGeom>
          <a:ln w="1905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874519" y="4791456"/>
            <a:ext cx="777241" cy="374904"/>
          </a:xfrm>
          <a:prstGeom prst="line">
            <a:avLst/>
          </a:prstGeom>
          <a:ln w="1905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採用した色案" title="採用した色案" descr="採用した色案"/>
          <p:cNvSpPr/>
          <p:nvPr/>
        </p:nvSpPr>
        <p:spPr>
          <a:xfrm>
            <a:off x="2770632" y="4233672"/>
            <a:ext cx="1463040" cy="384048"/>
          </a:xfrm>
          <a:prstGeom prst="roundRect">
            <a:avLst/>
          </a:prstGeom>
          <a:solidFill>
            <a:srgbClr val="DCEEE4"/>
          </a:solidFill>
          <a:ln w="889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29704A"/>
                </a:solidFill>
                <a:latin typeface="Noto Sans JP"/>
                <a:ea typeface="Noto Sans JP"/>
              </a:rPr>
              <a:t>採用した色案</a:t>
            </a:r>
          </a:p>
        </p:txBody>
      </p:sp>
      <p:sp>
        <p:nvSpPr>
          <p:cNvPr id="32" name="保留・未採用案" title="保留・未採用案" descr="保留・未採用案"/>
          <p:cNvSpPr/>
          <p:nvPr/>
        </p:nvSpPr>
        <p:spPr>
          <a:xfrm>
            <a:off x="2770632" y="5010912"/>
            <a:ext cx="1691640" cy="384048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74428A"/>
                </a:solidFill>
                <a:latin typeface="Noto Sans JP"/>
                <a:ea typeface="Noto Sans JP"/>
              </a:rPr>
              <a:t>保留・未採用案</a:t>
            </a:r>
          </a:p>
        </p:txBody>
      </p:sp>
      <p:sp>
        <p:nvSpPr>
          <p:cNvPr id="33" name="Rounded Rectangle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09160" y="4169663"/>
            <a:ext cx="682142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4370832"/>
            <a:ext cx="6327648" cy="8686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人が残す意味　</a:t>
            </a: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「この変化を採用」「偶然を残す」「まだ不明」
</a:t>
            </a:r>
            <a:r>
              <a:rPr sz="1400" b="1" lang="ja-JP">
                <a:solidFill>
                  <a:srgbClr val="A13A31"/>
                </a:solidFill>
                <a:latin typeface="Noto Sans JP"/>
                <a:ea typeface="Noto Sans JP"/>
              </a:rPr>
              <a:t>しないこと　</a:t>
            </a: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差分量を創造性・努力の点数にしない／画像から作者を特定しない</a:t>
            </a:r>
          </a:p>
        </p:txBody>
      </p:sp>
      <p:cxnSp>
        <p:nvCxnSpPr>
          <p:cNvPr id="35" name="Connector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37" name="Text: Core concept §§14.2, 20.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§§14.2, 20.2, 20.7</a:t>
            </a:r>
          </a:p>
        </p:txBody>
      </p:sp>
      <p:sp>
        <p:nvSpPr>
          <p:cNvPr id="38" name="Text: 04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建築家 — Plan・直前現況・現在現況を並べ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建築家 — Plan・直前現況・現在現況を並べる</a:t>
            </a:r>
          </a:p>
        </p:txBody>
      </p:sp>
      <p:sp>
        <p:nvSpPr>
          <p:cNvPr id="3" name="Text: SCENARIO 02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SCENARIO 02</a:t>
            </a:r>
          </a:p>
        </p:txBody>
      </p:sp>
      <p:sp>
        <p:nvSpPr>
          <p:cNvPr id="4" name="Text: 「計画との適合」と「時間変化」を混ぜずに判断す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「計画との適合」と「時間変化」を混ぜずに判断する</a:t>
            </a:r>
          </a:p>
        </p:txBody>
      </p:sp>
      <p:sp>
        <p:nvSpPr>
          <p:cNvPr id="5" name="Text: PLAN"/>
          <p:cNvSpPr txBox="1"/>
          <p:nvPr/>
        </p:nvSpPr>
        <p:spPr>
          <a:xfrm>
            <a:off x="621792" y="1444752"/>
            <a:ext cx="305409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4E51A8"/>
                </a:solidFill>
                <a:latin typeface="Noto Sans JP"/>
                <a:ea typeface="Noto Sans JP"/>
              </a:rPr>
              <a:t>PLAN</a:t>
            </a:r>
          </a:p>
        </p:txBody>
      </p:sp>
      <p:sp>
        <p:nvSpPr>
          <p:cNvPr id="6" name="Text: 実現したかった状態"/>
          <p:cNvSpPr txBox="1"/>
          <p:nvPr/>
        </p:nvSpPr>
        <p:spPr>
          <a:xfrm>
            <a:off x="621792" y="1709928"/>
            <a:ext cx="305409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実現したかった状態</a:t>
            </a:r>
          </a:p>
        </p:txBody>
      </p:sp>
      <p:sp>
        <p:nvSpPr>
          <p:cNvPr id="7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2029968"/>
            <a:ext cx="3054096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244144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285292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326440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367588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408736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24128" y="2468880"/>
            <a:ext cx="146304" cy="1572768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24128" y="2468880"/>
            <a:ext cx="1755648" cy="146304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15184" y="2468880"/>
            <a:ext cx="146304" cy="1078992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73352" y="3447288"/>
            <a:ext cx="1088136" cy="146304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PREVIOUS"/>
          <p:cNvSpPr txBox="1"/>
          <p:nvPr/>
        </p:nvSpPr>
        <p:spPr>
          <a:xfrm>
            <a:off x="4114800" y="1444752"/>
            <a:ext cx="305409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PREVIOUS</a:t>
            </a:r>
          </a:p>
        </p:txBody>
      </p:sp>
      <p:sp>
        <p:nvSpPr>
          <p:cNvPr id="18" name="Text: 直前に観測した状態"/>
          <p:cNvSpPr txBox="1"/>
          <p:nvPr/>
        </p:nvSpPr>
        <p:spPr>
          <a:xfrm>
            <a:off x="4114800" y="1709928"/>
            <a:ext cx="305409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直前に観測した状態</a:t>
            </a:r>
          </a:p>
        </p:txBody>
      </p:sp>
      <p:sp>
        <p:nvSpPr>
          <p:cNvPr id="19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14800" y="2029968"/>
            <a:ext cx="3054096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244144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285292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326440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367588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408736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17136" y="2468880"/>
            <a:ext cx="146304" cy="1572768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17136" y="2468880"/>
            <a:ext cx="1755648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08192" y="2468880"/>
            <a:ext cx="146304" cy="1078992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66360" y="3447288"/>
            <a:ext cx="1088136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CURRENT"/>
          <p:cNvSpPr txBox="1"/>
          <p:nvPr/>
        </p:nvSpPr>
        <p:spPr>
          <a:xfrm>
            <a:off x="7607808" y="1444752"/>
            <a:ext cx="305409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CURRENT</a:t>
            </a:r>
          </a:p>
        </p:txBody>
      </p:sp>
      <p:sp>
        <p:nvSpPr>
          <p:cNvPr id="30" name="Text: 現在観測した状態"/>
          <p:cNvSpPr txBox="1"/>
          <p:nvPr/>
        </p:nvSpPr>
        <p:spPr>
          <a:xfrm>
            <a:off x="7607808" y="1709928"/>
            <a:ext cx="305409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現在観測した状態</a:t>
            </a:r>
          </a:p>
        </p:txBody>
      </p:sp>
      <p:sp>
        <p:nvSpPr>
          <p:cNvPr id="31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07808" y="2029968"/>
            <a:ext cx="3054096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244144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285292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326440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367588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408736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10144" y="2468880"/>
            <a:ext cx="146304" cy="1572768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10144" y="2468880"/>
            <a:ext cx="1755648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01200" y="2468880"/>
            <a:ext cx="146304" cy="1078992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659368" y="3447288"/>
            <a:ext cx="1088136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97696" y="3602736"/>
            <a:ext cx="493776" cy="411480"/>
          </a:xfrm>
          <a:prstGeom prst="rect">
            <a:avLst/>
          </a:prstGeom>
          <a:solidFill>
            <a:srgbClr val="F5DEDB"/>
          </a:solidFill>
          <a:ln w="2032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要確認" title="要確認" descr="要確認"/>
          <p:cNvSpPr/>
          <p:nvPr/>
        </p:nvSpPr>
        <p:spPr>
          <a:xfrm>
            <a:off x="9034272" y="4005072"/>
            <a:ext cx="1170432" cy="310896"/>
          </a:xfrm>
          <a:prstGeom prst="roundRect">
            <a:avLst/>
          </a:prstGeom>
          <a:solidFill>
            <a:srgbClr val="F5DEDB"/>
          </a:solidFill>
          <a:ln w="889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lang="ja-JP">
                <a:solidFill>
                  <a:srgbClr val="A13A31"/>
                </a:solidFill>
                <a:latin typeface="Noto Sans JP"/>
                <a:ea typeface="Noto Sans JP"/>
              </a:rPr>
              <a:t>要確認</a:t>
            </a:r>
          </a:p>
        </p:txBody>
      </p:sp>
      <p:sp>
        <p:nvSpPr>
          <p:cNvPr id="43" name="Chevron 4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03320" y="2971800"/>
            <a:ext cx="292608" cy="457200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evron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96328" y="2971800"/>
            <a:ext cx="292608" cy="457200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: 計画との適合"/>
          <p:cNvSpPr txBox="1"/>
          <p:nvPr/>
        </p:nvSpPr>
        <p:spPr>
          <a:xfrm>
            <a:off x="3127248" y="446227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lang="ja-JP">
                <a:solidFill>
                  <a:srgbClr val="4E51A8"/>
                </a:solidFill>
                <a:latin typeface="Noto Sans JP"/>
                <a:ea typeface="Noto Sans JP"/>
              </a:rPr>
              <a:t>計画との適合</a:t>
            </a:r>
          </a:p>
        </p:txBody>
      </p:sp>
      <p:sp>
        <p:nvSpPr>
          <p:cNvPr id="46" name="Text: 時間変化"/>
          <p:cNvSpPr txBox="1"/>
          <p:nvPr/>
        </p:nvSpPr>
        <p:spPr>
          <a:xfrm>
            <a:off x="6620256" y="446227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lang="ja-JP">
                <a:solidFill>
                  <a:srgbClr val="0B6E69"/>
                </a:solidFill>
                <a:latin typeface="Noto Sans JP"/>
                <a:ea typeface="Noto Sans JP"/>
              </a:rPr>
              <a:t>時間変化</a:t>
            </a:r>
          </a:p>
        </p:txBody>
      </p:sp>
      <p:sp>
        <p:nvSpPr>
          <p:cNvPr id="47" name="Rounded Rectangle 4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35056" y="2029968"/>
            <a:ext cx="859536" cy="2560320"/>
          </a:xfrm>
          <a:prstGeom prst="roundRect">
            <a:avLst/>
          </a:prstGeom>
          <a:solidFill>
            <a:srgbClr val="F3E3C7"/>
          </a:solidFill>
          <a:ln w="1778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: 人が判断&#10;&#10;採用&#10;是正&#10;保留"/>
          <p:cNvSpPr txBox="1"/>
          <p:nvPr/>
        </p:nvSpPr>
        <p:spPr>
          <a:xfrm>
            <a:off x="10808208" y="2286000"/>
            <a:ext cx="713232" cy="19568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人が判断</a:t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/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採用</a:t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是正</a:t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保留</a:t>
            </a:r>
          </a:p>
        </p:txBody>
      </p:sp>
      <p:sp>
        <p:nvSpPr>
          <p:cNvPr id="49" name="設計変更理由" title="設計変更理由" descr="設計変更理由"/>
          <p:cNvSpPr/>
          <p:nvPr/>
        </p:nvSpPr>
        <p:spPr>
          <a:xfrm>
            <a:off x="804672" y="5074920"/>
            <a:ext cx="3310128" cy="438912"/>
          </a:xfrm>
          <a:prstGeom prst="roundRect">
            <a:avLst/>
          </a:prstGeom>
          <a:solidFill>
            <a:srgbClr val="E2E4F7"/>
          </a:solidFill>
          <a:ln w="889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50" b="1" lang="ja-JP">
                <a:solidFill>
                  <a:srgbClr val="4E51A8"/>
                </a:solidFill>
                <a:latin typeface="Noto Sans JP"/>
                <a:ea typeface="Noto Sans JP"/>
              </a:rPr>
              <a:t>設計変更理由</a:t>
            </a:r>
          </a:p>
        </p:txBody>
      </p:sp>
      <p:sp>
        <p:nvSpPr>
          <p:cNvPr id="50" name="施主・現場との認識合わせ" title="施主・現場との認識合わせ" descr="施主・現場との認識合わせ"/>
          <p:cNvSpPr/>
          <p:nvPr/>
        </p:nvSpPr>
        <p:spPr>
          <a:xfrm>
            <a:off x="4480559" y="5074920"/>
            <a:ext cx="3310128" cy="438912"/>
          </a:xfrm>
          <a:prstGeom prst="roundRect">
            <a:avLst/>
          </a:prstGeom>
          <a:solidFill>
            <a:srgbClr val="D9EEEB"/>
          </a:solidFill>
          <a:ln w="889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50" b="1" lang="ja-JP">
                <a:solidFill>
                  <a:srgbClr val="0B6E69"/>
                </a:solidFill>
                <a:latin typeface="Noto Sans JP"/>
                <a:ea typeface="Noto Sans JP"/>
              </a:rPr>
              <a:t>施主・現場との認識合わせ</a:t>
            </a:r>
          </a:p>
        </p:txBody>
      </p:sp>
      <p:sp>
        <p:nvSpPr>
          <p:cNvPr id="51" name="次案件へ判断基準を再利用" title="次案件へ判断基準を再利用" descr="次案件へ判断基準を再利用"/>
          <p:cNvSpPr/>
          <p:nvPr/>
        </p:nvSpPr>
        <p:spPr>
          <a:xfrm>
            <a:off x="8156448" y="5074920"/>
            <a:ext cx="3310128" cy="438912"/>
          </a:xfrm>
          <a:prstGeom prst="roundRect">
            <a:avLst/>
          </a:prstGeom>
          <a:solidFill>
            <a:srgbClr val="DCEEE4"/>
          </a:solidFill>
          <a:ln w="889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50" b="1" lang="ja-JP">
                <a:solidFill>
                  <a:srgbClr val="29704A"/>
                </a:solidFill>
                <a:latin typeface="Noto Sans JP"/>
                <a:ea typeface="Noto Sans JP"/>
              </a:rPr>
              <a:t>次案件へ判断基準を再利用</a:t>
            </a:r>
          </a:p>
        </p:txBody>
      </p:sp>
      <p:sp>
        <p:nvSpPr>
          <p:cNvPr id="52" name="Rounded Rectangle 5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4672" y="5696712"/>
            <a:ext cx="10698480" cy="457200"/>
          </a:xfrm>
          <a:prstGeom prst="roundRect">
            <a:avLst/>
          </a:prstGeom>
          <a:solidFill>
            <a:srgbClr val="F5DEDB"/>
          </a:solidFill>
          <a:ln w="1016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: BIM/CADの代替ではない。写真中心の記録は自"/>
          <p:cNvSpPr txBox="1"/>
          <p:nvPr/>
        </p:nvSpPr>
        <p:spPr>
          <a:xfrm>
            <a:off x="960120" y="5769864"/>
            <a:ext cx="103875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lang="ja-JP">
                <a:solidFill>
                  <a:srgbClr val="A13A31"/>
                </a:solidFill>
                <a:latin typeface="Noto Sans JP"/>
                <a:ea typeface="Noto Sans JP"/>
              </a:rPr>
              <a:t>BIM/CADの代替ではない。写真中心の記録は自動的にAs-built認定せず、確認範囲付きのAs-recordedとして扱う。</a:t>
            </a:r>
          </a:p>
        </p:txBody>
      </p:sp>
      <p:cxnSp>
        <p:nvCxnSpPr>
          <p:cNvPr id="54" name="Connector 5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56" name="Text: Core concept §§14.1, 14.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§§14.1, 14.3, 20.2</a:t>
            </a:r>
          </a:p>
        </p:txBody>
      </p:sp>
      <p:sp>
        <p:nvSpPr>
          <p:cNvPr id="57" name="Text: 05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施工・修復 — Hold Pointを未来の担当へ渡す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施工・修復 — Hold Pointを未来の担当へ渡す</a:t>
            </a:r>
          </a:p>
        </p:txBody>
      </p:sp>
      <p:sp>
        <p:nvSpPr>
          <p:cNvPr id="3" name="Text: SCENARIO 03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SCENARIO 03</a:t>
            </a:r>
          </a:p>
        </p:txBody>
      </p:sp>
      <p:sp>
        <p:nvSpPr>
          <p:cNvPr id="4" name="Text: 処置前後だけでなく、材料・可逆性・観測できなかっ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処置前後だけでなく、材料・可逆性・観測できなかった範囲も残す</a:t>
            </a:r>
          </a:p>
        </p:txBody>
      </p:sp>
      <p:cxnSp>
        <p:nvCxnSpPr>
          <p:cNvPr id="5" name="Connecto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005840" y="3246120"/>
            <a:ext cx="9784080" cy="0"/>
          </a:xfrm>
          <a:prstGeom prst="line">
            <a:avLst/>
          </a:prstGeom>
          <a:ln w="50800">
            <a:solidFill>
              <a:srgbClr val="8C45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4672" y="3044952"/>
            <a:ext cx="402336" cy="402336"/>
          </a:xfrm>
          <a:prstGeom prst="ellipse">
            <a:avLst/>
          </a:prstGeom>
          <a:solidFill>
            <a:srgbClr val="4E51A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手順"/>
          <p:cNvSpPr txBox="1"/>
          <p:nvPr/>
        </p:nvSpPr>
        <p:spPr>
          <a:xfrm>
            <a:off x="36576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4E51A8"/>
                </a:solidFill>
                <a:latin typeface="Noto Sans JP"/>
                <a:ea typeface="Noto Sans JP"/>
              </a:rPr>
              <a:t>手順</a:t>
            </a:r>
          </a:p>
        </p:txBody>
      </p:sp>
      <p:sp>
        <p:nvSpPr>
          <p:cNvPr id="8" name="Text: Procedure"/>
          <p:cNvSpPr txBox="1"/>
          <p:nvPr/>
        </p:nvSpPr>
        <p:spPr>
          <a:xfrm>
            <a:off x="31089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Procedure</a:t>
            </a:r>
          </a:p>
        </p:txBody>
      </p:sp>
      <p:sp>
        <p:nvSpPr>
          <p:cNvPr id="9" name="Oval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19272" y="3044952"/>
            <a:ext cx="402336" cy="402336"/>
          </a:xfrm>
          <a:prstGeom prst="ellipse">
            <a:avLst/>
          </a:prstGeom>
          <a:solidFill>
            <a:srgbClr val="8C4A12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処置前"/>
          <p:cNvSpPr txBox="1"/>
          <p:nvPr/>
        </p:nvSpPr>
        <p:spPr>
          <a:xfrm>
            <a:off x="288036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処置前</a:t>
            </a:r>
          </a:p>
        </p:txBody>
      </p:sp>
      <p:sp>
        <p:nvSpPr>
          <p:cNvPr id="11" name="Text: Hold Point"/>
          <p:cNvSpPr txBox="1"/>
          <p:nvPr/>
        </p:nvSpPr>
        <p:spPr>
          <a:xfrm>
            <a:off x="282549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Hold Point</a:t>
            </a:r>
          </a:p>
        </p:txBody>
      </p:sp>
      <p:sp>
        <p:nvSpPr>
          <p:cNvPr id="12" name="Oval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rgbClr val="8C450E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作業"/>
          <p:cNvSpPr txBox="1"/>
          <p:nvPr/>
        </p:nvSpPr>
        <p:spPr>
          <a:xfrm>
            <a:off x="534924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50E"/>
                </a:solidFill>
                <a:latin typeface="Noto Sans JP"/>
                <a:ea typeface="Noto Sans JP"/>
              </a:rPr>
              <a:t>作業</a:t>
            </a:r>
          </a:p>
        </p:txBody>
      </p:sp>
      <p:sp>
        <p:nvSpPr>
          <p:cNvPr id="14" name="Text: Activity"/>
          <p:cNvSpPr txBox="1"/>
          <p:nvPr/>
        </p:nvSpPr>
        <p:spPr>
          <a:xfrm>
            <a:off x="529437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Activity</a:t>
            </a:r>
          </a:p>
        </p:txBody>
      </p:sp>
      <p:sp>
        <p:nvSpPr>
          <p:cNvPr id="15" name="Oval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57031" y="3044952"/>
            <a:ext cx="402336" cy="402336"/>
          </a:xfrm>
          <a:prstGeom prst="ellipse">
            <a:avLst/>
          </a:prstGeom>
          <a:solidFill>
            <a:srgbClr val="0B6E69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処置後"/>
          <p:cNvSpPr txBox="1"/>
          <p:nvPr/>
        </p:nvSpPr>
        <p:spPr>
          <a:xfrm>
            <a:off x="781812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処置後</a:t>
            </a:r>
          </a:p>
        </p:txBody>
      </p:sp>
      <p:sp>
        <p:nvSpPr>
          <p:cNvPr id="17" name="Text: Capture / Review"/>
          <p:cNvSpPr txBox="1"/>
          <p:nvPr/>
        </p:nvSpPr>
        <p:spPr>
          <a:xfrm>
            <a:off x="776325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Capture / Review</a:t>
            </a:r>
          </a:p>
        </p:txBody>
      </p:sp>
      <p:sp>
        <p:nvSpPr>
          <p:cNvPr id="18" name="Oval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588752" y="3044952"/>
            <a:ext cx="402336" cy="402336"/>
          </a:xfrm>
          <a:prstGeom prst="ellipse">
            <a:avLst/>
          </a:prstGeom>
          <a:solidFill>
            <a:srgbClr val="29704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引渡し"/>
          <p:cNvSpPr txBox="1"/>
          <p:nvPr/>
        </p:nvSpPr>
        <p:spPr>
          <a:xfrm>
            <a:off x="1014984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29704A"/>
                </a:solidFill>
                <a:latin typeface="Noto Sans JP"/>
                <a:ea typeface="Noto Sans JP"/>
              </a:rPr>
              <a:t>引渡し</a:t>
            </a:r>
          </a:p>
        </p:txBody>
      </p:sp>
      <p:sp>
        <p:nvSpPr>
          <p:cNvPr id="20" name="Text: Pack"/>
          <p:cNvSpPr txBox="1"/>
          <p:nvPr/>
        </p:nvSpPr>
        <p:spPr>
          <a:xfrm>
            <a:off x="1009497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Pack</a:t>
            </a:r>
          </a:p>
        </p:txBody>
      </p:sp>
      <p:sp>
        <p:nvSpPr>
          <p:cNvPr id="21" name="Card: 予定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1481328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: 予定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1645920"/>
            <a:ext cx="128016" cy="886968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予定"/>
          <p:cNvSpPr txBox="1"/>
          <p:nvPr/>
        </p:nvSpPr>
        <p:spPr>
          <a:xfrm>
            <a:off x="1060704" y="1609344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4E51A8"/>
                </a:solidFill>
                <a:latin typeface="Noto Sans JP"/>
                <a:ea typeface="Noto Sans JP"/>
              </a:rPr>
              <a:t>予定</a:t>
            </a:r>
          </a:p>
        </p:txBody>
      </p:sp>
      <p:sp>
        <p:nvSpPr>
          <p:cNvPr id="24" name="Text: 工程・完了条件&#10;観測要件"/>
          <p:cNvSpPr txBox="1"/>
          <p:nvPr/>
        </p:nvSpPr>
        <p:spPr>
          <a:xfrm>
            <a:off x="1060704" y="2011680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工程・完了条件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観測要件</a:t>
            </a:r>
          </a:p>
        </p:txBody>
      </p:sp>
      <p:sp>
        <p:nvSpPr>
          <p:cNvPr id="25" name="Card: 処置前 Captu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07792" y="1481328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cent: 処置前 Captu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72384" y="1645920"/>
            <a:ext cx="128016" cy="886968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処置前 Capture"/>
          <p:cNvSpPr txBox="1"/>
          <p:nvPr/>
        </p:nvSpPr>
        <p:spPr>
          <a:xfrm>
            <a:off x="3346704" y="1609344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0B6E69"/>
                </a:solidFill>
                <a:latin typeface="Noto Sans JP"/>
                <a:ea typeface="Noto Sans JP"/>
              </a:rPr>
              <a:t>処置前 Capture</a:t>
            </a:r>
          </a:p>
        </p:txBody>
      </p:sp>
      <p:sp>
        <p:nvSpPr>
          <p:cNvPr id="28" name="Text: 対象・位置・状態&#10;任意の音声"/>
          <p:cNvSpPr txBox="1"/>
          <p:nvPr/>
        </p:nvSpPr>
        <p:spPr>
          <a:xfrm>
            <a:off x="3346704" y="2011680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対象・位置・状態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任意の音声</a:t>
            </a:r>
          </a:p>
        </p:txBody>
      </p:sp>
      <p:sp>
        <p:nvSpPr>
          <p:cNvPr id="29" name="Card: 材料・処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48656" y="4297680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: 材料・処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13248" y="4462272"/>
            <a:ext cx="128016" cy="886968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材料・処置"/>
          <p:cNvSpPr txBox="1"/>
          <p:nvPr/>
        </p:nvSpPr>
        <p:spPr>
          <a:xfrm>
            <a:off x="5687568" y="4425696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8C450E"/>
                </a:solidFill>
                <a:latin typeface="Noto Sans JP"/>
                <a:ea typeface="Noto Sans JP"/>
              </a:rPr>
              <a:t>材料・処置</a:t>
            </a:r>
          </a:p>
        </p:txBody>
      </p:sp>
      <p:sp>
        <p:nvSpPr>
          <p:cNvPr id="32" name="Text: 入力・出力&#10;可逆性・計画との差"/>
          <p:cNvSpPr txBox="1"/>
          <p:nvPr/>
        </p:nvSpPr>
        <p:spPr>
          <a:xfrm>
            <a:off x="5687568" y="4828032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入力・出力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可逆性・計画との差</a:t>
            </a:r>
          </a:p>
        </p:txBody>
      </p:sp>
      <p:sp>
        <p:nvSpPr>
          <p:cNvPr id="33" name="Card: Cover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89520" y="1481328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cent: Cover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54112" y="1645920"/>
            <a:ext cx="128016" cy="886968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Coverage"/>
          <p:cNvSpPr txBox="1"/>
          <p:nvPr/>
        </p:nvSpPr>
        <p:spPr>
          <a:xfrm>
            <a:off x="8028432" y="1609344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0B6E69"/>
                </a:solidFill>
                <a:latin typeface="Noto Sans JP"/>
                <a:ea typeface="Noto Sans JP"/>
              </a:rPr>
              <a:t>Coverage</a:t>
            </a:r>
          </a:p>
        </p:txBody>
      </p:sp>
      <p:sp>
        <p:nvSpPr>
          <p:cNvPr id="36" name="Text: 見えた範囲&#10;遮蔽・品質警告"/>
          <p:cNvSpPr txBox="1"/>
          <p:nvPr/>
        </p:nvSpPr>
        <p:spPr>
          <a:xfrm>
            <a:off x="8028432" y="2011680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見えた範囲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遮蔽・品質警告</a:t>
            </a:r>
          </a:p>
        </p:txBody>
      </p:sp>
      <p:sp>
        <p:nvSpPr>
          <p:cNvPr id="37" name="Card: 成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54312" y="4297680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ccent: 成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18904" y="4462272"/>
            <a:ext cx="128016" cy="886968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成果"/>
          <p:cNvSpPr txBox="1"/>
          <p:nvPr/>
        </p:nvSpPr>
        <p:spPr>
          <a:xfrm>
            <a:off x="9793224" y="4425696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29704A"/>
                </a:solidFill>
                <a:latin typeface="Noto Sans JP"/>
                <a:ea typeface="Noto Sans JP"/>
              </a:rPr>
              <a:t>成果</a:t>
            </a:r>
          </a:p>
        </p:txBody>
      </p:sp>
      <p:sp>
        <p:nvSpPr>
          <p:cNvPr id="40" name="Text: 進捗・処置報告&#10;As-recorded引渡し"/>
          <p:cNvSpPr txBox="1"/>
          <p:nvPr/>
        </p:nvSpPr>
        <p:spPr>
          <a:xfrm>
            <a:off x="9793224" y="4828032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進捗・処置報告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As-recorded引渡し</a:t>
            </a:r>
          </a:p>
        </p:txBody>
      </p:sp>
      <p:sp>
        <p:nvSpPr>
          <p:cNvPr id="41" name="Rounded Rectangle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3232" y="4370832"/>
            <a:ext cx="3913632" cy="1078992"/>
          </a:xfrm>
          <a:prstGeom prst="roundRect">
            <a:avLst/>
          </a:prstGeom>
          <a:solidFill>
            <a:srgbClr val="F5DEDB"/>
          </a:solidFill>
          <a:ln w="1270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: EvidenceGap — 撮れなかったことも記"/>
          <p:cNvSpPr txBox="1"/>
          <p:nvPr/>
        </p:nvSpPr>
        <p:spPr>
          <a:xfrm>
            <a:off x="932688" y="4517136"/>
            <a:ext cx="3474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lang="ja-JP">
                <a:solidFill>
                  <a:srgbClr val="A13A31"/>
                </a:solidFill>
                <a:latin typeface="Noto Sans JP"/>
                <a:ea typeface="Noto Sans JP"/>
              </a:rPr>
              <a:t>EvidenceGap — 撮れなかったことも記録</a:t>
            </a:r>
          </a:p>
        </p:txBody>
      </p:sp>
      <p:sp>
        <p:nvSpPr>
          <p:cNvPr id="43" name="Text: 欠測・遮蔽・緊急対応を&#10;「変化なし」へ置き換えな"/>
          <p:cNvSpPr txBox="1"/>
          <p:nvPr/>
        </p:nvSpPr>
        <p:spPr>
          <a:xfrm>
            <a:off x="932688" y="4882896"/>
            <a:ext cx="3474720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lang="ja-JP">
                <a:solidFill>
                  <a:srgbClr val="13202B"/>
                </a:solidFill>
                <a:latin typeface="Noto Sans JP"/>
                <a:ea typeface="Noto Sans JP"/>
              </a:rPr>
              <a:t>欠測・遮蔽・緊急対応を</a:t>
            </a:r>
            <a:br/>
            <a:r>
              <a:rPr sz="1300" b="0" lang="ja-JP">
                <a:solidFill>
                  <a:srgbClr val="13202B"/>
                </a:solidFill>
                <a:latin typeface="Noto Sans JP"/>
                <a:ea typeface="Noto Sans JP"/>
              </a:rPr>
              <a:t>「変化なし」へ置き換えない</a:t>
            </a:r>
          </a:p>
        </p:txBody>
      </p:sp>
      <p:sp>
        <p:nvSpPr>
          <p:cNvPr id="44" name="Text: 契約適合や施工品質を自動証明しない。後任が判断で"/>
          <p:cNvSpPr txBox="1"/>
          <p:nvPr/>
        </p:nvSpPr>
        <p:spPr>
          <a:xfrm>
            <a:off x="960120" y="5797296"/>
            <a:ext cx="10287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lang="ja-JP">
                <a:solidFill>
                  <a:srgbClr val="5E6873"/>
                </a:solidFill>
                <a:latin typeface="Noto Sans JP"/>
                <a:ea typeface="Noto Sans JP"/>
              </a:rPr>
              <a:t>契約適合や施工品質を自動証明しない。後任が判断できるEvidenceと、誰が何を確認したかを渡す。</a:t>
            </a:r>
          </a:p>
        </p:txBody>
      </p:sp>
      <p:cxnSp>
        <p:nvCxnSpPr>
          <p:cNvPr id="45" name="Connector 4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47" name="Text: Core concept §§6, 14.1, 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§§6, 14.1, 14.4, 20.2</a:t>
            </a:r>
          </a:p>
        </p:txBody>
      </p:sp>
      <p:sp>
        <p:nvSpPr>
          <p:cNvPr id="48" name="Text: 06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デザイナー＋AI — AIは枝を作る、人が採用版を決め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FFFFFF"/>
                </a:solidFill>
                <a:latin typeface="Noto Sans JP"/>
                <a:ea typeface="Noto Sans JP"/>
              </a:rPr>
              <a:t>デザイナー＋AI — AIは枝を作る、人が採用版を決める</a:t>
            </a:r>
          </a:p>
        </p:txBody>
      </p:sp>
      <p:sp>
        <p:nvSpPr>
          <p:cNvPr id="3" name="Text: SCENARIO 04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3A8EA8"/>
                </a:solidFill>
                <a:latin typeface="Noto Sans JP"/>
                <a:ea typeface="Noto Sans JP"/>
              </a:rPr>
              <a:t>SCENARIO 04</a:t>
            </a:r>
          </a:p>
        </p:txBody>
      </p:sp>
      <p:sp>
        <p:nvSpPr>
          <p:cNvPr id="4" name="Text: 文脈と制約は渡す。採用・公開・引き渡しの権限は渡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BDC6D3"/>
                </a:solidFill>
                <a:latin typeface="Noto Sans JP"/>
                <a:ea typeface="Noto Sans JP"/>
              </a:rPr>
              <a:t>文脈と制約は渡す。採用・公開・引き渡しの権限は渡さない。</a:t>
            </a:r>
          </a:p>
        </p:txBody>
      </p:sp>
      <p:sp>
        <p:nvSpPr>
          <p:cNvPr id="5" name="Card: Context P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664208"/>
            <a:ext cx="2331720" cy="1993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cent: Context P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1828800"/>
            <a:ext cx="128016" cy="1664208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Context Pack"/>
          <p:cNvSpPr txBox="1"/>
          <p:nvPr/>
        </p:nvSpPr>
        <p:spPr>
          <a:xfrm>
            <a:off x="1097280" y="1792224"/>
            <a:ext cx="1709927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74428A"/>
                </a:solidFill>
                <a:latin typeface="Noto Sans JP"/>
                <a:ea typeface="Noto Sans JP"/>
              </a:rPr>
              <a:t>Context Pack</a:t>
            </a:r>
          </a:p>
        </p:txBody>
      </p:sp>
      <p:sp>
        <p:nvSpPr>
          <p:cNvPr id="8" name="Text: Brief／Evidence&#10;Policy／委任"/>
          <p:cNvSpPr txBox="1"/>
          <p:nvPr/>
        </p:nvSpPr>
        <p:spPr>
          <a:xfrm>
            <a:off x="1097280" y="2194560"/>
            <a:ext cx="1709927" cy="1353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Brief／Evidence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Policy／委任範囲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base commit</a:t>
            </a:r>
          </a:p>
        </p:txBody>
      </p:sp>
      <p:sp>
        <p:nvSpPr>
          <p:cNvPr id="9" name="Chevron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45536" y="2386584"/>
            <a:ext cx="384048" cy="475488"/>
          </a:xfrm>
          <a:prstGeom prst="chevron">
            <a:avLst/>
          </a:prstGeom>
          <a:solidFill>
            <a:srgbClr val="718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703320" y="1783080"/>
            <a:ext cx="1965960" cy="859536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3703320" y="2642616"/>
            <a:ext cx="1965960" cy="0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3703320" y="2642616"/>
            <a:ext cx="1965960" cy="859536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I Proposal 1" title="AI Proposal 1" descr="AI Proposal 1"/>
          <p:cNvSpPr/>
          <p:nvPr/>
        </p:nvSpPr>
        <p:spPr>
          <a:xfrm>
            <a:off x="5303520" y="1444752"/>
            <a:ext cx="1874519" cy="548640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74428A"/>
                </a:solidFill>
                <a:latin typeface="Noto Sans JP"/>
                <a:ea typeface="Noto Sans JP"/>
              </a:rPr>
              <a:t>AI Proposal 1</a:t>
            </a:r>
          </a:p>
        </p:txBody>
      </p:sp>
      <p:sp>
        <p:nvSpPr>
          <p:cNvPr id="14" name="AI Proposal 2" title="AI Proposal 2" descr="AI Proposal 2"/>
          <p:cNvSpPr/>
          <p:nvPr/>
        </p:nvSpPr>
        <p:spPr>
          <a:xfrm>
            <a:off x="5303520" y="2304288"/>
            <a:ext cx="1874519" cy="548640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74428A"/>
                </a:solidFill>
                <a:latin typeface="Noto Sans JP"/>
                <a:ea typeface="Noto Sans JP"/>
              </a:rPr>
              <a:t>AI Proposal 2</a:t>
            </a:r>
          </a:p>
        </p:txBody>
      </p:sp>
      <p:sp>
        <p:nvSpPr>
          <p:cNvPr id="15" name="AI Proposal 3" title="AI Proposal 3" descr="AI Proposal 3"/>
          <p:cNvSpPr/>
          <p:nvPr/>
        </p:nvSpPr>
        <p:spPr>
          <a:xfrm>
            <a:off x="5303520" y="3163824"/>
            <a:ext cx="1874519" cy="548640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74428A"/>
                </a:solidFill>
                <a:latin typeface="Noto Sans JP"/>
                <a:ea typeface="Noto Sans JP"/>
              </a:rPr>
              <a:t>AI Proposal 3</a:t>
            </a:r>
          </a:p>
        </p:txBody>
      </p:sp>
      <p:sp>
        <p:nvSpPr>
          <p:cNvPr id="16" name="Text: proposal/{agent}/{run} の"/>
          <p:cNvSpPr txBox="1"/>
          <p:nvPr/>
        </p:nvSpPr>
        <p:spPr>
          <a:xfrm>
            <a:off x="3840480" y="3931920"/>
            <a:ext cx="3154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lang="ja-JP">
                <a:solidFill>
                  <a:srgbClr val="E1D6EE"/>
                </a:solidFill>
                <a:latin typeface="Noto Sans JP"/>
                <a:ea typeface="Noto Sans JP"/>
              </a:rPr>
              <a:t>proposal/{agent}/{run} のみ</a:t>
            </a:r>
          </a:p>
        </p:txBody>
      </p:sp>
      <p:sp>
        <p:nvSpPr>
          <p:cNvPr id="17" name="Human Gate" title="Human Gate" descr="人がAI提案を採用・修正・却下する"/>
          <p:cNvSpPr/>
          <p:nvPr/>
        </p:nvSpPr>
        <p:spPr>
          <a:xfrm>
            <a:off x="7552944" y="1883664"/>
            <a:ext cx="1554480" cy="1554480"/>
          </a:xfrm>
          <a:prstGeom prst="hexagon">
            <a:avLst/>
          </a:prstGeom>
          <a:solidFill>
            <a:srgbClr val="F3E3C7"/>
          </a:solidFill>
          <a:ln w="3810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HUMAN&#10;GATE"/>
          <p:cNvSpPr txBox="1"/>
          <p:nvPr/>
        </p:nvSpPr>
        <p:spPr>
          <a:xfrm>
            <a:off x="7772400" y="2258568"/>
            <a:ext cx="1115568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HUMAN</a:t>
            </a:r>
            <a:br/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GATE</a:t>
            </a:r>
          </a:p>
        </p:txBody>
      </p:sp>
      <p:sp>
        <p:nvSpPr>
          <p:cNvPr id="19" name="Chevron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05472" y="2395728"/>
            <a:ext cx="310896" cy="438912"/>
          </a:xfrm>
          <a:prstGeom prst="chevron">
            <a:avLst/>
          </a:prstGeom>
          <a:solidFill>
            <a:srgbClr val="718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vron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17152" y="2395728"/>
            <a:ext cx="310896" cy="438912"/>
          </a:xfrm>
          <a:prstGeom prst="chevron">
            <a:avLst/>
          </a:prstGeom>
          <a:solidFill>
            <a:srgbClr val="718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rd: 公式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37776" y="1810512"/>
            <a:ext cx="1901952" cy="17007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: 公式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02367" y="1975104"/>
            <a:ext cx="128016" cy="1371600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公式判断"/>
          <p:cNvSpPr txBox="1"/>
          <p:nvPr/>
        </p:nvSpPr>
        <p:spPr>
          <a:xfrm>
            <a:off x="10076688" y="1938528"/>
            <a:ext cx="12801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29704A"/>
                </a:solidFill>
                <a:latin typeface="Noto Sans JP"/>
                <a:ea typeface="Noto Sans JP"/>
              </a:rPr>
              <a:t>公式判断</a:t>
            </a:r>
          </a:p>
        </p:txBody>
      </p:sp>
      <p:sp>
        <p:nvSpPr>
          <p:cNvPr id="24" name="Text: 採用／部分採用&#10;修正／却下&#10;Decision F"/>
          <p:cNvSpPr txBox="1"/>
          <p:nvPr/>
        </p:nvSpPr>
        <p:spPr>
          <a:xfrm>
            <a:off x="10076688" y="2340864"/>
            <a:ext cx="1280160" cy="1060703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採用／部分採用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修正／却下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Decision Feedback</a:t>
            </a:r>
          </a:p>
        </p:txBody>
      </p:sp>
      <p:sp>
        <p:nvSpPr>
          <p:cNvPr id="25" name="Rounded 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498848"/>
            <a:ext cx="10881360" cy="1225296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718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Iは decision/*・release/* を進めない" title="AIは decision/*・release/* を進めない" descr="AIは decision/*・release/* を進めない"/>
          <p:cNvSpPr/>
          <p:nvPr/>
        </p:nvSpPr>
        <p:spPr>
          <a:xfrm>
            <a:off x="896112" y="4800600"/>
            <a:ext cx="3182112" cy="512064"/>
          </a:xfrm>
          <a:prstGeom prst="roundRect">
            <a:avLst/>
          </a:prstGeom>
          <a:solidFill>
            <a:srgbClr val="2A2340"/>
          </a:solidFill>
          <a:ln w="8890">
            <a:solidFill>
              <a:srgbClr val="E1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E1D6EE"/>
                </a:solidFill>
                <a:latin typeface="Noto Sans JP"/>
                <a:ea typeface="Noto Sans JP"/>
              </a:rPr>
              <a:t>AIは decision/*・release/* を進めない</a:t>
            </a:r>
          </a:p>
        </p:txBody>
      </p:sp>
      <p:sp>
        <p:nvSpPr>
          <p:cNvPr id="27" name="作者性・貢献率を自動判定しない" title="作者性・貢献率を自動判定しない" descr="作者性・貢献率を自動判定しない"/>
          <p:cNvSpPr/>
          <p:nvPr/>
        </p:nvSpPr>
        <p:spPr>
          <a:xfrm>
            <a:off x="4425696" y="4800600"/>
            <a:ext cx="3182112" cy="512064"/>
          </a:xfrm>
          <a:prstGeom prst="roundRect">
            <a:avLst/>
          </a:prstGeom>
          <a:solidFill>
            <a:srgbClr val="2A2340"/>
          </a:solidFill>
          <a:ln w="8890">
            <a:solidFill>
              <a:srgbClr val="E1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E1D6EE"/>
                </a:solidFill>
                <a:latin typeface="Noto Sans JP"/>
                <a:ea typeface="Noto Sans JP"/>
              </a:rPr>
              <a:t>作者性・貢献率を自動判定しない</a:t>
            </a:r>
          </a:p>
        </p:txBody>
      </p:sp>
      <p:sp>
        <p:nvSpPr>
          <p:cNvPr id="28" name="明示opt-inなしに外部学習へ出さない" title="明示opt-inなしに外部学習へ出さない" descr="明示opt-inなしに外部学習へ出さない"/>
          <p:cNvSpPr/>
          <p:nvPr/>
        </p:nvSpPr>
        <p:spPr>
          <a:xfrm>
            <a:off x="7955279" y="4800600"/>
            <a:ext cx="3182112" cy="512064"/>
          </a:xfrm>
          <a:prstGeom prst="roundRect">
            <a:avLst/>
          </a:prstGeom>
          <a:solidFill>
            <a:srgbClr val="2A2340"/>
          </a:solidFill>
          <a:ln w="8890">
            <a:solidFill>
              <a:srgbClr val="E1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E1D6EE"/>
                </a:solidFill>
                <a:latin typeface="Noto Sans JP"/>
                <a:ea typeface="Noto Sans JP"/>
              </a:rPr>
              <a:t>明示opt-inなしに外部学習へ出さない</a:t>
            </a:r>
          </a:p>
        </p:txBody>
      </p:sp>
      <p:sp>
        <p:nvSpPr>
          <p:cNvPr id="29" name="Text: generated_by AI ／ select"/>
          <p:cNvSpPr txBox="1"/>
          <p:nvPr/>
        </p:nvSpPr>
        <p:spPr>
          <a:xfrm>
            <a:off x="841248" y="5897880"/>
            <a:ext cx="104241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lang="ja-JP">
                <a:solidFill>
                  <a:srgbClr val="C3CDDA"/>
                </a:solidFill>
                <a:latin typeface="Noto Sans JP"/>
                <a:ea typeface="Noto Sans JP"/>
              </a:rPr>
              <a:t>generated_by AI ／ selected・modified・approved_by human を分離する。</a:t>
            </a:r>
          </a:p>
        </p:txBody>
      </p:sp>
      <p:cxnSp>
        <p:nvCxnSpPr>
          <p:cNvPr id="30" name="Connector 2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3340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32" name="Text: Core concept §21 · Stage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</a:rPr>
              <a:t>Core concept §21 · Stage 0 Workstream D</a:t>
            </a:r>
          </a:p>
        </p:txBody>
      </p:sp>
      <p:sp>
        <p:nvSpPr>
          <p:cNvPr id="33" name="Text: 07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AAB5C5"/>
                </a:solidFill>
                <a:latin typeface="Noto Sans JP"/>
                <a:ea typeface="Noto Sans JP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制作チーム・後任 — 重要な変更へ2分で到達す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制作チーム・後任 — 重要な変更へ2分で到達する</a:t>
            </a:r>
          </a:p>
        </p:txBody>
      </p:sp>
      <p:sp>
        <p:nvSpPr>
          <p:cNvPr id="3" name="Text: HANDOFF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HANDOFF</a:t>
            </a:r>
          </a:p>
        </p:txBody>
      </p:sp>
      <p:sp>
        <p:nvSpPr>
          <p:cNvPr id="4" name="Text: 完成物、チャット、フォルダを巡回せず、判断から根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完成物、チャット、フォルダを巡回せず、判断から根拠へ遡る（Pilot目標）</a:t>
            </a:r>
          </a:p>
        </p:txBody>
      </p:sp>
      <p:sp>
        <p:nvSpPr>
          <p:cNvPr id="5" name="PILOT目標 · 2分" title="PILOT目標 · 2分" descr="PILOT目標 · 2分"/>
          <p:cNvSpPr/>
          <p:nvPr/>
        </p:nvSpPr>
        <p:spPr>
          <a:xfrm>
            <a:off x="9811512" y="493776"/>
            <a:ext cx="1755648" cy="420624"/>
          </a:xfrm>
          <a:prstGeom prst="roundRect">
            <a:avLst/>
          </a:prstGeom>
          <a:solidFill>
            <a:srgbClr val="F3E3C7"/>
          </a:solidFill>
          <a:ln w="889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8C4A12"/>
                </a:solidFill>
                <a:latin typeface="Noto Sans JP"/>
                <a:ea typeface="Noto Sans JP"/>
              </a:rPr>
              <a:t>PILOT目標 · 2分</a:t>
            </a:r>
          </a:p>
        </p:txBody>
      </p:sp>
      <p:cxnSp>
        <p:nvCxnSpPr>
          <p:cNvPr id="6" name="Connecto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2048255" y="2075688"/>
            <a:ext cx="4041649" cy="1197864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2048255" y="3273552"/>
            <a:ext cx="4041649" cy="1417320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5669280" y="3273552"/>
            <a:ext cx="420624" cy="2240280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6089904" y="2075688"/>
            <a:ext cx="3968496" cy="1197864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089904" y="3273552"/>
            <a:ext cx="3968496" cy="1417320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判断の節目" title="判断の節目" descr="5つの問いから根拠と制約へ遡る中心点"/>
          <p:cNvSpPr/>
          <p:nvPr/>
        </p:nvSpPr>
        <p:spPr>
          <a:xfrm>
            <a:off x="4956048" y="2240280"/>
            <a:ext cx="2267712" cy="2066543"/>
          </a:xfrm>
          <a:prstGeom prst="ellipse">
            <a:avLst/>
          </a:prstGeom>
          <a:solidFill>
            <a:srgbClr val="F3E3C7"/>
          </a:solidFill>
          <a:ln w="3556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判断の節目&#10;Decision Commit"/>
          <p:cNvSpPr txBox="1"/>
          <p:nvPr/>
        </p:nvSpPr>
        <p:spPr>
          <a:xfrm>
            <a:off x="5285232" y="2688336"/>
            <a:ext cx="1609344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lang="ja-JP">
                <a:solidFill>
                  <a:srgbClr val="8C4A12"/>
                </a:solidFill>
                <a:latin typeface="Noto Sans JP"/>
                <a:ea typeface="Noto Sans JP"/>
              </a:rPr>
              <a:t>判断の節目</a:t>
            </a:r>
            <a:br/>
            <a:r>
              <a:rPr sz="1700" b="1" lang="ja-JP">
                <a:solidFill>
                  <a:srgbClr val="8C4A12"/>
                </a:solidFill>
                <a:latin typeface="Noto Sans JP"/>
                <a:ea typeface="Noto Sans JP"/>
              </a:rPr>
              <a:t>Decision Commit</a:t>
            </a:r>
          </a:p>
        </p:txBody>
      </p:sp>
      <p:sp>
        <p:nvSpPr>
          <p:cNvPr id="13" name="Card: 何が変わ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9808" y="1572768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cent: 何が変わ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737360"/>
            <a:ext cx="128016" cy="67665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何が変わった？"/>
          <p:cNvSpPr txBox="1"/>
          <p:nvPr/>
        </p:nvSpPr>
        <p:spPr>
          <a:xfrm>
            <a:off x="1188719" y="1700784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何が変わった？</a:t>
            </a:r>
          </a:p>
        </p:txBody>
      </p:sp>
      <p:sp>
        <p:nvSpPr>
          <p:cNvPr id="16" name="Text: 方向付きDiff"/>
          <p:cNvSpPr txBox="1"/>
          <p:nvPr/>
        </p:nvSpPr>
        <p:spPr>
          <a:xfrm>
            <a:off x="1188719" y="2103120"/>
            <a:ext cx="1975103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方向付きDiff</a:t>
            </a:r>
          </a:p>
        </p:txBody>
      </p:sp>
      <p:sp>
        <p:nvSpPr>
          <p:cNvPr id="17" name="Card: なぜ変え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9808" y="4187952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cent: なぜ変え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52544"/>
            <a:ext cx="128016" cy="676656"/>
          </a:xfrm>
          <a:prstGeom prst="roundRect">
            <a:avLst/>
          </a:prstGeom>
          <a:solidFill>
            <a:srgbClr val="8C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なぜ変えた？"/>
          <p:cNvSpPr txBox="1"/>
          <p:nvPr/>
        </p:nvSpPr>
        <p:spPr>
          <a:xfrm>
            <a:off x="1188719" y="4315968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A12"/>
                </a:solidFill>
                <a:latin typeface="Noto Sans JP"/>
                <a:ea typeface="Noto Sans JP"/>
              </a:rPr>
              <a:t>なぜ変えた？</a:t>
            </a:r>
          </a:p>
        </p:txBody>
      </p:sp>
      <p:sp>
        <p:nvSpPr>
          <p:cNvPr id="20" name="Text: 採用理由・Claim"/>
          <p:cNvSpPr txBox="1"/>
          <p:nvPr/>
        </p:nvSpPr>
        <p:spPr>
          <a:xfrm>
            <a:off x="1188719" y="4718304"/>
            <a:ext cx="1975103" cy="36575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採用理由・Claim</a:t>
            </a:r>
          </a:p>
        </p:txBody>
      </p:sp>
      <p:sp>
        <p:nvSpPr>
          <p:cNvPr id="21" name="Card: 何を採らなか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70832" y="5010912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: 何を採らなか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35424" y="5175504"/>
            <a:ext cx="128016" cy="676656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何を採らなかった？"/>
          <p:cNvSpPr txBox="1"/>
          <p:nvPr/>
        </p:nvSpPr>
        <p:spPr>
          <a:xfrm>
            <a:off x="4809744" y="5138928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74428A"/>
                </a:solidFill>
                <a:latin typeface="Noto Sans JP"/>
                <a:ea typeface="Noto Sans JP"/>
              </a:rPr>
              <a:t>何を採らなかった？</a:t>
            </a:r>
          </a:p>
        </p:txBody>
      </p:sp>
      <p:sp>
        <p:nvSpPr>
          <p:cNvPr id="24" name="Text: Proposal／却下理由"/>
          <p:cNvSpPr txBox="1"/>
          <p:nvPr/>
        </p:nvSpPr>
        <p:spPr>
          <a:xfrm>
            <a:off x="4809744" y="5541264"/>
            <a:ext cx="1975103" cy="36575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Proposal／却下理由</a:t>
            </a:r>
          </a:p>
        </p:txBody>
      </p:sp>
      <p:sp>
        <p:nvSpPr>
          <p:cNvPr id="25" name="Card: 根拠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59952" y="1572768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cent: 根拠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24544" y="1737360"/>
            <a:ext cx="128016" cy="67665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根拠は？"/>
          <p:cNvSpPr txBox="1"/>
          <p:nvPr/>
        </p:nvSpPr>
        <p:spPr>
          <a:xfrm>
            <a:off x="9198864" y="1700784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根拠は？</a:t>
            </a:r>
          </a:p>
        </p:txBody>
      </p:sp>
      <p:sp>
        <p:nvSpPr>
          <p:cNvPr id="28" name="Text: Evidence／Observation"/>
          <p:cNvSpPr txBox="1"/>
          <p:nvPr/>
        </p:nvSpPr>
        <p:spPr>
          <a:xfrm>
            <a:off x="9198864" y="2103120"/>
            <a:ext cx="1975103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Evidence／Observation</a:t>
            </a:r>
          </a:p>
        </p:txBody>
      </p:sp>
      <p:sp>
        <p:nvSpPr>
          <p:cNvPr id="29" name="Card: 次に守ること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59952" y="4187952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: 次に守ること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24544" y="4352544"/>
            <a:ext cx="128016" cy="676656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次に守ることは？"/>
          <p:cNvSpPr txBox="1"/>
          <p:nvPr/>
        </p:nvSpPr>
        <p:spPr>
          <a:xfrm>
            <a:off x="9198864" y="4315968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4E51A8"/>
                </a:solidFill>
                <a:latin typeface="Noto Sans JP"/>
                <a:ea typeface="Noto Sans JP"/>
              </a:rPr>
              <a:t>次に守ることは？</a:t>
            </a:r>
          </a:p>
        </p:txBody>
      </p:sp>
      <p:sp>
        <p:nvSpPr>
          <p:cNvPr id="32" name="Text: 制約・未解決事項"/>
          <p:cNvSpPr txBox="1"/>
          <p:nvPr/>
        </p:nvSpPr>
        <p:spPr>
          <a:xfrm>
            <a:off x="9198864" y="4718304"/>
            <a:ext cx="1975103" cy="36575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制約・未解決事項</a:t>
            </a:r>
          </a:p>
        </p:txBody>
      </p:sp>
      <p:sp>
        <p:nvSpPr>
          <p:cNvPr id="33" name="Rounded Rectangle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16352" y="1463040"/>
            <a:ext cx="2286000" cy="548640"/>
          </a:xfrm>
          <a:prstGeom prst="roundRect">
            <a:avLst/>
          </a:prstGeom>
          <a:solidFill>
            <a:srgbClr val="DCEEE4"/>
          </a:solidFill>
          <a:ln w="1016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報告・引き継ぎpack"/>
          <p:cNvSpPr txBox="1"/>
          <p:nvPr/>
        </p:nvSpPr>
        <p:spPr>
          <a:xfrm>
            <a:off x="2999232" y="1545336"/>
            <a:ext cx="19202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29704A"/>
                </a:solidFill>
                <a:latin typeface="Noto Sans JP"/>
                <a:ea typeface="Noto Sans JP"/>
              </a:rPr>
              <a:t>報告・引き継ぎpack</a:t>
            </a:r>
          </a:p>
        </p:txBody>
      </p:sp>
      <p:sp>
        <p:nvSpPr>
          <p:cNvPr id="35" name="Rounded Rectangle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14032" y="5056632"/>
            <a:ext cx="1481328" cy="530352"/>
          </a:xfrm>
          <a:prstGeom prst="roundRect">
            <a:avLst/>
          </a:prstGeom>
          <a:solidFill>
            <a:srgbClr val="E2E4F7"/>
          </a:solidFill>
          <a:ln w="1016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: open archive"/>
          <p:cNvSpPr txBox="1"/>
          <p:nvPr/>
        </p:nvSpPr>
        <p:spPr>
          <a:xfrm>
            <a:off x="7242048" y="5129784"/>
            <a:ext cx="1225296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lang="ja-JP">
                <a:solidFill>
                  <a:srgbClr val="4E51A8"/>
                </a:solidFill>
                <a:latin typeface="Noto Sans JP"/>
                <a:ea typeface="Noto Sans JP"/>
              </a:rPr>
              <a:t>open archive</a:t>
            </a:r>
          </a:p>
        </p:txBody>
      </p:sp>
      <p:sp>
        <p:nvSpPr>
          <p:cNvPr id="37" name="Text: hashで照合できるのは記録の同一性。内容の真実"/>
          <p:cNvSpPr txBox="1"/>
          <p:nvPr/>
        </p:nvSpPr>
        <p:spPr>
          <a:xfrm>
            <a:off x="1170432" y="6035040"/>
            <a:ext cx="985723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hashで照合できるのは記録の同一性。内容の真実性、作者性、永久保存を保証するものではない。</a:t>
            </a:r>
          </a:p>
        </p:txBody>
      </p:sp>
      <p:cxnSp>
        <p:nvCxnSpPr>
          <p:cNvPr id="38" name="Connector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40" name="Text: Core concept §§20.2, 20.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§§20.2, 20.6 · Pilot target</a:t>
            </a:r>
          </a:p>
        </p:txBody>
      </p:sp>
      <p:sp>
        <p:nvSpPr>
          <p:cNvPr id="41" name="Text: 08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まずは「1対象 × 1節目 × 1比較」から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まずは「1対象 × 1節目 × 1比較」から</a:t>
            </a:r>
          </a:p>
        </p:txBody>
      </p:sp>
      <p:sp>
        <p:nvSpPr>
          <p:cNvPr id="3" name="Text: START SMALL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START SMALL</a:t>
            </a:r>
          </a:p>
        </p:txBody>
      </p:sp>
      <p:sp>
        <p:nvSpPr>
          <p:cNvPr id="4" name="Text: 絵画・壁画をprimary pilot、小規模内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絵画・壁画をprimary pilot、小規模内装・壁面を次の検証対象にする</a:t>
            </a:r>
          </a:p>
        </p:txBody>
      </p:sp>
      <p:sp>
        <p:nvSpPr>
          <p:cNvPr id="5" name="Pilot formu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8992" y="1417320"/>
            <a:ext cx="10021824" cy="841248"/>
          </a:xfrm>
          <a:prstGeom prst="round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600200"/>
            <a:ext cx="9345168" cy="45720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1対象</a:t>
            </a:r>
            <a:r>
              <a:rPr sz="2000" b="0" lang="ja-JP">
                <a:solidFill>
                  <a:srgbClr val="8FBBC8"/>
                </a:solidFill>
                <a:latin typeface="Noto Sans JP"/>
                <a:ea typeface="Noto Sans JP"/>
              </a:rPr>
              <a:t>　×　</a:t>
            </a:r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1節目</a:t>
            </a:r>
            <a:r>
              <a:rPr sz="2000" b="0" lang="ja-JP">
                <a:solidFill>
                  <a:srgbClr val="8FBBC8"/>
                </a:solidFill>
                <a:latin typeface="Noto Sans JP"/>
                <a:ea typeface="Noto Sans JP"/>
              </a:rPr>
              <a:t>　×　</a:t>
            </a:r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1比較</a:t>
            </a:r>
            <a:r>
              <a:rPr sz="2000" b="0" lang="ja-JP">
                <a:solidFill>
                  <a:srgbClr val="8FBBC8"/>
                </a:solidFill>
                <a:latin typeface="Noto Sans JP"/>
                <a:ea typeface="Noto Sans JP"/>
              </a:rPr>
              <a:t>　→　</a:t>
            </a:r>
            <a:r>
              <a:rPr sz="2000" b="1" lang="ja-JP">
                <a:solidFill>
                  <a:srgbClr val="BFE2D0"/>
                </a:solidFill>
                <a:latin typeface="Noto Sans JP"/>
                <a:ea typeface="Noto Sans JP"/>
              </a:rPr>
              <a:t>次の判断へ戻れる状態</a:t>
            </a:r>
          </a:p>
        </p:txBody>
      </p:sp>
      <p:sp>
        <p:nvSpPr>
          <p:cNvPr id="7" name="Card: 01  対象を選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560320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cent: 01  対象を選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2724912"/>
            <a:ext cx="128016" cy="694944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01  対象を選ぶ"/>
          <p:cNvSpPr txBox="1"/>
          <p:nvPr/>
        </p:nvSpPr>
        <p:spPr>
          <a:xfrm>
            <a:off x="1097280" y="268833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4E51A8"/>
                </a:solidFill>
                <a:latin typeface="Noto Sans JP"/>
                <a:ea typeface="Noto Sans JP"/>
              </a:rPr>
              <a:t>01  対象を選ぶ</a:t>
            </a:r>
          </a:p>
        </p:txBody>
      </p:sp>
      <p:sp>
        <p:nvSpPr>
          <p:cNvPr id="10" name="Text: キャンバス／壁面／一区画"/>
          <p:cNvSpPr txBox="1"/>
          <p:nvPr/>
        </p:nvSpPr>
        <p:spPr>
          <a:xfrm>
            <a:off x="1097280" y="3090672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キャンバス／壁面／一区画</a:t>
            </a:r>
          </a:p>
        </p:txBody>
      </p:sp>
      <p:sp>
        <p:nvSpPr>
          <p:cNvPr id="11" name="Card: 02  条件を決め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2560320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ccent: 02  条件を決め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2724912"/>
            <a:ext cx="128016" cy="694944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02  条件を決める"/>
          <p:cNvSpPr txBox="1"/>
          <p:nvPr/>
        </p:nvSpPr>
        <p:spPr>
          <a:xfrm>
            <a:off x="4846319" y="268833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02  条件を決める</a:t>
            </a:r>
          </a:p>
        </p:txBody>
      </p:sp>
      <p:sp>
        <p:nvSpPr>
          <p:cNvPr id="14" name="Text: Imported／Repeatable／Cali"/>
          <p:cNvSpPr txBox="1"/>
          <p:nvPr/>
        </p:nvSpPr>
        <p:spPr>
          <a:xfrm>
            <a:off x="4846319" y="3090672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Imported／Repeatable／Calibrated</a:t>
            </a:r>
          </a:p>
        </p:txBody>
      </p:sp>
      <p:sp>
        <p:nvSpPr>
          <p:cNvPr id="15" name="Card: 03  節目で撮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2560320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cent: 03  節目で撮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2724912"/>
            <a:ext cx="128016" cy="694944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03  節目で撮る"/>
          <p:cNvSpPr txBox="1"/>
          <p:nvPr/>
        </p:nvSpPr>
        <p:spPr>
          <a:xfrm>
            <a:off x="8595360" y="268833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50E"/>
                </a:solidFill>
                <a:latin typeface="Noto Sans JP"/>
                <a:ea typeface="Noto Sans JP"/>
              </a:rPr>
              <a:t>03  節目で撮る</a:t>
            </a:r>
          </a:p>
        </p:txBody>
      </p:sp>
      <p:sp>
        <p:nvSpPr>
          <p:cNvPr id="18" name="Text: 作業終了／承認／Hold Point"/>
          <p:cNvSpPr txBox="1"/>
          <p:nvPr/>
        </p:nvSpPr>
        <p:spPr>
          <a:xfrm>
            <a:off x="8595360" y="3090672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作業終了／承認／Hold Point</a:t>
            </a:r>
          </a:p>
        </p:txBody>
      </p:sp>
      <p:sp>
        <p:nvSpPr>
          <p:cNvPr id="19" name="Card: 04  三者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840479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ccent: 04  三者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4005071"/>
            <a:ext cx="128016" cy="694944"/>
          </a:xfrm>
          <a:prstGeom prst="roundRect">
            <a:avLst/>
          </a:prstGeom>
          <a:solidFill>
            <a:srgbClr val="5E6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04  三者比較"/>
          <p:cNvSpPr txBox="1"/>
          <p:nvPr/>
        </p:nvSpPr>
        <p:spPr>
          <a:xfrm>
            <a:off x="1097280" y="3968495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5E6873"/>
                </a:solidFill>
                <a:latin typeface="Noto Sans JP"/>
                <a:ea typeface="Noto Sans JP"/>
              </a:rPr>
              <a:t>04  三者比較</a:t>
            </a:r>
          </a:p>
        </p:txBody>
      </p:sp>
      <p:sp>
        <p:nvSpPr>
          <p:cNvPr id="22" name="Text: Plan／Previous／Current"/>
          <p:cNvSpPr txBox="1"/>
          <p:nvPr/>
        </p:nvSpPr>
        <p:spPr>
          <a:xfrm>
            <a:off x="1097280" y="4370831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Plan／Previous／Current</a:t>
            </a:r>
          </a:p>
        </p:txBody>
      </p:sp>
      <p:sp>
        <p:nvSpPr>
          <p:cNvPr id="23" name="Card: 05  人が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3840479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cent: 05  人が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4005071"/>
            <a:ext cx="128016" cy="694944"/>
          </a:xfrm>
          <a:prstGeom prst="roundRect">
            <a:avLst/>
          </a:prstGeom>
          <a:solidFill>
            <a:srgbClr val="8C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05  人が判断"/>
          <p:cNvSpPr txBox="1"/>
          <p:nvPr/>
        </p:nvSpPr>
        <p:spPr>
          <a:xfrm>
            <a:off x="4846319" y="3968495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A12"/>
                </a:solidFill>
                <a:latin typeface="Noto Sans JP"/>
                <a:ea typeface="Noto Sans JP"/>
              </a:rPr>
              <a:t>05  人が判断</a:t>
            </a:r>
          </a:p>
        </p:txBody>
      </p:sp>
      <p:sp>
        <p:nvSpPr>
          <p:cNvPr id="26" name="Text: 採用／是正／保留／不明"/>
          <p:cNvSpPr txBox="1"/>
          <p:nvPr/>
        </p:nvSpPr>
        <p:spPr>
          <a:xfrm>
            <a:off x="4846319" y="4370831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採用／是正／保留／不明</a:t>
            </a:r>
          </a:p>
        </p:txBody>
      </p:sp>
      <p:sp>
        <p:nvSpPr>
          <p:cNvPr id="27" name="Card: 06  渡せる形へ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3840479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ccent: 06  渡せる形へ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4005071"/>
            <a:ext cx="128016" cy="694944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06  渡せる形へ"/>
          <p:cNvSpPr txBox="1"/>
          <p:nvPr/>
        </p:nvSpPr>
        <p:spPr>
          <a:xfrm>
            <a:off x="8595360" y="3968495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29704A"/>
                </a:solidFill>
                <a:latin typeface="Noto Sans JP"/>
                <a:ea typeface="Noto Sans JP"/>
              </a:rPr>
              <a:t>06  渡せる形へ</a:t>
            </a:r>
          </a:p>
        </p:txBody>
      </p:sp>
      <p:sp>
        <p:nvSpPr>
          <p:cNvPr id="30" name="Text: report／handoff／archive"/>
          <p:cNvSpPr txBox="1"/>
          <p:nvPr/>
        </p:nvSpPr>
        <p:spPr>
          <a:xfrm>
            <a:off x="8595360" y="4370831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report／handoff／archive</a:t>
            </a:r>
          </a:p>
        </p:txBody>
      </p:sp>
      <p:sp>
        <p:nvSpPr>
          <p:cNvPr id="31" name="Rounded 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285232"/>
            <a:ext cx="1097280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: 20秒以内"/>
          <p:cNvSpPr txBox="1"/>
          <p:nvPr/>
        </p:nvSpPr>
        <p:spPr>
          <a:xfrm>
            <a:off x="841248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20秒以内</a:t>
            </a:r>
          </a:p>
        </p:txBody>
      </p:sp>
      <p:sp>
        <p:nvSpPr>
          <p:cNvPr id="33" name="Text: Capture能動入力中央値"/>
          <p:cNvSpPr txBox="1"/>
          <p:nvPr/>
        </p:nvSpPr>
        <p:spPr>
          <a:xfrm>
            <a:off x="1801368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Capture能動入力中央値</a:t>
            </a:r>
          </a:p>
        </p:txBody>
      </p:sp>
      <p:sp>
        <p:nvSpPr>
          <p:cNvPr id="34" name="Text: 30秒以内"/>
          <p:cNvSpPr txBox="1"/>
          <p:nvPr/>
        </p:nvSpPr>
        <p:spPr>
          <a:xfrm>
            <a:off x="3547872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30秒以内</a:t>
            </a:r>
          </a:p>
        </p:txBody>
      </p:sp>
      <p:sp>
        <p:nvSpPr>
          <p:cNvPr id="35" name="Text: meaningful Commit"/>
          <p:cNvSpPr txBox="1"/>
          <p:nvPr/>
        </p:nvSpPr>
        <p:spPr>
          <a:xfrm>
            <a:off x="4507992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meaningful Commit</a:t>
            </a:r>
          </a:p>
        </p:txBody>
      </p:sp>
      <p:sp>
        <p:nvSpPr>
          <p:cNvPr id="36" name="Text: 2分以内"/>
          <p:cNvSpPr txBox="1"/>
          <p:nvPr/>
        </p:nvSpPr>
        <p:spPr>
          <a:xfrm>
            <a:off x="6254496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2分以内</a:t>
            </a:r>
          </a:p>
        </p:txBody>
      </p:sp>
      <p:sp>
        <p:nvSpPr>
          <p:cNvPr id="37" name="Text: 重要変更の説明・引継ぎ"/>
          <p:cNvSpPr txBox="1"/>
          <p:nvPr/>
        </p:nvSpPr>
        <p:spPr>
          <a:xfrm>
            <a:off x="7214616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重要変更の説明・引継ぎ</a:t>
            </a:r>
          </a:p>
        </p:txBody>
      </p:sp>
      <p:sp>
        <p:nvSpPr>
          <p:cNvPr id="38" name="Text: 100%"/>
          <p:cNvSpPr txBox="1"/>
          <p:nvPr/>
        </p:nvSpPr>
        <p:spPr>
          <a:xfrm>
            <a:off x="8961119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29704A"/>
                </a:solidFill>
                <a:latin typeface="Noto Sans JP"/>
                <a:ea typeface="Noto Sans JP"/>
              </a:rPr>
              <a:t>100%</a:t>
            </a:r>
          </a:p>
        </p:txBody>
      </p:sp>
      <p:sp>
        <p:nvSpPr>
          <p:cNvPr id="39" name="Text: 空store restore成功"/>
          <p:cNvSpPr txBox="1"/>
          <p:nvPr/>
        </p:nvSpPr>
        <p:spPr>
          <a:xfrm>
            <a:off x="9921240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空store restore成功</a:t>
            </a:r>
          </a:p>
        </p:txBody>
      </p:sp>
      <p:sp>
        <p:nvSpPr>
          <p:cNvPr id="40" name="Text: すべてPilot UX／受入目標。実績値ではあり"/>
          <p:cNvSpPr txBox="1"/>
          <p:nvPr/>
        </p:nvSpPr>
        <p:spPr>
          <a:xfrm>
            <a:off x="3986784" y="6016752"/>
            <a:ext cx="426110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lang="ja-JP">
                <a:solidFill>
                  <a:srgbClr val="A13A31"/>
                </a:solidFill>
                <a:latin typeface="Noto Sans JP"/>
                <a:ea typeface="Noto Sans JP"/>
              </a:rPr>
              <a:t>すべてPilot UX／受入目標。実績値ではありません。</a:t>
            </a:r>
          </a:p>
        </p:txBody>
      </p:sp>
      <p:cxnSp>
        <p:nvCxnSpPr>
          <p:cNvPr id="41" name="Connector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43" name="Text: Core concept §15 · Stage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§15 · Stage 0 benefit hypotheses</a:t>
            </a:r>
          </a:p>
        </p:txBody>
      </p:sp>
      <p:sp>
        <p:nvSpPr>
          <p:cNvPr id="44" name="Text: 09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現在地・信頼できる見方・次の実装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現在地・信頼できる見方・次の実装</a:t>
            </a:r>
          </a:p>
        </p:txBody>
      </p:sp>
      <p:sp>
        <p:nvSpPr>
          <p:cNvPr id="3" name="Text: CURRENT STATE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CURRENT STATE</a:t>
            </a:r>
          </a:p>
        </p:txBody>
      </p:sp>
      <p:sp>
        <p:nvSpPr>
          <p:cNvPr id="4" name="Text: 前9枚は利用構想を含みます。製品UIの完成状態を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前9枚は利用構想を含みます。製品UIの完成状態を示すものではありません。</a:t>
            </a:r>
          </a:p>
        </p:txBody>
      </p:sp>
      <p:sp>
        <p:nvSpPr>
          <p:cNvPr id="5" name="Card: NOW · 実装済み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81328"/>
            <a:ext cx="345643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cent: NOW · 実装済み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1645920"/>
            <a:ext cx="128016" cy="1024128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NOW · 実装済み"/>
          <p:cNvSpPr txBox="1"/>
          <p:nvPr/>
        </p:nvSpPr>
        <p:spPr>
          <a:xfrm>
            <a:off x="1097280" y="1609344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29704A"/>
                </a:solidFill>
                <a:latin typeface="Noto Sans JP"/>
                <a:ea typeface="Noto Sans JP"/>
              </a:rPr>
              <a:t>NOW · 実装済み</a:t>
            </a:r>
          </a:p>
        </p:txBody>
      </p:sp>
      <p:sp>
        <p:nvSpPr>
          <p:cNvPr id="8" name="Text: Rust strict JSON&#10;canonic"/>
          <p:cNvSpPr txBox="1"/>
          <p:nvPr/>
        </p:nvSpPr>
        <p:spPr>
          <a:xfrm>
            <a:off x="1097280" y="2011680"/>
            <a:ext cx="2834639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Rust strict JSON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canonical/OID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17 golden＋Blob一致</a:t>
            </a:r>
          </a:p>
        </p:txBody>
      </p:sp>
      <p:sp>
        <p:nvSpPr>
          <p:cNvPr id="9" name="Chevron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51376" y="1874519"/>
            <a:ext cx="219456" cy="38404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: NEXT · Workstream 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1481328"/>
            <a:ext cx="345643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ccent: NEXT · Workstream 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1645920"/>
            <a:ext cx="128016" cy="1024128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NEXT · Workstream A"/>
          <p:cNvSpPr txBox="1"/>
          <p:nvPr/>
        </p:nvSpPr>
        <p:spPr>
          <a:xfrm>
            <a:off x="4846319" y="1609344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4E51A8"/>
                </a:solidFill>
                <a:latin typeface="Noto Sans JP"/>
                <a:ea typeface="Noto Sans JP"/>
              </a:rPr>
              <a:t>NEXT · Workstream A</a:t>
            </a:r>
          </a:p>
        </p:txBody>
      </p:sp>
      <p:sp>
        <p:nvSpPr>
          <p:cNvPr id="13" name="Text: schema dispatch&#10;semantic"/>
          <p:cNvSpPr txBox="1"/>
          <p:nvPr/>
        </p:nvSpPr>
        <p:spPr>
          <a:xfrm>
            <a:off x="4846319" y="2011680"/>
            <a:ext cx="2834639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schema dispatch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semantic validation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validated OID入口</a:t>
            </a:r>
          </a:p>
        </p:txBody>
      </p:sp>
      <p:sp>
        <p:nvSpPr>
          <p:cNvPr id="14" name="Chevron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900415" y="1874519"/>
            <a:ext cx="219456" cy="38404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ard: THEN · Vertical sli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1481328"/>
            <a:ext cx="345643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cent: THEN · Vertical sli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1645920"/>
            <a:ext cx="128016" cy="1024128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THEN · Vertical slice"/>
          <p:cNvSpPr txBox="1"/>
          <p:nvPr/>
        </p:nvSpPr>
        <p:spPr>
          <a:xfrm>
            <a:off x="8595360" y="1609344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50E"/>
                </a:solidFill>
                <a:latin typeface="Noto Sans JP"/>
                <a:ea typeface="Noto Sans JP"/>
              </a:rPr>
              <a:t>THEN · Vertical slice</a:t>
            </a:r>
          </a:p>
        </p:txBody>
      </p:sp>
      <p:sp>
        <p:nvSpPr>
          <p:cNvPr id="18" name="Text: filesystem CAS&#10;SQLite Re"/>
          <p:cNvSpPr txBox="1"/>
          <p:nvPr/>
        </p:nvSpPr>
        <p:spPr>
          <a:xfrm>
            <a:off x="8595360" y="2011680"/>
            <a:ext cx="2834639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filesystem CAS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SQLite Ref CAS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Observation pilot</a:t>
            </a:r>
          </a:p>
        </p:txBody>
      </p:sp>
      <p:sp>
        <p:nvSpPr>
          <p:cNvPr id="19" name="Card: 設計原則（未実装を含む）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108960"/>
            <a:ext cx="5321808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ccent: 設計原則（未実装を含む）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3273552"/>
            <a:ext cx="128016" cy="154533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設計原則（未実装を含む）"/>
          <p:cNvSpPr txBox="1"/>
          <p:nvPr/>
        </p:nvSpPr>
        <p:spPr>
          <a:xfrm>
            <a:off x="1097280" y="3236976"/>
            <a:ext cx="4700016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0B6E69"/>
                </a:solidFill>
                <a:latin typeface="Noto Sans JP"/>
                <a:ea typeface="Noto Sans JP"/>
              </a:rPr>
              <a:t>設計原則（未実装を含む）</a:t>
            </a:r>
          </a:p>
        </p:txBody>
      </p:sp>
      <p:sp>
        <p:nvSpPr>
          <p:cNvPr id="22" name="Text: 記録をhashで照合&#10;観測条件・欠測・revie"/>
          <p:cNvSpPr txBox="1"/>
          <p:nvPr/>
        </p:nvSpPr>
        <p:spPr>
          <a:xfrm>
            <a:off x="1097280" y="3639312"/>
            <a:ext cx="4700016" cy="12344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記録をhashで照合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観測条件・欠測・review範囲を表示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原本と公開previewを分離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人の判断からEvidenceへ到達</a:t>
            </a:r>
          </a:p>
        </p:txBody>
      </p:sp>
      <p:sp>
        <p:nvSpPr>
          <p:cNvPr id="23" name="Card: 現在は未実装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6208" y="3108960"/>
            <a:ext cx="539496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cent: 現在は未実装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0" y="3273552"/>
            <a:ext cx="128016" cy="1545336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現在は未実装"/>
          <p:cNvSpPr txBox="1"/>
          <p:nvPr/>
        </p:nvSpPr>
        <p:spPr>
          <a:xfrm>
            <a:off x="6675120" y="3236976"/>
            <a:ext cx="477316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8C450E"/>
                </a:solidFill>
                <a:latin typeface="Noto Sans JP"/>
                <a:ea typeface="Noto Sans JP"/>
              </a:rPr>
              <a:t>現在は未実装</a:t>
            </a:r>
          </a:p>
        </p:txBody>
      </p:sp>
      <p:sp>
        <p:nvSpPr>
          <p:cNvPr id="26" name="Text: capture／compare／report U"/>
          <p:cNvSpPr txBox="1"/>
          <p:nvPr/>
        </p:nvSpPr>
        <p:spPr>
          <a:xfrm>
            <a:off x="6675120" y="3639312"/>
            <a:ext cx="4773168" cy="12344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capture／compare／report UI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filesystem CAS／Refs／reflog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archive実ファイルround trip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AI Proposal／Human Gate authorization</a:t>
            </a:r>
          </a:p>
        </p:txBody>
      </p:sp>
      <p:sp>
        <p:nvSpPr>
          <p:cNvPr id="27" name="Text: しない約束：作者性・現実・契約適合の自動証明／常"/>
          <p:cNvSpPr txBox="1"/>
          <p:nvPr/>
        </p:nvSpPr>
        <p:spPr>
          <a:xfrm>
            <a:off x="768096" y="5074920"/>
            <a:ext cx="10643616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lang="ja-JP">
                <a:solidFill>
                  <a:srgbClr val="A13A31"/>
                </a:solidFill>
                <a:latin typeface="Noto Sans JP"/>
                <a:ea typeface="Noto Sans JP"/>
              </a:rPr>
              <a:t>しない約束：作者性・現実・契約適合の自動証明／常時監視／個人生産性score／無断AI学習／「永久保存」の過大表示</a:t>
            </a:r>
          </a:p>
        </p:txBody>
      </p:sp>
      <p:sp>
        <p:nvSpPr>
          <p:cNvPr id="28" name="Text: branch: main resources"/>
          <p:cNvSpPr txBox="1"/>
          <p:nvPr/>
        </p:nvSpPr>
        <p:spPr>
          <a:xfrm>
            <a:off x="676656" y="5404104"/>
            <a:ext cx="19202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5E6873"/>
                </a:solidFill>
                <a:latin typeface="Noto Sans JP"/>
                <a:ea typeface="Noto Sans JP"/>
              </a:rPr>
              <a:t>branch: main resources</a:t>
            </a:r>
          </a:p>
        </p:txBody>
      </p:sp>
      <p:sp>
        <p:nvSpPr>
          <p:cNvPr id="29" name="Usage guide" title="Usage guide" descr="branch main link: https://github.com/howlrs/synapsegit/blob/main/docs/usage_guide.md">
            <a:hlinkClick r:id="rId2"/>
          </p:cNvPr>
          <p:cNvSpPr/>
          <p:nvPr/>
        </p:nvSpPr>
        <p:spPr>
          <a:xfrm>
            <a:off x="658368" y="5669280"/>
            <a:ext cx="2523744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0B6E69"/>
                </a:solidFill>
                <a:latin typeface="Noto Sans JP"/>
                <a:ea typeface="Noto Sans JP"/>
                <a:hlinkClick r:id="rId2"/>
              </a:rPr>
              <a:t>Usage guide</a:t>
            </a:r>
          </a:p>
        </p:txBody>
      </p:sp>
      <p:sp>
        <p:nvSpPr>
          <p:cNvPr id="30" name="Core concept" title="Core concept" descr="branch main link: https://github.com/howlrs/synapsegit/blob/main/docs/core_concept.md">
            <a:hlinkClick r:id="rId3"/>
          </p:cNvPr>
          <p:cNvSpPr/>
          <p:nvPr/>
        </p:nvSpPr>
        <p:spPr>
          <a:xfrm>
            <a:off x="3419856" y="5669280"/>
            <a:ext cx="2523744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4E51A8"/>
                </a:solidFill>
                <a:latin typeface="Noto Sans JP"/>
                <a:ea typeface="Noto Sans JP"/>
                <a:hlinkClick r:id="rId3"/>
              </a:rPr>
              <a:t>Core concept</a:t>
            </a:r>
          </a:p>
        </p:txBody>
      </p:sp>
      <p:sp>
        <p:nvSpPr>
          <p:cNvPr id="31" name="Stage 0 plan" title="Stage 0 plan" descr="branch main link: https://github.com/howlrs/synapsegit/blob/main/docs/stage0_execution_plan.md">
            <a:hlinkClick r:id="rId4"/>
          </p:cNvPr>
          <p:cNvSpPr/>
          <p:nvPr/>
        </p:nvSpPr>
        <p:spPr>
          <a:xfrm>
            <a:off x="6181344" y="5669280"/>
            <a:ext cx="2523744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8C450E"/>
                </a:solidFill>
                <a:latin typeface="Noto Sans JP"/>
                <a:ea typeface="Noto Sans JP"/>
                <a:hlinkClick r:id="rId4"/>
              </a:rPr>
              <a:t>Stage 0 plan</a:t>
            </a:r>
          </a:p>
        </p:txBody>
      </p:sp>
      <p:sp>
        <p:nvSpPr>
          <p:cNvPr id="32" name="Protocol v0.1" title="Protocol v0.1" descr="branch main link: https://github.com/howlrs/synapsegit/blob/main/spec/core/v0.1/README.md">
            <a:hlinkClick r:id="rId5"/>
          </p:cNvPr>
          <p:cNvSpPr/>
          <p:nvPr/>
        </p:nvSpPr>
        <p:spPr>
          <a:xfrm>
            <a:off x="8942832" y="5669280"/>
            <a:ext cx="2523744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74428A"/>
                </a:solidFill>
                <a:latin typeface="Noto Sans JP"/>
                <a:ea typeface="Noto Sans JP"/>
                <a:hlinkClick r:id="rId5"/>
              </a:rPr>
              <a:t>Protocol v0.1</a:t>
            </a:r>
          </a:p>
        </p:txBody>
      </p:sp>
      <p:sp>
        <p:nvSpPr>
          <p:cNvPr id="33" name="Text: リンク先はGitHub mainブランチ。mai"/>
          <p:cNvSpPr txBox="1"/>
          <p:nvPr/>
        </p:nvSpPr>
        <p:spPr>
          <a:xfrm>
            <a:off x="694944" y="6144768"/>
            <a:ext cx="1089964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lang="ja-JP">
                <a:solidFill>
                  <a:srgbClr val="5E6873"/>
                </a:solidFill>
                <a:latin typeface="Noto Sans JP"/>
                <a:ea typeface="Noto Sans JP"/>
              </a:rPr>
              <a:t>リンク先はGitHub mainブランチ。main反映後に有効になります。</a:t>
            </a:r>
          </a:p>
        </p:txBody>
      </p:sp>
      <p:cxnSp>
        <p:nvCxnSpPr>
          <p:cNvPr id="34" name="Connector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36" name="Text: README · Core concept §2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README · Core concept §20.7 · Stage 0 exit gate</a:t>
            </a:r>
          </a:p>
        </p:txBody>
      </p:sp>
      <p:sp>
        <p:nvSpPr>
          <p:cNvPr id="37" name="Text: 10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SynapseGit 利用イメージ — 想定利用者別シナリオ</dc:title>
  <dc:subject>Core v0.1 / Stage 0 intended-user visualization</dc:subject>
  <dc:creator>SynapseGit project</dc:creator>
  <cp:keywords>SynapseGit, creator, observation, decision, Creative AI</cp:keywords>
  <dc:description>Generated from docs/presentations/generate_user_scenarios_pptx.py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